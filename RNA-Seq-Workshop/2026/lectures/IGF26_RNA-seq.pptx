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338" r:id="rId2"/>
    <p:sldId id="480" r:id="rId3"/>
    <p:sldId id="257" r:id="rId4"/>
    <p:sldId id="462" r:id="rId5"/>
    <p:sldId id="463" r:id="rId6"/>
    <p:sldId id="380" r:id="rId7"/>
    <p:sldId id="464" r:id="rId8"/>
    <p:sldId id="358" r:id="rId9"/>
    <p:sldId id="415" r:id="rId10"/>
    <p:sldId id="411" r:id="rId11"/>
    <p:sldId id="350" r:id="rId12"/>
    <p:sldId id="373" r:id="rId13"/>
    <p:sldId id="345" r:id="rId14"/>
    <p:sldId id="351" r:id="rId15"/>
    <p:sldId id="376" r:id="rId16"/>
    <p:sldId id="375" r:id="rId17"/>
    <p:sldId id="377" r:id="rId18"/>
    <p:sldId id="484" r:id="rId19"/>
    <p:sldId id="378" r:id="rId20"/>
    <p:sldId id="473" r:id="rId21"/>
    <p:sldId id="379" r:id="rId22"/>
    <p:sldId id="465" r:id="rId23"/>
    <p:sldId id="381" r:id="rId24"/>
    <p:sldId id="382" r:id="rId25"/>
    <p:sldId id="383" r:id="rId26"/>
    <p:sldId id="485" r:id="rId27"/>
    <p:sldId id="384" r:id="rId28"/>
    <p:sldId id="466" r:id="rId29"/>
    <p:sldId id="385" r:id="rId30"/>
    <p:sldId id="386" r:id="rId31"/>
    <p:sldId id="387" r:id="rId32"/>
    <p:sldId id="389" r:id="rId33"/>
    <p:sldId id="483" r:id="rId34"/>
    <p:sldId id="391" r:id="rId35"/>
    <p:sldId id="402" r:id="rId36"/>
    <p:sldId id="403" r:id="rId37"/>
    <p:sldId id="392" r:id="rId38"/>
    <p:sldId id="474" r:id="rId39"/>
    <p:sldId id="393" r:id="rId40"/>
    <p:sldId id="394" r:id="rId41"/>
    <p:sldId id="395" r:id="rId42"/>
    <p:sldId id="396" r:id="rId43"/>
    <p:sldId id="397" r:id="rId44"/>
    <p:sldId id="399" r:id="rId45"/>
    <p:sldId id="467" r:id="rId46"/>
    <p:sldId id="481" r:id="rId47"/>
    <p:sldId id="456" r:id="rId48"/>
    <p:sldId id="486" r:id="rId49"/>
    <p:sldId id="469" r:id="rId50"/>
    <p:sldId id="476" r:id="rId51"/>
    <p:sldId id="458" r:id="rId52"/>
    <p:sldId id="470" r:id="rId53"/>
    <p:sldId id="337" r:id="rId54"/>
    <p:sldId id="341" r:id="rId55"/>
    <p:sldId id="347" r:id="rId56"/>
    <p:sldId id="374" r:id="rId57"/>
    <p:sldId id="388" r:id="rId58"/>
    <p:sldId id="468" r:id="rId59"/>
    <p:sldId id="401" r:id="rId60"/>
    <p:sldId id="398" r:id="rId61"/>
    <p:sldId id="477" r:id="rId62"/>
    <p:sldId id="478" r:id="rId63"/>
    <p:sldId id="479" r:id="rId64"/>
    <p:sldId id="272" r:id="rId65"/>
    <p:sldId id="267" r:id="rId66"/>
    <p:sldId id="268" r:id="rId67"/>
    <p:sldId id="269" r:id="rId68"/>
    <p:sldId id="471" r:id="rId6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83" autoAdjust="0"/>
    <p:restoredTop sz="88493" autoAdjust="0"/>
  </p:normalViewPr>
  <p:slideViewPr>
    <p:cSldViewPr snapToGrid="0" snapToObjects="1">
      <p:cViewPr varScale="1">
        <p:scale>
          <a:sx n="173" d="100"/>
          <a:sy n="173" d="100"/>
        </p:scale>
        <p:origin x="20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For a given gene, the q-value is the minimum FDR at which that gene would be called significant.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99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432B-FD09-74FC-A5B4-2AC76E5F4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A319B-6A2F-3C4E-0B43-E599679B9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3E2E1-89B4-1DBC-DF50-C00D59AF9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C235E-F2EB-5FB4-AB2A-EABC7FAA0D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5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6/10/2026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06E7-B626-4096-DD2E-F58592CE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29F96-F9AE-78EE-F630-A3202820D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1-2pm			</a:t>
            </a:r>
            <a:r>
              <a:rPr lang="en-US" dirty="0"/>
              <a:t>Overview of RNA-seq DE analysis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2:10-3pm		</a:t>
            </a:r>
            <a:r>
              <a:rPr lang="en-US" dirty="0"/>
              <a:t>R practice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3:10-4:30pm	</a:t>
            </a:r>
            <a:r>
              <a:rPr lang="en-US" dirty="0"/>
              <a:t>RNA-seq DE analysis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1EF8D-467F-0E38-2FC1-8B44F6830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806" y="1292286"/>
            <a:ext cx="7799052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0603" y="90610"/>
            <a:ext cx="6455043" cy="766762"/>
          </a:xfrm>
        </p:spPr>
        <p:txBody>
          <a:bodyPr>
            <a:normAutofit/>
          </a:bodyPr>
          <a:lstStyle/>
          <a:p>
            <a:r>
              <a:rPr lang="en-US" sz="3200" dirty="0"/>
              <a:t>Complexity of transcriptomes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447" y="1718862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158" y="4126101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118" y="4587766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08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41344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77210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53375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85571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92858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4080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443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66702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317721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38346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317721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317721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317721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511895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77209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981263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90695" y="205592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780051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17731" y="4129700"/>
              <a:ext cx="13420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5788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>
                <a:solidFill>
                  <a:srgbClr val="FF0000"/>
                </a:solidFill>
              </a:rPr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</a:t>
            </a:r>
            <a:r>
              <a:rPr lang="en-US" sz="2800" dirty="0">
                <a:solidFill>
                  <a:srgbClr val="0070C0"/>
                </a:solidFill>
              </a:rPr>
              <a:t>an average of more than five isoforms per gene</a:t>
            </a:r>
            <a:r>
              <a:rPr lang="en-US" sz="2800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detects which genes are expressed and quantifies their expression levels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labome.com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/method/RNA-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-Using-Next-Generation-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Sequencing.html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paper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/10.1093/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nar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/gky167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17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AE7F1-90A6-8884-953A-D6159891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E8DA-5921-761E-D000-0891CAB8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10E5D-06D6-B1D6-2B16-8EA6111E0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4FBB-AF57-5599-E328-8E178F3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79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8" y="963835"/>
            <a:ext cx="8446169" cy="289589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counts but overdispersion exits</a:t>
            </a:r>
          </a:p>
          <a:p>
            <a:pPr marL="1028700" lvl="1" indent="-571500">
              <a:lnSpc>
                <a:spcPct val="90000"/>
              </a:lnSpc>
              <a:buNone/>
            </a:pPr>
            <a:endParaRPr lang="en-US" sz="2400" dirty="0"/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0702" y="3936266"/>
            <a:ext cx="4575699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</a:t>
            </a:r>
          </a:p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3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240181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2BE3-EDCA-1810-EB62-E2322086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3D5-7CD1-2C0F-1541-EEA135C4F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Statistical comparison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1532FB-AD33-EBEE-F942-BB266DBE80AA}"/>
              </a:ext>
            </a:extLst>
          </p:cNvPr>
          <p:cNvGrpSpPr/>
          <p:nvPr/>
        </p:nvGrpSpPr>
        <p:grpSpPr>
          <a:xfrm>
            <a:off x="2787362" y="1892852"/>
            <a:ext cx="723275" cy="1684952"/>
            <a:chOff x="5595778" y="3076537"/>
            <a:chExt cx="723275" cy="168495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BB6EC1C-BCDC-4E0C-3A6C-7C8D4109D842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7A0D28-96A7-FCEE-4C72-837D38ECEDE3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F2AF57-AE0D-91F9-F17B-F9C2D600E349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D8C2F8-680A-EB44-9DF9-A03DBBF0F745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5A3D1E2-87EB-86FF-68B1-351D993ABD18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46F5373-7483-0DE6-0ECA-0CAC6FE23DE6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ABDC252-1121-52DE-CF4A-D8EBDF74053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7DF2012-08C5-07FB-82F2-AA664FFE212B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F36B84-2BC8-AA89-93E0-41C76F14F66B}"/>
              </a:ext>
            </a:extLst>
          </p:cNvPr>
          <p:cNvGrpSpPr/>
          <p:nvPr/>
        </p:nvGrpSpPr>
        <p:grpSpPr>
          <a:xfrm>
            <a:off x="3760173" y="1891651"/>
            <a:ext cx="174130" cy="1686153"/>
            <a:chOff x="6568588" y="3075336"/>
            <a:chExt cx="174130" cy="1686153"/>
          </a:xfrm>
        </p:grpSpPr>
        <p:sp>
          <p:nvSpPr>
            <p:cNvPr id="71" name="Up-Down Arrow 70">
              <a:extLst>
                <a:ext uri="{FF2B5EF4-FFF2-40B4-BE49-F238E27FC236}">
                  <a16:creationId xmlns:a16="http://schemas.microsoft.com/office/drawing/2014/main" id="{A555326C-508A-98EE-4E48-DA30D0D588CD}"/>
                </a:ext>
              </a:extLst>
            </p:cNvPr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>
              <a:extLst>
                <a:ext uri="{FF2B5EF4-FFF2-40B4-BE49-F238E27FC236}">
                  <a16:creationId xmlns:a16="http://schemas.microsoft.com/office/drawing/2014/main" id="{F299965A-C435-37D6-3B71-801FB971CF1E}"/>
                </a:ext>
              </a:extLst>
            </p:cNvPr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9711B-181C-F671-0849-390018B2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463CB0-A7CE-5767-700B-7E0DE035BDAD}"/>
              </a:ext>
            </a:extLst>
          </p:cNvPr>
          <p:cNvGrpSpPr/>
          <p:nvPr/>
        </p:nvGrpSpPr>
        <p:grpSpPr>
          <a:xfrm>
            <a:off x="5168728" y="1892852"/>
            <a:ext cx="723275" cy="1684952"/>
            <a:chOff x="5595778" y="3076537"/>
            <a:chExt cx="723275" cy="16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EA7A78-E4CA-6FEF-6CD6-1E368783C5CA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8ACE891-D3A7-161C-7DDD-4E4197AD0A1C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1B3C01-DD9C-B14F-8754-5995309F814D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0B989DC-4203-5D87-DDC4-F56805A91881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ECD41E-8ED0-9E64-938D-2582431BF9ED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ACD3D7-158A-3E36-399D-78935B3A9C6E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3C400C-1FE7-3E83-8717-1BFFE70FDB1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1FF2369-20D6-CA72-62B0-26DC31928BC5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66D55F-68B6-D148-0C08-1C7DC9EDC5F1}"/>
              </a:ext>
            </a:extLst>
          </p:cNvPr>
          <p:cNvGrpSpPr/>
          <p:nvPr/>
        </p:nvGrpSpPr>
        <p:grpSpPr>
          <a:xfrm>
            <a:off x="6141538" y="1891651"/>
            <a:ext cx="174692" cy="1686153"/>
            <a:chOff x="6568588" y="3075336"/>
            <a:chExt cx="174692" cy="1686153"/>
          </a:xfrm>
        </p:grpSpPr>
        <p:sp>
          <p:nvSpPr>
            <p:cNvPr id="30" name="Up-Down Arrow 29">
              <a:extLst>
                <a:ext uri="{FF2B5EF4-FFF2-40B4-BE49-F238E27FC236}">
                  <a16:creationId xmlns:a16="http://schemas.microsoft.com/office/drawing/2014/main" id="{094924DE-A235-AF3C-0FFA-1A86BB66F2B1}"/>
                </a:ext>
              </a:extLst>
            </p:cNvPr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Up-Down Arrow 34">
              <a:extLst>
                <a:ext uri="{FF2B5EF4-FFF2-40B4-BE49-F238E27FC236}">
                  <a16:creationId xmlns:a16="http://schemas.microsoft.com/office/drawing/2014/main" id="{1BBB67ED-017F-2FB9-DD74-1B4D7E6DBBDF}"/>
                </a:ext>
              </a:extLst>
            </p:cNvPr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A06F61A-B5A0-1238-023C-D7DA2BE13D6E}"/>
              </a:ext>
            </a:extLst>
          </p:cNvPr>
          <p:cNvSpPr txBox="1"/>
          <p:nvPr/>
        </p:nvSpPr>
        <p:spPr>
          <a:xfrm>
            <a:off x="5966611" y="1185559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3600" b="1" dirty="0">
              <a:solidFill>
                <a:srgbClr val="008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C14CB-E229-BCED-2DEE-D7349E1C71B2}"/>
              </a:ext>
            </a:extLst>
          </p:cNvPr>
          <p:cNvSpPr txBox="1"/>
          <p:nvPr/>
        </p:nvSpPr>
        <p:spPr>
          <a:xfrm>
            <a:off x="3574826" y="1185559"/>
            <a:ext cx="5613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36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D72A8-0327-F2FD-B6F4-93DBA01E5E2E}"/>
              </a:ext>
            </a:extLst>
          </p:cNvPr>
          <p:cNvSpPr txBox="1"/>
          <p:nvPr/>
        </p:nvSpPr>
        <p:spPr>
          <a:xfrm>
            <a:off x="2620720" y="3766977"/>
            <a:ext cx="15136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technical</a:t>
            </a:r>
          </a:p>
          <a:p>
            <a:pPr algn="ctr"/>
            <a:r>
              <a:rPr lang="en-US" sz="2400" dirty="0"/>
              <a:t>replication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E3F9B2-A8D9-C62A-643F-A629F3C5373F}"/>
              </a:ext>
            </a:extLst>
          </p:cNvPr>
          <p:cNvSpPr txBox="1"/>
          <p:nvPr/>
        </p:nvSpPr>
        <p:spPr>
          <a:xfrm>
            <a:off x="5657003" y="3766976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4866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14706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</a:t>
            </a:r>
            <a:r>
              <a:rPr lang="en-US" sz="2400" u="sng" dirty="0"/>
              <a:t>per </a:t>
            </a:r>
            <a:r>
              <a:rPr lang="en-US" sz="2400" u="sng" dirty="0" err="1"/>
              <a:t>kilobase</a:t>
            </a:r>
            <a:r>
              <a:rPr lang="en-US" sz="2400" u="sng" dirty="0"/>
              <a:t> of exons</a:t>
            </a:r>
            <a:r>
              <a:rPr lang="en-US" sz="2400" dirty="0"/>
              <a:t>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5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619902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9 * 1000 / 500 / 5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650831" y="4343152"/>
            <a:ext cx="6692058" cy="4305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7375E"/>
                </a:solidFill>
              </a:rPr>
              <a:t>RPM</a:t>
            </a:r>
            <a:r>
              <a:rPr lang="en-US" sz="2400" dirty="0"/>
              <a:t>: number per million of total 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3123" y="3239136"/>
            <a:ext cx="1687273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3" grpId="0"/>
      <p:bldP spid="136" grpId="0"/>
      <p:bldP spid="8" grpId="0" animBg="1"/>
      <p:bldP spid="8" grpId="1" animBg="1"/>
      <p:bldP spid="125" grpId="0" animBg="1"/>
      <p:bldP spid="125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2" y="942975"/>
            <a:ext cx="7936997" cy="3600150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noise and improves the precision of transcript abundance estimates.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809C-AD1E-1DBB-7613-4F35E8F5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428CE-EB1F-244B-E17F-27373EC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70E5-BBF8-9D9A-FE3E-72B6E4E36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0FE68-4DCD-B835-20FF-A5E96D5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64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9883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4659-5A68-846C-6C95-BB715EDE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C4381-8C92-4D4C-9C24-E3B78C28A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CBD3E-73AD-E1F0-0C54-4F4139952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856804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1649-CF7C-0A2A-8460-59053EFA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3628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CF7B7-75A9-C86D-E512-19173937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B8E99-4C0A-7C09-8D8B-407CD4D85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8919" y="1353087"/>
            <a:ext cx="6526161" cy="3019810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Gene1234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GO:0016049 (GO ID)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cell growth (GO term)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dirty="0"/>
              <a:t>biological process (domain)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3852B-4B46-F323-E705-6EB51A61B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26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053253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10921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39368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497033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32368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36691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significant</a:t>
            </a:r>
          </a:p>
          <a:p>
            <a:pPr algn="ctr"/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48" y="4290688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cell-division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6576" y="836906"/>
            <a:ext cx="2256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  GO</a:t>
            </a:r>
          </a:p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(cell division)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105433" y="893211"/>
            <a:ext cx="16774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r>
              <a:rPr lang="en-US" sz="2600" dirty="0"/>
              <a:t>Many bioinformatics pipelines and statistical methods have been developed. 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4E8412-172F-0FBA-ECB6-30B66E30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604C-F6BB-0727-92BC-E72CEC7F3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BF56E-88C2-AB81-950C-4AA2091FA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>
            <a:extLst>
              <a:ext uri="{FF2B5EF4-FFF2-40B4-BE49-F238E27FC236}">
                <a16:creationId xmlns:a16="http://schemas.microsoft.com/office/drawing/2014/main" id="{733E3D2E-C54C-4B9D-A08D-6753CA84F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>
            <a:extLst>
              <a:ext uri="{FF2B5EF4-FFF2-40B4-BE49-F238E27FC236}">
                <a16:creationId xmlns:a16="http://schemas.microsoft.com/office/drawing/2014/main" id="{422CF417-862B-AF37-2A25-A69DFF081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6F56B0-4C18-052F-C115-7E3EB1D5C6D6}"/>
              </a:ext>
            </a:extLst>
          </p:cNvPr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F90D7-53A3-36D8-2D3F-C322750837F8}"/>
              </a:ext>
            </a:extLst>
          </p:cNvPr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842030-119A-7D4E-4D96-FB572ECEA7E3}"/>
              </a:ext>
            </a:extLst>
          </p:cNvPr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ADC3CC-45CD-EDB8-200C-30EA903EE8DA}"/>
              </a:ext>
            </a:extLst>
          </p:cNvPr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64210C-316D-7A6D-14EF-D659A164712F}"/>
              </a:ext>
            </a:extLst>
          </p:cNvPr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09D2D6-9E58-735F-9E23-B3BC843127FA}"/>
              </a:ext>
            </a:extLst>
          </p:cNvPr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20BC5-61F9-E70B-4894-566899008406}"/>
              </a:ext>
            </a:extLst>
          </p:cNvPr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45DE15-186B-773B-0E03-8A1581F579D6}"/>
              </a:ext>
            </a:extLst>
          </p:cNvPr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28F97-8617-8606-5985-D25675A15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976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E8573-D2FA-1066-DCC1-6C0EC19CC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1969-7AAF-133B-FADB-AC61B15F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06FE-0622-DF8C-6757-A4A301A49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ADD02-A0B9-0053-F432-0636AAC97E87}"/>
              </a:ext>
            </a:extLst>
          </p:cNvPr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DEA936-366C-72FB-7BDA-727A52384C87}"/>
              </a:ext>
            </a:extLst>
          </p:cNvPr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4976E-67BB-E495-9196-D213610A4C25}"/>
              </a:ext>
            </a:extLst>
          </p:cNvPr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B15E59-E4FA-3F3B-93C4-2F391F3277CE}"/>
              </a:ext>
            </a:extLst>
          </p:cNvPr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7AB73-41B2-4E1B-2E55-0D1EA02C9A7B}"/>
                </a:ext>
              </a:extLst>
            </p:cNvPr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3884F0-B0AB-7431-918F-61767DCCAFBA}"/>
                </a:ext>
              </a:extLst>
            </p:cNvPr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A50F828-0CB1-7CC7-9024-9945B7B615F2}"/>
                </a:ext>
              </a:extLst>
            </p:cNvPr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11FA90-4127-0149-712B-25F0EDCD6C37}"/>
                </a:ext>
              </a:extLst>
            </p:cNvPr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4FE6C5-0CF9-A964-AE9E-855C612291E4}"/>
                </a:ext>
              </a:extLst>
            </p:cNvPr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9098650-4587-5AC4-FDD5-E36F723DC7E8}"/>
                </a:ext>
              </a:extLst>
            </p:cNvPr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24E3F06-0421-5E9A-AE72-4A5B149746F9}"/>
                </a:ext>
              </a:extLst>
            </p:cNvPr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BDCF0C4-104B-0977-6E9C-F5831C81E883}"/>
                </a:ext>
              </a:extLst>
            </p:cNvPr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E14B65-050A-B90D-D2A9-09485ED9767C}"/>
              </a:ext>
            </a:extLst>
          </p:cNvPr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280B3D-6B61-AF38-DB5D-71919E5003A1}"/>
                </a:ext>
              </a:extLst>
            </p:cNvPr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AE1968-87E7-92C6-1617-8B11D23D2B09}"/>
                </a:ext>
              </a:extLst>
            </p:cNvPr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0D5463-F40D-7430-E8DB-37B987E49D6E}"/>
                </a:ext>
              </a:extLst>
            </p:cNvPr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FA5FE7E-823A-E084-8AC4-78BB031A7699}"/>
                </a:ext>
              </a:extLst>
            </p:cNvPr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DA0925-265E-D7F6-4150-348D90F3DC96}"/>
                </a:ext>
              </a:extLst>
            </p:cNvPr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045C4EC-1D37-B499-3C60-72BE96955413}"/>
                </a:ext>
              </a:extLst>
            </p:cNvPr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353D9DA-2A23-AD67-C7AE-711ED77F1F56}"/>
                </a:ext>
              </a:extLst>
            </p:cNvPr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0D52B70-CFD2-9024-802F-3F85F4F071EB}"/>
                </a:ext>
              </a:extLst>
            </p:cNvPr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26C8F8CE-BBB1-14BF-B7AB-20F97829A552}"/>
              </a:ext>
            </a:extLst>
          </p:cNvPr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433A1B-1C2D-2C7F-F486-AD2F1E43BFF0}"/>
              </a:ext>
            </a:extLst>
          </p:cNvPr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BDF60A3-393A-A9EA-4481-BE0525A5F891}"/>
              </a:ext>
            </a:extLst>
          </p:cNvPr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E747F5-B19E-44F1-40AB-11E99F37987C}"/>
              </a:ext>
            </a:extLst>
          </p:cNvPr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9811BF4-F880-FB43-94A5-A3FE3C2896C7}"/>
              </a:ext>
            </a:extLst>
          </p:cNvPr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637182C-343A-135B-F999-7FEE41BF74C3}"/>
              </a:ext>
            </a:extLst>
          </p:cNvPr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B5F6C4-E74B-5E4C-D358-18635640F5E2}"/>
              </a:ext>
            </a:extLst>
          </p:cNvPr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77EE60C-3958-D52D-77E8-4B5D6C5CD796}"/>
              </a:ext>
            </a:extLst>
          </p:cNvPr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4854A0-0AC8-A2D6-A3CC-8F15063E0576}"/>
              </a:ext>
            </a:extLst>
          </p:cNvPr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7CED65F-8078-CE26-6047-959DE03B2C82}"/>
              </a:ext>
            </a:extLst>
          </p:cNvPr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9C15E78-22DC-76A1-7584-559D6B1F2A12}"/>
              </a:ext>
            </a:extLst>
          </p:cNvPr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7BC9F3-E72A-97C6-6D89-6DEFB25A4B2E}"/>
              </a:ext>
            </a:extLst>
          </p:cNvPr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24B662-D719-6B09-1D9C-8C3220B33C16}"/>
              </a:ext>
            </a:extLst>
          </p:cNvPr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B9DC16-0E5C-64DD-F9CA-232FF45E9DD6}"/>
              </a:ext>
            </a:extLst>
          </p:cNvPr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0CA1ACE-E4E0-E444-EA1F-E61E5E5E0131}"/>
              </a:ext>
            </a:extLst>
          </p:cNvPr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19F8F5A-82BD-30C9-F75C-86C2DCB7EF9A}"/>
              </a:ext>
            </a:extLst>
          </p:cNvPr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86EC458-03FE-85A3-DA2B-D93D235D6A8E}"/>
              </a:ext>
            </a:extLst>
          </p:cNvPr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D873E7B-7421-110D-CDFD-D2D813808272}"/>
              </a:ext>
            </a:extLst>
          </p:cNvPr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EFAED6E-0A28-1AFC-8BEE-8A44CC0A5F40}"/>
              </a:ext>
            </a:extLst>
          </p:cNvPr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D023342-9E60-67D3-BEEE-5F931135B5BD}"/>
              </a:ext>
            </a:extLst>
          </p:cNvPr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49561CE-EE91-C200-5A8B-9C35B2EAC346}"/>
              </a:ext>
            </a:extLst>
          </p:cNvPr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DA32988-C626-E2FC-F905-2C55CD6A5CE7}"/>
              </a:ext>
            </a:extLst>
          </p:cNvPr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12B45CB-3449-3B41-4743-6388FE49405C}"/>
              </a:ext>
            </a:extLst>
          </p:cNvPr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C562890-A250-48FC-C9AD-F7D3FFC3D4CE}"/>
              </a:ext>
            </a:extLst>
          </p:cNvPr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DB81091-A05A-1B88-0764-B72395B85F94}"/>
              </a:ext>
            </a:extLst>
          </p:cNvPr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3231F94-16D3-45E6-6E6B-3CCC3F81B880}"/>
              </a:ext>
            </a:extLst>
          </p:cNvPr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54A4F7-1D18-DAC1-0C9C-DB1A86B9316B}"/>
              </a:ext>
            </a:extLst>
          </p:cNvPr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F6E98FA-6300-BC52-6B66-74DD6C0216C5}"/>
              </a:ext>
            </a:extLst>
          </p:cNvPr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37E4D5-B6BE-8160-9543-728331E3E9EA}"/>
              </a:ext>
            </a:extLst>
          </p:cNvPr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8722409-280D-19C5-023E-9D7D6462A957}"/>
              </a:ext>
            </a:extLst>
          </p:cNvPr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B0F06-49DC-494E-DC3A-7BA41C97BD1A}"/>
              </a:ext>
            </a:extLst>
          </p:cNvPr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20CA09-CFFF-DC1B-D907-3C38AD8ECAD3}"/>
              </a:ext>
            </a:extLst>
          </p:cNvPr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58EA4EE-EB3F-F204-2028-89C1860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8D3847-1E13-0D67-8CE6-F0727BC3C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8DD454-4ED1-1729-5289-1958C5801AB0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4E6191-9A14-FC99-18FA-1C0A79E020D8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202D8E-DB02-50D6-9A2E-FFB296C1A14B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2EB1C-C9DF-2B40-1483-48C8CF2183AA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FC076C-05CA-0015-12DC-7E866969CFA3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FA709-6DC8-0067-6FBE-B0D11950FDE4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8B3534-5019-0EB9-065C-2D25C433B6E3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0E9B5E-9505-C0CA-EA96-85767FF1B91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20B3A3-B65C-F420-FECE-7096E5A2D34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FE3AB6-5785-6E68-A9A2-F0355466C751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5BE79C-BE66-63F5-4555-D40BAECF2D6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9A9B4-C8ED-8CEC-BBEB-08B28CD449D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1EE276-92C7-FDAF-32E9-001724605673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B50D248-65A2-B214-81FF-920E5360BA32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E49CBAE-34D4-C604-92F2-89C044FA7536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87059A-2C1F-376A-4090-BA342FEFCCDB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20FF20DB-61B2-618C-AE47-DD3954D7C3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F067DF8B-C3C1-8C8C-2330-BAD5443D8577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AC223F9B-4693-BEE3-4D5A-636818380DB5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BE6D48E2-1F87-9A51-F9AB-80E5A40E957B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6F609CB-AD7B-6748-0D93-477F1162581C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8BFC4C9-D80E-FF4D-7AD1-914D90F2A5C5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3C3DDF-A9AF-7749-8C1E-AAA959254D1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05E962-FA88-B2E4-A693-A89543CC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917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EA8C43-C4C1-132F-D6C1-1A30C5F1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A5D687-BDEF-D302-BDE2-B8C90BD14D78}"/>
              </a:ext>
            </a:extLst>
          </p:cNvPr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AC991-7AF7-6F89-62E8-FE2B37FF6084}"/>
              </a:ext>
            </a:extLst>
          </p:cNvPr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037FC6-FA38-4534-5885-9A6D5AF5FCF6}"/>
              </a:ext>
            </a:extLst>
          </p:cNvPr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271A3-750C-A8AD-4277-BDB14AC9EC6F}"/>
              </a:ext>
            </a:extLst>
          </p:cNvPr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97AA04-4130-910B-7601-A0487D873320}"/>
              </a:ext>
            </a:extLst>
          </p:cNvPr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A90E9-86A7-006F-EEE7-0D4C04169AF1}"/>
              </a:ext>
            </a:extLst>
          </p:cNvPr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55DFF6-24A4-243D-13B4-85FDDC89480E}"/>
              </a:ext>
            </a:extLst>
          </p:cNvPr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9FF78A-2A4A-CC7A-8866-18E7E84C4B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E151C3-2890-90F9-A80E-5E29250F6DE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9302C9-EDE8-C588-CE3C-63E18B43C625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02691-8A9A-4750-0ED1-A88199507D9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E12C91-D81B-B14D-B207-FD1BC3A51CD0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8754E5-35BF-3084-049D-F60D039A61A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>
            <a:extLst>
              <a:ext uri="{FF2B5EF4-FFF2-40B4-BE49-F238E27FC236}">
                <a16:creationId xmlns:a16="http://schemas.microsoft.com/office/drawing/2014/main" id="{100F0C80-F0FF-BA8E-E849-4884146516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>
            <a:extLst>
              <a:ext uri="{FF2B5EF4-FFF2-40B4-BE49-F238E27FC236}">
                <a16:creationId xmlns:a16="http://schemas.microsoft.com/office/drawing/2014/main" id="{E88BD841-AD62-C395-5190-E1B0D8D63ED5}"/>
              </a:ext>
            </a:extLst>
          </p:cNvPr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>
            <a:extLst>
              <a:ext uri="{FF2B5EF4-FFF2-40B4-BE49-F238E27FC236}">
                <a16:creationId xmlns:a16="http://schemas.microsoft.com/office/drawing/2014/main" id="{4B7BD7A7-D31C-5263-02ED-97A3F0C1FB70}"/>
              </a:ext>
            </a:extLst>
          </p:cNvPr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>
            <a:extLst>
              <a:ext uri="{FF2B5EF4-FFF2-40B4-BE49-F238E27FC236}">
                <a16:creationId xmlns:a16="http://schemas.microsoft.com/office/drawing/2014/main" id="{B44F6A10-60E3-61BF-48D4-581ABD40926B}"/>
              </a:ext>
            </a:extLst>
          </p:cNvPr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>
            <a:extLst>
              <a:ext uri="{FF2B5EF4-FFF2-40B4-BE49-F238E27FC236}">
                <a16:creationId xmlns:a16="http://schemas.microsoft.com/office/drawing/2014/main" id="{E85E8063-44B5-7790-8484-AA3E8612BEE6}"/>
              </a:ext>
            </a:extLst>
          </p:cNvPr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90F612-0B7F-D719-8282-9B73BF021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28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21C80-FC18-C83B-4A96-06EBF3BA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D957-3A9D-2558-E6D7-16370C9A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4C94B-270C-1DD4-F070-1282EABFD1D5}"/>
              </a:ext>
            </a:extLst>
          </p:cNvPr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606843-AA5F-DAA8-E8A0-7ABB0E123E9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8CCFA0-63DC-7BBA-1628-D1F71416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949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638F0D-EF88-0B25-83F6-5224778AE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9F4829-34F2-2736-0844-BE0C43B76ED3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7EB4ED-159A-2ABD-B61F-D08AD442124C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33614-558B-EF54-29C4-7CEF352887F2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518A2-395A-69FB-FB50-A9398877C4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FBB0B-EEBF-83A0-D1CE-14EDC71BF022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8EA71-FD0E-52A1-668C-FB55EDF390FC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046D30-8735-7270-7087-FE05CBFBBF2E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5997492-D395-5EA2-4B82-E947BB6746C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625E87-4342-4D60-AE2C-BA156AAFCD8E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C511A-0158-8FE4-3C4C-DF2567C02DDB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542CF2-3CA9-36A3-47DB-B0646A4459B3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6EE59A30-2ECE-8380-F48B-2E4E25F48DF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EB8D8F-D153-F286-331B-7D32C60C5E2F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41641B7F-7D96-D60D-06CF-451D4FB6AFFB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4C1488-478C-19DF-3961-764B0CA89791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B1D44F0-E314-CB4A-C16D-0C460E7F884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F68A25-7702-4F19-BD13-BD64523E7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22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82C2D-C6A1-A610-DB08-7AE39084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5BD93-140D-44A1-B553-D1A73D2AF9A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25ADE-0F82-B182-85D5-4CBDE5C9C24F}"/>
              </a:ext>
            </a:extLst>
          </p:cNvPr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AF7150-C3CF-E623-3FCF-9E8239BEC828}"/>
              </a:ext>
            </a:extLst>
          </p:cNvPr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46C86-687E-D42A-3A4C-61C558F066C4}"/>
              </a:ext>
            </a:extLst>
          </p:cNvPr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>
              <a:extLst>
                <a:ext uri="{FF2B5EF4-FFF2-40B4-BE49-F238E27FC236}">
                  <a16:creationId xmlns:a16="http://schemas.microsoft.com/office/drawing/2014/main" id="{5101F02B-218B-12C9-3C54-D3B6B456A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B88AF221-3C31-7410-4C42-BE782B2FCABA}"/>
                </a:ext>
              </a:extLst>
            </p:cNvPr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A793031-C306-4DBC-CF72-E69E17B9EB1B}"/>
                </a:ext>
              </a:extLst>
            </p:cNvPr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817A-D9DA-0145-A314-F8F69A71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03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4697CE-13D8-F07C-845C-B2779C95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6DB-1B1A-5B06-7B35-DA3071B2450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E4AB31-DB5A-F90E-3469-E9F811760104}"/>
              </a:ext>
            </a:extLst>
          </p:cNvPr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B86FBA-2E62-E83E-12AB-8FC99F7F1214}"/>
              </a:ext>
            </a:extLst>
          </p:cNvPr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D68DE6-5408-2E42-D0C4-853DE0C45F6E}"/>
                </a:ext>
              </a:extLst>
            </p:cNvPr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CDF32-39CF-1705-C9AA-DB9D71BACFD0}"/>
                </a:ext>
              </a:extLst>
            </p:cNvPr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>
              <a:extLst>
                <a:ext uri="{FF2B5EF4-FFF2-40B4-BE49-F238E27FC236}">
                  <a16:creationId xmlns:a16="http://schemas.microsoft.com/office/drawing/2014/main" id="{923C5C5C-373F-2593-C219-F1FFC2C4D625}"/>
                </a:ext>
              </a:extLst>
            </p:cNvPr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CDB6FDF-903E-C7FF-1788-48847D316369}"/>
                </a:ext>
              </a:extLst>
            </p:cNvPr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7E1E4F3-B2B4-162E-2D3F-A70CDF8D29FA}"/>
                </a:ext>
              </a:extLst>
            </p:cNvPr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F12A3-29F2-E441-3172-E7079A37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82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997DD3-4451-8390-416F-BACBB43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CAC8-752B-D230-3559-9D100E44A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8A7FA-94DD-E1CA-7903-2697138A5E58}"/>
              </a:ext>
            </a:extLst>
          </p:cNvPr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68A03-9F65-A0A3-AE5F-8E7D48A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17A53A-91CA-C8B5-3E3B-EB2645B9CAA1}"/>
              </a:ext>
            </a:extLst>
          </p:cNvPr>
          <p:cNvGraphicFramePr>
            <a:graphicFrameLocks noGrp="1"/>
          </p:cNvGraphicFramePr>
          <p:nvPr/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727A15-0588-219F-9DA8-B5CA46481371}"/>
              </a:ext>
            </a:extLst>
          </p:cNvPr>
          <p:cNvGraphicFramePr>
            <a:graphicFrameLocks noGrp="1"/>
          </p:cNvGraphicFramePr>
          <p:nvPr/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4235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4A4B5C-A583-089C-AF00-37D3AE60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F5FDBC-F2F2-0EAE-05E6-0A92C64FEB88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39870-57AE-F2F2-B6C8-9001681418BE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F542A-1250-558E-615F-B971A4B54D2B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839353-7870-83B9-4DCA-16D4D286DF73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317873-A7E2-6CB9-9CAA-7CABF7C3996E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FAFEEC-9050-2130-8771-5BFEEE6C857F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8EDFCC-C0BE-7720-34F0-5E544B7CF751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1DAC92-D5EC-6C65-EC0A-C4A6DF8E2EF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CE8E37-65B1-2CC1-73E8-6210004FEF30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ED83A6-6962-AFAF-EC1F-9442A6523B2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634B5B-9C43-AF2C-6183-8CA53D9F5868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1C995533-F4BE-6C82-3992-ECBCCE292582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C9D92C-24CA-21DB-9029-C2BF89784DFC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8AFFB712-EF64-2EB5-69E8-1A85D0334F6E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17B9B-4F2A-8C17-8522-A9A411252E89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5C824B8-12D4-F560-EF3F-C75AD9F8EC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7509C4-B004-1D42-B930-4E1F1A2F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0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51458</TotalTime>
  <Words>3548</Words>
  <Application>Microsoft Macintosh PowerPoint</Application>
  <PresentationFormat>On-screen Show (16:9)</PresentationFormat>
  <Paragraphs>1117</Paragraphs>
  <Slides>68</Slides>
  <Notes>15</Notes>
  <HiddenSlides>15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Schedule</vt:lpstr>
      <vt:lpstr>Outline</vt:lpstr>
      <vt:lpstr>Complexity of transcriptomes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Alignment issues</vt:lpstr>
      <vt:lpstr>Solutions to mitigate problems</vt:lpstr>
      <vt:lpstr>Count matrix Read counts (Raw) per gene</vt:lpstr>
      <vt:lpstr>Outline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Statistical comparison</vt:lpstr>
      <vt:lpstr>Biological replication</vt:lpstr>
      <vt:lpstr>Biological replication</vt:lpstr>
      <vt:lpstr>Question</vt:lpstr>
      <vt:lpstr>Comparison of read counts among different samples</vt:lpstr>
      <vt:lpstr>A normalization method: RPKM and FPKM</vt:lpstr>
      <vt:lpstr>Experimental Design</vt:lpstr>
      <vt:lpstr>Outline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P-value histograms from real studies</vt:lpstr>
      <vt:lpstr>P-value histograms from real studies</vt:lpstr>
      <vt:lpstr>Outline</vt:lpstr>
      <vt:lpstr>Gene ontology (GO)</vt:lpstr>
      <vt:lpstr>GO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Exon-intron structure</vt:lpstr>
      <vt:lpstr>More about RPKM</vt:lpstr>
      <vt:lpstr>RNA-seq procedure for differential expression analysis</vt:lpstr>
      <vt:lpstr>Keywords</vt:lpstr>
      <vt:lpstr>False discovery rate (concept)</vt:lpstr>
      <vt:lpstr>GO enrichment test – Fisher's Exact test</vt:lpstr>
      <vt:lpstr>GO enrichment test – Random simulation</vt:lpstr>
      <vt:lpstr>GOSeq: a package for GO enrichment analysis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385</cp:revision>
  <cp:lastPrinted>2015-04-30T14:29:06Z</cp:lastPrinted>
  <dcterms:created xsi:type="dcterms:W3CDTF">2014-05-23T20:11:37Z</dcterms:created>
  <dcterms:modified xsi:type="dcterms:W3CDTF">2026-06-10T17:03:30Z</dcterms:modified>
</cp:coreProperties>
</file>