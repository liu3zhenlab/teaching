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338" r:id="rId2"/>
    <p:sldId id="480" r:id="rId3"/>
    <p:sldId id="257" r:id="rId4"/>
    <p:sldId id="462" r:id="rId5"/>
    <p:sldId id="463" r:id="rId6"/>
    <p:sldId id="380" r:id="rId7"/>
    <p:sldId id="464" r:id="rId8"/>
    <p:sldId id="358" r:id="rId9"/>
    <p:sldId id="415" r:id="rId10"/>
    <p:sldId id="411" r:id="rId11"/>
    <p:sldId id="350" r:id="rId12"/>
    <p:sldId id="373" r:id="rId13"/>
    <p:sldId id="345" r:id="rId14"/>
    <p:sldId id="351" r:id="rId15"/>
    <p:sldId id="374" r:id="rId16"/>
    <p:sldId id="376" r:id="rId17"/>
    <p:sldId id="375" r:id="rId18"/>
    <p:sldId id="377" r:id="rId19"/>
    <p:sldId id="484" r:id="rId20"/>
    <p:sldId id="378" r:id="rId21"/>
    <p:sldId id="473" r:id="rId22"/>
    <p:sldId id="379" r:id="rId23"/>
    <p:sldId id="465" r:id="rId24"/>
    <p:sldId id="381" r:id="rId25"/>
    <p:sldId id="382" r:id="rId26"/>
    <p:sldId id="383" r:id="rId27"/>
    <p:sldId id="485" r:id="rId28"/>
    <p:sldId id="384" r:id="rId29"/>
    <p:sldId id="466" r:id="rId30"/>
    <p:sldId id="385" r:id="rId31"/>
    <p:sldId id="386" r:id="rId32"/>
    <p:sldId id="387" r:id="rId33"/>
    <p:sldId id="389" r:id="rId34"/>
    <p:sldId id="483" r:id="rId35"/>
    <p:sldId id="391" r:id="rId36"/>
    <p:sldId id="402" r:id="rId37"/>
    <p:sldId id="403" r:id="rId38"/>
    <p:sldId id="392" r:id="rId39"/>
    <p:sldId id="474" r:id="rId40"/>
    <p:sldId id="393" r:id="rId41"/>
    <p:sldId id="394" r:id="rId42"/>
    <p:sldId id="395" r:id="rId43"/>
    <p:sldId id="396" r:id="rId44"/>
    <p:sldId id="397" r:id="rId45"/>
    <p:sldId id="398" r:id="rId46"/>
    <p:sldId id="399" r:id="rId47"/>
    <p:sldId id="467" r:id="rId48"/>
    <p:sldId id="482" r:id="rId49"/>
    <p:sldId id="468" r:id="rId50"/>
    <p:sldId id="401" r:id="rId51"/>
    <p:sldId id="272" r:id="rId52"/>
    <p:sldId id="267" r:id="rId53"/>
    <p:sldId id="268" r:id="rId54"/>
    <p:sldId id="269" r:id="rId55"/>
    <p:sldId id="471" r:id="rId56"/>
    <p:sldId id="481" r:id="rId57"/>
    <p:sldId id="456" r:id="rId58"/>
    <p:sldId id="469" r:id="rId59"/>
    <p:sldId id="476" r:id="rId60"/>
    <p:sldId id="458" r:id="rId61"/>
    <p:sldId id="470" r:id="rId62"/>
    <p:sldId id="337" r:id="rId63"/>
    <p:sldId id="341" r:id="rId64"/>
    <p:sldId id="347" r:id="rId65"/>
    <p:sldId id="388" r:id="rId66"/>
    <p:sldId id="477" r:id="rId67"/>
    <p:sldId id="478" r:id="rId68"/>
    <p:sldId id="479" r:id="rId6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36" autoAdjust="0"/>
    <p:restoredTop sz="95853" autoAdjust="0"/>
  </p:normalViewPr>
  <p:slideViewPr>
    <p:cSldViewPr snapToGrid="0" snapToObjects="1">
      <p:cViewPr varScale="1">
        <p:scale>
          <a:sx n="164" d="100"/>
          <a:sy n="164" d="100"/>
        </p:scale>
        <p:origin x="472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83A62-9D77-1A44-8DB5-4DA900A12DD2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480CA-12A1-5F4F-9420-84776E456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4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 of mRNA transcripts produced in a particular cell or tissue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21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21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67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reads are relatively short (30 to 150 </a:t>
            </a:r>
            <a:r>
              <a:rPr lang="en-US" dirty="0" err="1"/>
              <a:t>bp</a:t>
            </a:r>
            <a:r>
              <a:rPr lang="en-US" dirty="0"/>
              <a:t>), making it hard to unambiguously assign them to a specific location in the genome, especially in the presence of sequencing errors and repeat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D04CBB-41C6-9848-8788-70E8C4D394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90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200" dirty="0"/>
              <a:t>Index effect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Size selection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PCR Amplification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73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72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37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37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827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C229-2701-1B40-79DC-1BFA58E8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AEE44-9159-6441-8CF4-2135FF76C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60590-CF50-C459-C90C-DF9D8B6EA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393F3-23A5-D8B2-27A8-A1BFA62F7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10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B64F-35B2-CEB3-3433-BD5BEAEF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3A2A2-1636-062F-EE92-979898B44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9D64C-13CA-3225-57BA-B04DFB401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40077-A606-10E3-718B-ABC7D05F73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480CA-12A1-5F4F-9420-84776E456B5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36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99279-DDAE-A826-D7ED-957BA0DC6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D1303-75CB-2669-DC2B-691FA2ED3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1B883-87A6-8A6E-0018-98542DD0E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A27BB-55C1-C022-CD5A-CF9C96C71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E3B47-8DB1-D446-B4CE-8BFCE36AFC8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40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AD7D-2C6A-ECCF-FD73-CFC0A006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7A64B-2E4B-A30C-3DBA-1AD9CA5C8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02199-8A6E-F5C1-475D-76D71D0CD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9C6AB-68C4-423A-63EC-A9D820DC7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E3B47-8DB1-D446-B4CE-8BFCE36AFC8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9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8C1D6-6F36-644C-89D1-74CC6F303E29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72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2E58-437B-E54F-907C-08626AADF79B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1B64F-D38C-DD41-9CF8-E2AC68FFDF2E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5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415DA-805D-0044-9444-F5D30DDFA11D}" type="datetime1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6F87-4D8A-9A45-B356-72E52ADFBB40}" type="datetime1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74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B04CA-E608-D944-A7AE-CC57B3DCD136}" type="datetime1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68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AD44-4F85-C04B-9829-38CC7C0015A0}" type="datetime1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4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C758-E5CB-EA4D-B3BB-D320236CD532}" type="datetime1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0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DE836-361C-5E48-B98E-C5604D799300}" type="datetime1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42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C212-0C57-8A49-A69F-DEE02C1E370C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5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A9B5-0C8D-F049-A453-AA046B922085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9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BD7F2-C01F-6548-B635-9FC5A774BC3C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DAB89-B125-9242-8DB3-C0D669061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6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hyperlink" Target="https://guangchuangyu.github.io/software/clusterProfil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xinn.2021.100141" TargetMode="Externa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48489"/>
            <a:ext cx="7772400" cy="1828398"/>
          </a:xfrm>
        </p:spPr>
        <p:txBody>
          <a:bodyPr>
            <a:normAutofit/>
          </a:bodyPr>
          <a:lstStyle/>
          <a:p>
            <a:r>
              <a:rPr lang="en-US" sz="3600" dirty="0"/>
              <a:t>Differential Expression</a:t>
            </a:r>
            <a:br>
              <a:rPr lang="en-US" sz="3600" dirty="0"/>
            </a:br>
            <a:br>
              <a:rPr lang="en-US" sz="3600" dirty="0"/>
            </a:br>
            <a:r>
              <a:rPr lang="en-US" sz="2000" dirty="0"/>
              <a:t>Bioinformatics Applications (PLPTH813)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200" y="3049319"/>
            <a:ext cx="6400800" cy="1752600"/>
          </a:xfrm>
        </p:spPr>
        <p:txBody>
          <a:bodyPr>
            <a:normAutofit/>
          </a:bodyPr>
          <a:lstStyle/>
          <a:p>
            <a:r>
              <a:rPr lang="en-US" sz="2800" dirty="0"/>
              <a:t>Sanzhen Liu</a:t>
            </a:r>
          </a:p>
          <a:p>
            <a:endParaRPr lang="en-US" sz="2800" dirty="0"/>
          </a:p>
          <a:p>
            <a:r>
              <a:rPr lang="en-US" sz="2800" dirty="0"/>
              <a:t>6/10/2026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ED797-D41B-59B2-98C3-F6A76D96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92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06E7-B626-4096-DD2E-F58592CE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29F96-F9AE-78EE-F630-A3202820D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1-2pm			</a:t>
            </a:r>
            <a:r>
              <a:rPr lang="en-US" dirty="0"/>
              <a:t>Overview of RNA-seq DE analysis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2:10-3pm		</a:t>
            </a:r>
            <a:r>
              <a:rPr lang="en-US" dirty="0"/>
              <a:t>R practice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3:10-4:30pm	</a:t>
            </a:r>
            <a:r>
              <a:rPr lang="en-US" dirty="0"/>
              <a:t>RNA-seq DE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1EF8D-467F-0E38-2FC1-8B44F683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8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815" y="1282660"/>
            <a:ext cx="7136063" cy="2934229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dirty="0"/>
              <a:t>RNA-seq procedure</a:t>
            </a:r>
          </a:p>
          <a:p>
            <a:pPr>
              <a:lnSpc>
                <a:spcPct val="120000"/>
              </a:lnSpc>
            </a:pPr>
            <a:r>
              <a:rPr lang="en-US" dirty="0"/>
              <a:t>Statistical test of differential expression</a:t>
            </a:r>
          </a:p>
          <a:p>
            <a:pPr>
              <a:lnSpc>
                <a:spcPct val="120000"/>
              </a:lnSpc>
            </a:pPr>
            <a:r>
              <a:rPr lang="en-US" dirty="0"/>
              <a:t>Multiple testing correction</a:t>
            </a:r>
          </a:p>
          <a:p>
            <a:pPr>
              <a:lnSpc>
                <a:spcPct val="120000"/>
              </a:lnSpc>
            </a:pPr>
            <a:r>
              <a:rPr lang="en-US" dirty="0"/>
              <a:t>RNA-seq data processing</a:t>
            </a:r>
          </a:p>
          <a:p>
            <a:pPr>
              <a:lnSpc>
                <a:spcPct val="120000"/>
              </a:lnSpc>
            </a:pPr>
            <a:r>
              <a:rPr lang="en-US" dirty="0"/>
              <a:t>Gene ontology (GO) enrichment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7A805-C359-DADE-5ECF-FF2D72CA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8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1550" y="90610"/>
            <a:ext cx="4978400" cy="766762"/>
          </a:xfrm>
        </p:spPr>
        <p:txBody>
          <a:bodyPr>
            <a:normAutofit/>
          </a:bodyPr>
          <a:lstStyle/>
          <a:p>
            <a:r>
              <a:rPr lang="en-US" sz="3200" dirty="0" err="1"/>
              <a:t>Transcriptome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28" y="1759829"/>
            <a:ext cx="2715625" cy="2425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0339" y="4167068"/>
            <a:ext cx="3714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DNA to protein in eukaryote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299" y="4628733"/>
            <a:ext cx="32648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nature.com</a:t>
            </a:r>
            <a:r>
              <a:rPr lang="en-US" sz="1000" dirty="0"/>
              <a:t>/</a:t>
            </a:r>
            <a:r>
              <a:rPr lang="en-US" sz="1000" dirty="0" err="1"/>
              <a:t>scitable</a:t>
            </a:r>
            <a:r>
              <a:rPr lang="en-US" sz="1000" dirty="0"/>
              <a:t>/</a:t>
            </a:r>
            <a:r>
              <a:rPr lang="en-US" sz="1000" dirty="0" err="1"/>
              <a:t>topicpage</a:t>
            </a:r>
            <a:r>
              <a:rPr lang="en-US" sz="1000" dirty="0"/>
              <a:t>/gene-expression-14121669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DC5FA3D3-D531-1244-A525-F7D3D78A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12" y="1465958"/>
            <a:ext cx="2891277" cy="28434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D534A9-9A5E-514B-A8D2-40DA66A060C7}"/>
              </a:ext>
            </a:extLst>
          </p:cNvPr>
          <p:cNvSpPr txBox="1"/>
          <p:nvPr/>
        </p:nvSpPr>
        <p:spPr>
          <a:xfrm>
            <a:off x="6610348" y="347666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viruses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3A34E-B3D5-F940-83AB-237B050599CC}"/>
              </a:ext>
            </a:extLst>
          </p:cNvPr>
          <p:cNvSpPr txBox="1"/>
          <p:nvPr/>
        </p:nvSpPr>
        <p:spPr>
          <a:xfrm>
            <a:off x="6146214" y="2351781"/>
            <a:ext cx="928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archaea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D9B548-0855-2B40-9C8F-5C663CA488C8}"/>
              </a:ext>
            </a:extLst>
          </p:cNvPr>
          <p:cNvSpPr txBox="1"/>
          <p:nvPr/>
        </p:nvSpPr>
        <p:spPr>
          <a:xfrm>
            <a:off x="6422379" y="1982449"/>
            <a:ext cx="94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bacteria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00D38-5C72-1B42-AE84-69070B3EC745}"/>
              </a:ext>
            </a:extLst>
          </p:cNvPr>
          <p:cNvSpPr txBox="1"/>
          <p:nvPr/>
        </p:nvSpPr>
        <p:spPr>
          <a:xfrm>
            <a:off x="6554575" y="1543128"/>
            <a:ext cx="1122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eukaryota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8FF97-79EE-1443-ACBC-16624C4C728D}"/>
              </a:ext>
            </a:extLst>
          </p:cNvPr>
          <p:cNvSpPr txBox="1"/>
          <p:nvPr/>
        </p:nvSpPr>
        <p:spPr>
          <a:xfrm>
            <a:off x="5897587" y="424905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r>
              <a:rPr lang="en-US" baseline="300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F5C15-91AD-6346-B911-B0B2F2A00C13}"/>
              </a:ext>
            </a:extLst>
          </p:cNvPr>
          <p:cNvSpPr txBox="1"/>
          <p:nvPr/>
        </p:nvSpPr>
        <p:spPr>
          <a:xfrm>
            <a:off x="6509807" y="424905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r>
              <a:rPr lang="en-US" baseline="300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CFF43-9C03-B44B-B38B-BE1FB95857EA}"/>
              </a:ext>
            </a:extLst>
          </p:cNvPr>
          <p:cNvSpPr txBox="1"/>
          <p:nvPr/>
        </p:nvSpPr>
        <p:spPr>
          <a:xfrm>
            <a:off x="7113391" y="424905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r>
              <a:rPr lang="en-US" baseline="300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57BF9A-9BC9-6047-8EBD-3972FD6E647E}"/>
              </a:ext>
            </a:extLst>
          </p:cNvPr>
          <p:cNvSpPr txBox="1"/>
          <p:nvPr/>
        </p:nvSpPr>
        <p:spPr>
          <a:xfrm>
            <a:off x="7735706" y="423611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r>
              <a:rPr lang="en-US" baseline="300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6DA95D-1756-DA40-A9CF-41AE0011C231}"/>
              </a:ext>
            </a:extLst>
          </p:cNvPr>
          <p:cNvSpPr txBox="1"/>
          <p:nvPr/>
        </p:nvSpPr>
        <p:spPr>
          <a:xfrm>
            <a:off x="5286725" y="147969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r>
              <a:rPr lang="en-US" baseline="300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2DD12B-7F24-8C4C-A070-FD3E2E3DB407}"/>
              </a:ext>
            </a:extLst>
          </p:cNvPr>
          <p:cNvSpPr txBox="1"/>
          <p:nvPr/>
        </p:nvSpPr>
        <p:spPr>
          <a:xfrm>
            <a:off x="5307350" y="341089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endParaRPr lang="en-US" baseline="30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C47367-C5D9-7E45-B0D2-6045B20C1F0B}"/>
              </a:ext>
            </a:extLst>
          </p:cNvPr>
          <p:cNvSpPr txBox="1"/>
          <p:nvPr/>
        </p:nvSpPr>
        <p:spPr>
          <a:xfrm>
            <a:off x="5286725" y="293184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r>
              <a:rPr lang="en-US" baseline="300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6B17AF-5E20-604A-AAA7-22DB008D0D85}"/>
              </a:ext>
            </a:extLst>
          </p:cNvPr>
          <p:cNvSpPr txBox="1"/>
          <p:nvPr/>
        </p:nvSpPr>
        <p:spPr>
          <a:xfrm>
            <a:off x="5286725" y="244627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r>
              <a:rPr lang="en-US" baseline="30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283B88-A06B-684A-9A1D-C7F6F9235682}"/>
              </a:ext>
            </a:extLst>
          </p:cNvPr>
          <p:cNvSpPr txBox="1"/>
          <p:nvPr/>
        </p:nvSpPr>
        <p:spPr>
          <a:xfrm>
            <a:off x="5286725" y="196070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r>
              <a:rPr lang="en-US" baseline="300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147619-4F50-5942-91EB-86A88CE886E1}"/>
              </a:ext>
            </a:extLst>
          </p:cNvPr>
          <p:cNvSpPr txBox="1"/>
          <p:nvPr/>
        </p:nvSpPr>
        <p:spPr>
          <a:xfrm>
            <a:off x="7480899" y="3845992"/>
            <a:ext cx="1025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wikipedia.org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5830F4-E97C-984E-B0C4-CA095FC8A9A5}"/>
              </a:ext>
            </a:extLst>
          </p:cNvPr>
          <p:cNvSpPr txBox="1"/>
          <p:nvPr/>
        </p:nvSpPr>
        <p:spPr>
          <a:xfrm>
            <a:off x="260252" y="843187"/>
            <a:ext cx="8315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 </a:t>
            </a:r>
            <a:r>
              <a:rPr lang="en-US" sz="2400" b="1" dirty="0"/>
              <a:t>transcriptome</a:t>
            </a:r>
            <a:r>
              <a:rPr lang="en-US" sz="2400" dirty="0"/>
              <a:t> is the full range of mRNA expressed by a cell, a tissue, or an organism.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48F9E6-8386-FA48-BABE-462412644F85}"/>
              </a:ext>
            </a:extLst>
          </p:cNvPr>
          <p:cNvSpPr txBox="1"/>
          <p:nvPr/>
        </p:nvSpPr>
        <p:spPr>
          <a:xfrm>
            <a:off x="6146213" y="4601539"/>
            <a:ext cx="182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 size (bp)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D6C820-0C96-E142-8277-76846904AD63}"/>
              </a:ext>
            </a:extLst>
          </p:cNvPr>
          <p:cNvSpPr txBox="1"/>
          <p:nvPr/>
        </p:nvSpPr>
        <p:spPr>
          <a:xfrm>
            <a:off x="3857276" y="2495354"/>
            <a:ext cx="2493952" cy="369332"/>
          </a:xfrm>
          <a:prstGeom prst="rect">
            <a:avLst/>
          </a:prstGeom>
          <a:noFill/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dirty="0"/>
              <a:t>Counts of protein genes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CBDC41-FE78-283A-DAB6-6B44DD72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191454" y="2319834"/>
            <a:ext cx="4515296" cy="2068325"/>
            <a:chOff x="2638709" y="3004305"/>
            <a:chExt cx="4515296" cy="2068325"/>
          </a:xfrm>
        </p:grpSpPr>
        <p:sp>
          <p:nvSpPr>
            <p:cNvPr id="325" name="Parallelogram 324"/>
            <p:cNvSpPr/>
            <p:nvPr/>
          </p:nvSpPr>
          <p:spPr>
            <a:xfrm>
              <a:off x="5184344" y="3021549"/>
              <a:ext cx="1969661" cy="1810853"/>
            </a:xfrm>
            <a:prstGeom prst="parallelogram">
              <a:avLst>
                <a:gd name="adj" fmla="val 69947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Parallelogram 323"/>
            <p:cNvSpPr/>
            <p:nvPr/>
          </p:nvSpPr>
          <p:spPr>
            <a:xfrm>
              <a:off x="4648523" y="3004306"/>
              <a:ext cx="1368350" cy="1821694"/>
            </a:xfrm>
            <a:prstGeom prst="parallelogram">
              <a:avLst>
                <a:gd name="adj" fmla="val 59789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Parallelogram 321"/>
            <p:cNvSpPr/>
            <p:nvPr/>
          </p:nvSpPr>
          <p:spPr>
            <a:xfrm flipH="1">
              <a:off x="2638709" y="3004305"/>
              <a:ext cx="1958934" cy="1821695"/>
            </a:xfrm>
            <a:prstGeom prst="parallelogram">
              <a:avLst>
                <a:gd name="adj" fmla="val 5131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/>
            <p:cNvSpPr/>
            <p:nvPr/>
          </p:nvSpPr>
          <p:spPr>
            <a:xfrm>
              <a:off x="3386832" y="4795240"/>
              <a:ext cx="198967" cy="21687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 317"/>
            <p:cNvSpPr/>
            <p:nvPr/>
          </p:nvSpPr>
          <p:spPr>
            <a:xfrm flipV="1">
              <a:off x="3547449" y="4837162"/>
              <a:ext cx="1083734" cy="12968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Rectangle 319"/>
            <p:cNvSpPr/>
            <p:nvPr/>
          </p:nvSpPr>
          <p:spPr>
            <a:xfrm flipV="1">
              <a:off x="4634011" y="4837162"/>
              <a:ext cx="558801" cy="13126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/>
            <p:cNvSpPr/>
            <p:nvPr/>
          </p:nvSpPr>
          <p:spPr>
            <a:xfrm flipV="1">
              <a:off x="5188579" y="4837162"/>
              <a:ext cx="711200" cy="13126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3087446" y="4703298"/>
              <a:ext cx="3526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5'</a:t>
              </a:r>
            </a:p>
          </p:txBody>
        </p:sp>
        <p:sp>
          <p:nvSpPr>
            <p:cNvPr id="327" name="TextBox 326"/>
            <p:cNvSpPr txBox="1"/>
            <p:nvPr/>
          </p:nvSpPr>
          <p:spPr>
            <a:xfrm>
              <a:off x="5865911" y="4701595"/>
              <a:ext cx="1072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AAAAA 3'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3167" y="147007"/>
            <a:ext cx="7251700" cy="825499"/>
          </a:xfrm>
        </p:spPr>
        <p:txBody>
          <a:bodyPr>
            <a:normAutofit/>
          </a:bodyPr>
          <a:lstStyle/>
          <a:p>
            <a:r>
              <a:rPr lang="en-US" sz="3200" dirty="0"/>
              <a:t>Alternative splicing</a:t>
            </a:r>
          </a:p>
        </p:txBody>
      </p:sp>
      <p:sp>
        <p:nvSpPr>
          <p:cNvPr id="238" name="Oval 237"/>
          <p:cNvSpPr/>
          <p:nvPr/>
        </p:nvSpPr>
        <p:spPr>
          <a:xfrm>
            <a:off x="2490841" y="3190439"/>
            <a:ext cx="198967" cy="21687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/>
          <p:cNvSpPr/>
          <p:nvPr/>
        </p:nvSpPr>
        <p:spPr>
          <a:xfrm>
            <a:off x="1954313" y="2147868"/>
            <a:ext cx="198967" cy="21687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2" name="Straight Connector 241"/>
          <p:cNvCxnSpPr/>
          <p:nvPr/>
        </p:nvCxnSpPr>
        <p:spPr>
          <a:xfrm flipV="1">
            <a:off x="1927887" y="1400070"/>
            <a:ext cx="5067300" cy="119"/>
          </a:xfrm>
          <a:prstGeom prst="line">
            <a:avLst/>
          </a:prstGeom>
          <a:ln w="571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ectangle 243"/>
          <p:cNvSpPr/>
          <p:nvPr/>
        </p:nvSpPr>
        <p:spPr>
          <a:xfrm flipV="1">
            <a:off x="2132150" y="2192737"/>
            <a:ext cx="1083734" cy="1296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Rectangle 244"/>
          <p:cNvSpPr/>
          <p:nvPr/>
        </p:nvSpPr>
        <p:spPr>
          <a:xfrm flipV="1">
            <a:off x="3215885" y="2192735"/>
            <a:ext cx="651933" cy="1296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/>
          <p:cNvSpPr/>
          <p:nvPr/>
        </p:nvSpPr>
        <p:spPr>
          <a:xfrm flipV="1">
            <a:off x="3867817" y="2192803"/>
            <a:ext cx="711200" cy="131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/>
          <p:cNvSpPr/>
          <p:nvPr/>
        </p:nvSpPr>
        <p:spPr>
          <a:xfrm flipV="1">
            <a:off x="4579017" y="2192853"/>
            <a:ext cx="431800" cy="1294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Rectangle 247"/>
          <p:cNvSpPr/>
          <p:nvPr/>
        </p:nvSpPr>
        <p:spPr>
          <a:xfrm flipV="1">
            <a:off x="5010818" y="2192735"/>
            <a:ext cx="558801" cy="1270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Rectangle 268"/>
          <p:cNvSpPr/>
          <p:nvPr/>
        </p:nvSpPr>
        <p:spPr>
          <a:xfrm flipV="1">
            <a:off x="6001418" y="2192803"/>
            <a:ext cx="711200" cy="12957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Rectangle 270"/>
          <p:cNvSpPr/>
          <p:nvPr/>
        </p:nvSpPr>
        <p:spPr>
          <a:xfrm flipV="1">
            <a:off x="5569618" y="2192853"/>
            <a:ext cx="431800" cy="1294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/>
          <p:cNvSpPr/>
          <p:nvPr/>
        </p:nvSpPr>
        <p:spPr>
          <a:xfrm flipV="1">
            <a:off x="2651457" y="3232361"/>
            <a:ext cx="1083734" cy="1296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/>
          <p:cNvSpPr/>
          <p:nvPr/>
        </p:nvSpPr>
        <p:spPr>
          <a:xfrm flipV="1">
            <a:off x="3730958" y="3232359"/>
            <a:ext cx="711200" cy="1296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/>
          <p:cNvSpPr/>
          <p:nvPr/>
        </p:nvSpPr>
        <p:spPr>
          <a:xfrm flipV="1">
            <a:off x="4427647" y="3232361"/>
            <a:ext cx="558801" cy="13126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/>
          <p:cNvSpPr/>
          <p:nvPr/>
        </p:nvSpPr>
        <p:spPr>
          <a:xfrm flipV="1">
            <a:off x="4982214" y="3232360"/>
            <a:ext cx="711200" cy="13126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Parallelogram 287"/>
          <p:cNvSpPr/>
          <p:nvPr/>
        </p:nvSpPr>
        <p:spPr>
          <a:xfrm flipH="1">
            <a:off x="2132146" y="2337077"/>
            <a:ext cx="1574801" cy="895283"/>
          </a:xfrm>
          <a:prstGeom prst="parallelogram">
            <a:avLst>
              <a:gd name="adj" fmla="val 54619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Parallelogram 289"/>
          <p:cNvSpPr/>
          <p:nvPr/>
        </p:nvSpPr>
        <p:spPr>
          <a:xfrm>
            <a:off x="3722493" y="2332802"/>
            <a:ext cx="856524" cy="899559"/>
          </a:xfrm>
          <a:prstGeom prst="parallelogram">
            <a:avLst>
              <a:gd name="adj" fmla="val 19208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Parallelogram 298"/>
          <p:cNvSpPr/>
          <p:nvPr/>
        </p:nvSpPr>
        <p:spPr>
          <a:xfrm>
            <a:off x="4442158" y="2330883"/>
            <a:ext cx="1127460" cy="901476"/>
          </a:xfrm>
          <a:prstGeom prst="parallelogram">
            <a:avLst>
              <a:gd name="adj" fmla="val 63993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Parallelogram 299"/>
          <p:cNvSpPr/>
          <p:nvPr/>
        </p:nvSpPr>
        <p:spPr>
          <a:xfrm>
            <a:off x="5003380" y="2337078"/>
            <a:ext cx="1692303" cy="895283"/>
          </a:xfrm>
          <a:prstGeom prst="parallelogram">
            <a:avLst>
              <a:gd name="adj" fmla="val 11193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TextBox 300"/>
          <p:cNvSpPr txBox="1"/>
          <p:nvPr/>
        </p:nvSpPr>
        <p:spPr>
          <a:xfrm>
            <a:off x="2403084" y="1875496"/>
            <a:ext cx="64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exon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66225" y="1875496"/>
            <a:ext cx="759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intron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6661820" y="2055925"/>
            <a:ext cx="107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 3'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654926" y="2055925"/>
            <a:ext cx="352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5'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191454" y="3098496"/>
            <a:ext cx="352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5'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659546" y="3096793"/>
            <a:ext cx="107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 3'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222208" y="1156537"/>
            <a:ext cx="1254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Genome</a:t>
            </a:r>
          </a:p>
        </p:txBody>
      </p:sp>
      <p:cxnSp>
        <p:nvCxnSpPr>
          <p:cNvPr id="310" name="Straight Arrow Connector 309"/>
          <p:cNvCxnSpPr/>
          <p:nvPr/>
        </p:nvCxnSpPr>
        <p:spPr>
          <a:xfrm>
            <a:off x="4260454" y="1507606"/>
            <a:ext cx="0" cy="474133"/>
          </a:xfrm>
          <a:prstGeom prst="straightConnector1">
            <a:avLst/>
          </a:prstGeom>
          <a:ln w="38100" cmpd="sng">
            <a:solidFill>
              <a:schemeClr val="bg1">
                <a:lumMod val="50000"/>
              </a:schemeClr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TextBox 310"/>
          <p:cNvSpPr txBox="1"/>
          <p:nvPr/>
        </p:nvSpPr>
        <p:spPr>
          <a:xfrm>
            <a:off x="2761854" y="1507605"/>
            <a:ext cx="1388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transcription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22207" y="2016637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Pre-mRNA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222207" y="2801373"/>
            <a:ext cx="1397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mRNA</a:t>
            </a:r>
          </a:p>
          <a:p>
            <a:r>
              <a:rPr lang="en-US" sz="2400" dirty="0"/>
              <a:t>transcript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359236" y="3466125"/>
            <a:ext cx="2627626" cy="1164668"/>
            <a:chOff x="6383841" y="3426697"/>
            <a:chExt cx="2798259" cy="1164668"/>
          </a:xfrm>
        </p:grpSpPr>
        <p:sp>
          <p:nvSpPr>
            <p:cNvPr id="315" name="TextBox 314"/>
            <p:cNvSpPr txBox="1"/>
            <p:nvPr/>
          </p:nvSpPr>
          <p:spPr>
            <a:xfrm>
              <a:off x="6383841" y="3426697"/>
              <a:ext cx="27982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alternative splicing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58731" y="4129700"/>
              <a:ext cx="12677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isoforms</a:t>
              </a:r>
            </a:p>
          </p:txBody>
        </p:sp>
        <p:cxnSp>
          <p:nvCxnSpPr>
            <p:cNvPr id="9" name="Straight Arrow Connector 8"/>
            <p:cNvCxnSpPr>
              <a:cxnSpLocks/>
              <a:stCxn id="315" idx="2"/>
              <a:endCxn id="7" idx="0"/>
            </p:cNvCxnSpPr>
            <p:nvPr/>
          </p:nvCxnSpPr>
          <p:spPr>
            <a:xfrm>
              <a:off x="7782971" y="3888362"/>
              <a:ext cx="9633" cy="241338"/>
            </a:xfrm>
            <a:prstGeom prst="straightConnector1">
              <a:avLst/>
            </a:prstGeom>
            <a:ln w="38100" cmpd="sng">
              <a:solidFill>
                <a:schemeClr val="bg1">
                  <a:lumMod val="5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0A38663-A539-68E7-C84D-E427D8425ADA}"/>
              </a:ext>
            </a:extLst>
          </p:cNvPr>
          <p:cNvSpPr txBox="1"/>
          <p:nvPr/>
        </p:nvSpPr>
        <p:spPr>
          <a:xfrm>
            <a:off x="6661820" y="2532245"/>
            <a:ext cx="1114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splicing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45940D-B714-CA0B-1026-A94A95D3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1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09"/>
            <a:ext cx="8229600" cy="948026"/>
          </a:xfrm>
        </p:spPr>
        <p:txBody>
          <a:bodyPr>
            <a:normAutofit/>
          </a:bodyPr>
          <a:lstStyle/>
          <a:p>
            <a:r>
              <a:rPr lang="en-US" sz="3200" dirty="0"/>
              <a:t>levels of alternative splicing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10035"/>
            <a:ext cx="8686800" cy="390832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In many eukaryotic organisms, the majority of genes are alternatively spliced to produce multiple transcript isoforms per gene. 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In humans, for example, there is evidence for alternative splicing of more than 95% of genes, with an average of more than five isoforms per gene.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        </a:t>
            </a:r>
            <a:r>
              <a:rPr lang="fr-FR" sz="1600" dirty="0" err="1"/>
              <a:t>Tilgner</a:t>
            </a:r>
            <a:r>
              <a:rPr lang="fr-FR" sz="1600" dirty="0"/>
              <a:t> et al. (2014) PNAS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BC87A-326C-7F07-1DED-EF081C83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4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creen Shot 2015-04-25 at 3.07.1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827" y="2107516"/>
            <a:ext cx="2001304" cy="19424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57906"/>
            <a:ext cx="8191500" cy="766762"/>
          </a:xfrm>
        </p:spPr>
        <p:txBody>
          <a:bodyPr>
            <a:normAutofit/>
          </a:bodyPr>
          <a:lstStyle/>
          <a:p>
            <a:r>
              <a:rPr lang="en-US" sz="3200" dirty="0"/>
              <a:t>Transcriptome analysis (RNA-seq)</a:t>
            </a:r>
          </a:p>
        </p:txBody>
      </p:sp>
      <p:pic>
        <p:nvPicPr>
          <p:cNvPr id="8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1334"/>
          <a:stretch/>
        </p:blipFill>
        <p:spPr>
          <a:xfrm>
            <a:off x="1574529" y="2155877"/>
            <a:ext cx="2533003" cy="2001047"/>
          </a:xfrm>
        </p:spPr>
      </p:pic>
      <p:sp>
        <p:nvSpPr>
          <p:cNvPr id="12" name="Rectangle 11"/>
          <p:cNvSpPr/>
          <p:nvPr/>
        </p:nvSpPr>
        <p:spPr>
          <a:xfrm>
            <a:off x="6821478" y="3763778"/>
            <a:ext cx="9980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err="1"/>
              <a:t>cragenomica.es</a:t>
            </a:r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782104" y="4148900"/>
            <a:ext cx="4124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Expression profiles in different tissues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9605" y="4128266"/>
            <a:ext cx="2763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Response to biotic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6764" y="837873"/>
            <a:ext cx="81914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RNA-seq: which genes are expressed and the level of expression per gene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98476-323D-40B4-A3BF-D12A0B24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0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916" y="1371447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260916" y="2033258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mRNA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916" y="2695069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DNA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916" y="3356880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sequencing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916" y="4018691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reads</a:t>
            </a:r>
          </a:p>
        </p:txBody>
      </p:sp>
      <p:cxnSp>
        <p:nvCxnSpPr>
          <p:cNvPr id="14" name="Straight Arrow Connector 13"/>
          <p:cNvCxnSpPr>
            <a:stCxn id="2" idx="2"/>
            <a:endCxn id="4" idx="0"/>
          </p:cNvCxnSpPr>
          <p:nvPr/>
        </p:nvCxnSpPr>
        <p:spPr>
          <a:xfrm>
            <a:off x="1067366" y="1765148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2"/>
            <a:endCxn id="5" idx="0"/>
          </p:cNvCxnSpPr>
          <p:nvPr/>
        </p:nvCxnSpPr>
        <p:spPr>
          <a:xfrm>
            <a:off x="1067366" y="2426959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2"/>
            <a:endCxn id="6" idx="0"/>
          </p:cNvCxnSpPr>
          <p:nvPr/>
        </p:nvCxnSpPr>
        <p:spPr>
          <a:xfrm>
            <a:off x="1067366" y="3088770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2"/>
            <a:endCxn id="7" idx="0"/>
          </p:cNvCxnSpPr>
          <p:nvPr/>
        </p:nvCxnSpPr>
        <p:spPr>
          <a:xfrm>
            <a:off x="1067366" y="3750581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1720850" y="81270"/>
            <a:ext cx="5511800" cy="677808"/>
          </a:xfrm>
        </p:spPr>
        <p:txBody>
          <a:bodyPr>
            <a:normAutofit/>
          </a:bodyPr>
          <a:lstStyle/>
          <a:p>
            <a:r>
              <a:rPr lang="en-US" sz="3200" dirty="0"/>
              <a:t>total 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841" y="4647935"/>
            <a:ext cx="36824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www.agilent.com</a:t>
            </a:r>
            <a:r>
              <a:rPr lang="en-US" sz="1000" dirty="0"/>
              <a:t>/cs/library/applications/5989-1165EN.pdf</a:t>
            </a:r>
          </a:p>
        </p:txBody>
      </p:sp>
      <p:pic>
        <p:nvPicPr>
          <p:cNvPr id="24" name="Picture 23" descr="Screen Shot 2015-04-26 at 4.37.4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573" y="632575"/>
            <a:ext cx="2520716" cy="116409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91907" y="1565834"/>
            <a:ext cx="3552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RIN</a:t>
            </a:r>
            <a:r>
              <a:rPr lang="en-US" sz="2400" dirty="0"/>
              <a:t>: RNA Integrity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3882" y="762137"/>
            <a:ext cx="1306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17375E"/>
                </a:solidFill>
              </a:rPr>
              <a:t>RNA-seq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7816" y="2047307"/>
            <a:ext cx="531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value from 1 to 10, with 10 being the least degraded.</a:t>
            </a:r>
          </a:p>
        </p:txBody>
      </p:sp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D588EA48-A5AF-CE43-A60A-222695F76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827" y="2426958"/>
            <a:ext cx="3682410" cy="22106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ED9339-00DD-6246-A734-632153D6904F}"/>
              </a:ext>
            </a:extLst>
          </p:cNvPr>
          <p:cNvSpPr txBox="1"/>
          <p:nvPr/>
        </p:nvSpPr>
        <p:spPr>
          <a:xfrm>
            <a:off x="6866549" y="300472"/>
            <a:ext cx="1624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Bioanalyzer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A9CE27-06C4-A1AC-4980-F007A184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0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5" grpId="0"/>
      <p:bldP spid="1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5532" y="1234111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245532" y="1895922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mRNA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245532" y="2557733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DNA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45532" y="3219544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sequencing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532" y="3881355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reads</a:t>
            </a:r>
          </a:p>
        </p:txBody>
      </p:sp>
      <p:cxnSp>
        <p:nvCxnSpPr>
          <p:cNvPr id="14" name="Straight Arrow Connector 13"/>
          <p:cNvCxnSpPr>
            <a:stCxn id="2" idx="2"/>
            <a:endCxn id="4" idx="0"/>
          </p:cNvCxnSpPr>
          <p:nvPr/>
        </p:nvCxnSpPr>
        <p:spPr>
          <a:xfrm>
            <a:off x="1051982" y="1627812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2"/>
            <a:endCxn id="5" idx="0"/>
          </p:cNvCxnSpPr>
          <p:nvPr/>
        </p:nvCxnSpPr>
        <p:spPr>
          <a:xfrm>
            <a:off x="1051982" y="2289623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2"/>
            <a:endCxn id="6" idx="0"/>
          </p:cNvCxnSpPr>
          <p:nvPr/>
        </p:nvCxnSpPr>
        <p:spPr>
          <a:xfrm>
            <a:off x="1051982" y="2951434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2"/>
            <a:endCxn id="7" idx="0"/>
          </p:cNvCxnSpPr>
          <p:nvPr/>
        </p:nvCxnSpPr>
        <p:spPr>
          <a:xfrm>
            <a:off x="1051982" y="3613245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2098386" y="0"/>
            <a:ext cx="5511800" cy="677808"/>
          </a:xfrm>
        </p:spPr>
        <p:txBody>
          <a:bodyPr>
            <a:normAutofit/>
          </a:bodyPr>
          <a:lstStyle/>
          <a:p>
            <a:r>
              <a:rPr lang="en-US" sz="3200" dirty="0"/>
              <a:t>total 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6453" y="4485699"/>
            <a:ext cx="36824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www.agilent.com</a:t>
            </a:r>
            <a:r>
              <a:rPr lang="en-US" sz="1000" dirty="0"/>
              <a:t>/cs/library/applications/5989-1165EN.pdf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8498" y="624801"/>
            <a:ext cx="1306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17375E"/>
                </a:solidFill>
              </a:rPr>
              <a:t>RNA-</a:t>
            </a:r>
            <a:r>
              <a:rPr lang="en-US" sz="2400" b="1" dirty="0" err="1">
                <a:solidFill>
                  <a:srgbClr val="17375E"/>
                </a:solidFill>
              </a:rPr>
              <a:t>Seq</a:t>
            </a:r>
            <a:endParaRPr lang="en-US" sz="2400" b="1" dirty="0">
              <a:solidFill>
                <a:srgbClr val="17375E"/>
              </a:solidFill>
            </a:endParaRPr>
          </a:p>
        </p:txBody>
      </p:sp>
      <p:pic>
        <p:nvPicPr>
          <p:cNvPr id="11" name="Picture 10" descr="Diagram, histogram&#10;&#10;Description automatically generated">
            <a:extLst>
              <a:ext uri="{FF2B5EF4-FFF2-40B4-BE49-F238E27FC236}">
                <a16:creationId xmlns:a16="http://schemas.microsoft.com/office/drawing/2014/main" id="{DC4A5EA1-42AC-3743-A7CC-40614635C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272" y="820487"/>
            <a:ext cx="4942780" cy="352253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98D501-FDC2-9BD6-6EB7-51E014E9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23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371328" y="46558"/>
            <a:ext cx="8401345" cy="677808"/>
          </a:xfrm>
        </p:spPr>
        <p:txBody>
          <a:bodyPr>
            <a:normAutofit/>
          </a:bodyPr>
          <a:lstStyle/>
          <a:p>
            <a:r>
              <a:rPr lang="en-US" sz="3200" dirty="0"/>
              <a:t>total RNA of plant tissues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9A3FAC7B-AEF7-D040-93DA-67F4FA1D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28" y="1327917"/>
            <a:ext cx="4421813" cy="349202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72343B-1C1A-9148-9427-1E8E9FC45EA7}"/>
              </a:ext>
            </a:extLst>
          </p:cNvPr>
          <p:cNvSpPr/>
          <p:nvPr/>
        </p:nvSpPr>
        <p:spPr>
          <a:xfrm>
            <a:off x="371328" y="4791807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www.agilent.com</a:t>
            </a:r>
            <a:r>
              <a:rPr lang="en-US" sz="1200" dirty="0"/>
              <a:t>/cs/library/applications/5990-8850EN.pdf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7BD952-CB32-6D42-91E3-A98BEDEBC743}"/>
              </a:ext>
            </a:extLst>
          </p:cNvPr>
          <p:cNvSpPr txBox="1"/>
          <p:nvPr/>
        </p:nvSpPr>
        <p:spPr>
          <a:xfrm>
            <a:off x="149179" y="779059"/>
            <a:ext cx="6910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 of plant total RNA using the RNA 6000 Nano Kit</a:t>
            </a:r>
          </a:p>
        </p:txBody>
      </p:sp>
      <p:pic>
        <p:nvPicPr>
          <p:cNvPr id="21" name="Picture 20" descr="Table&#10;&#10;Description automatically generated">
            <a:extLst>
              <a:ext uri="{FF2B5EF4-FFF2-40B4-BE49-F238E27FC236}">
                <a16:creationId xmlns:a16="http://schemas.microsoft.com/office/drawing/2014/main" id="{5E3FB53A-A598-9B44-B5A8-6EBB54ACA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468" y="1866625"/>
            <a:ext cx="3166204" cy="293310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922B384-A3DA-D349-AD56-DEB76032DDC1}"/>
              </a:ext>
            </a:extLst>
          </p:cNvPr>
          <p:cNvSpPr txBox="1"/>
          <p:nvPr/>
        </p:nvSpPr>
        <p:spPr>
          <a:xfrm>
            <a:off x="5606468" y="1363294"/>
            <a:ext cx="2888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Table. Plant total RNA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95ED94-2EE7-171C-4DCB-40EE7B78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18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491066" y="103487"/>
            <a:ext cx="8161867" cy="677808"/>
          </a:xfrm>
        </p:spPr>
        <p:txBody>
          <a:bodyPr>
            <a:normAutofit/>
          </a:bodyPr>
          <a:lstStyle/>
          <a:p>
            <a:r>
              <a:rPr lang="en-US" sz="3200" dirty="0" err="1"/>
              <a:t>Illumina</a:t>
            </a:r>
            <a:r>
              <a:rPr lang="en-US" sz="3200" dirty="0"/>
              <a:t> RNA-</a:t>
            </a:r>
            <a:r>
              <a:rPr lang="en-US" sz="3200" dirty="0" err="1"/>
              <a:t>Seq</a:t>
            </a:r>
            <a:r>
              <a:rPr lang="en-US" sz="3200" dirty="0"/>
              <a:t> library preparation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333" y="598279"/>
            <a:ext cx="4351910" cy="39469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49333" y="4599300"/>
            <a:ext cx="395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labome.com</a:t>
            </a:r>
            <a:r>
              <a:rPr lang="en-US" sz="900" dirty="0"/>
              <a:t>/method/RNA-</a:t>
            </a:r>
            <a:r>
              <a:rPr lang="en-US" sz="900" dirty="0" err="1"/>
              <a:t>seq</a:t>
            </a:r>
            <a:r>
              <a:rPr lang="en-US" sz="900" dirty="0"/>
              <a:t>-Using-Next-Generation-</a:t>
            </a:r>
            <a:r>
              <a:rPr lang="en-US" sz="900" dirty="0" err="1"/>
              <a:t>Sequencing.html</a:t>
            </a:r>
            <a:endParaRPr lang="en-US" sz="900" dirty="0"/>
          </a:p>
          <a:p>
            <a:r>
              <a:rPr lang="fr-FR" sz="900" dirty="0" err="1"/>
              <a:t>review</a:t>
            </a:r>
            <a:r>
              <a:rPr lang="fr-FR" sz="900" dirty="0"/>
              <a:t> </a:t>
            </a:r>
            <a:r>
              <a:rPr lang="fr-FR" sz="900" dirty="0" err="1"/>
              <a:t>paper</a:t>
            </a:r>
            <a:r>
              <a:rPr lang="fr-FR" sz="900" dirty="0"/>
              <a:t>: </a:t>
            </a:r>
            <a:r>
              <a:rPr lang="fr-FR" sz="900" dirty="0" err="1"/>
              <a:t>doi.org</a:t>
            </a:r>
            <a:r>
              <a:rPr lang="fr-FR" sz="900" dirty="0"/>
              <a:t>/10.1093/</a:t>
            </a:r>
            <a:r>
              <a:rPr lang="fr-FR" sz="900" dirty="0" err="1"/>
              <a:t>nar</a:t>
            </a:r>
            <a:r>
              <a:rPr lang="fr-FR" sz="900" dirty="0"/>
              <a:t>/gky167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228683" y="1049406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83" y="1711217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mRNA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83" y="2373028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DNA 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83" y="3034839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sequencing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83" y="3696650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reads</a:t>
            </a:r>
          </a:p>
        </p:txBody>
      </p:sp>
      <p:cxnSp>
        <p:nvCxnSpPr>
          <p:cNvPr id="10" name="Straight Arrow Connector 9"/>
          <p:cNvCxnSpPr>
            <a:stCxn id="5" idx="2"/>
            <a:endCxn id="6" idx="0"/>
          </p:cNvCxnSpPr>
          <p:nvPr/>
        </p:nvCxnSpPr>
        <p:spPr>
          <a:xfrm>
            <a:off x="1035133" y="1443107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1035133" y="2104918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>
            <a:off x="1035133" y="2766729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2"/>
            <a:endCxn id="9" idx="0"/>
          </p:cNvCxnSpPr>
          <p:nvPr/>
        </p:nvCxnSpPr>
        <p:spPr>
          <a:xfrm>
            <a:off x="1035133" y="3428540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553785" y="3625269"/>
            <a:ext cx="674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PCR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EB160-0634-0A49-9D5B-D6BC9518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54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491066" y="59540"/>
            <a:ext cx="8161867" cy="677808"/>
          </a:xfrm>
        </p:spPr>
        <p:txBody>
          <a:bodyPr>
            <a:normAutofit/>
          </a:bodyPr>
          <a:lstStyle/>
          <a:p>
            <a:r>
              <a:rPr lang="en-US" sz="3200" dirty="0" err="1"/>
              <a:t>Illumina</a:t>
            </a:r>
            <a:r>
              <a:rPr lang="en-US" sz="3200" dirty="0"/>
              <a:t> sequencing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734" y="1131047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7734" y="1792858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mRNA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7734" y="2454669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DNA 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734" y="3116480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sequencing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734" y="3778291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reads</a:t>
            </a:r>
          </a:p>
        </p:txBody>
      </p:sp>
      <p:cxnSp>
        <p:nvCxnSpPr>
          <p:cNvPr id="10" name="Straight Arrow Connector 9"/>
          <p:cNvCxnSpPr>
            <a:stCxn id="5" idx="2"/>
            <a:endCxn id="6" idx="0"/>
          </p:cNvCxnSpPr>
          <p:nvPr/>
        </p:nvCxnSpPr>
        <p:spPr>
          <a:xfrm>
            <a:off x="1084184" y="1524748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1084184" y="2186559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>
            <a:off x="1084184" y="2848370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2"/>
            <a:endCxn id="9" idx="0"/>
          </p:cNvCxnSpPr>
          <p:nvPr/>
        </p:nvCxnSpPr>
        <p:spPr>
          <a:xfrm>
            <a:off x="1084184" y="3510181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871154" y="3997671"/>
            <a:ext cx="3041957" cy="0"/>
            <a:chOff x="4135604" y="2476500"/>
            <a:chExt cx="3041957" cy="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4135604" y="24765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759568" y="2476500"/>
              <a:ext cx="431526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270500" y="2476500"/>
              <a:ext cx="640082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942332" y="2476500"/>
              <a:ext cx="611264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631461" y="24765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3941004" y="4145643"/>
            <a:ext cx="2870507" cy="0"/>
            <a:chOff x="4205454" y="2578100"/>
            <a:chExt cx="2870507" cy="0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4205454" y="25781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797668" y="25781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396232" y="25781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6001146" y="25781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599711" y="2578100"/>
              <a:ext cx="47625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4053641" y="4293615"/>
            <a:ext cx="2734133" cy="0"/>
            <a:chOff x="4318091" y="2673350"/>
            <a:chExt cx="2734133" cy="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4318091" y="267335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903955" y="267335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508869" y="267335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101083" y="2673350"/>
              <a:ext cx="452513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6599711" y="2673350"/>
              <a:ext cx="452513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236705" y="4441588"/>
            <a:ext cx="2420345" cy="0"/>
            <a:chOff x="4501155" y="2920417"/>
            <a:chExt cx="2420345" cy="0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4501155" y="2920417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087019" y="2920417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691933" y="2920417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284147" y="2920417"/>
              <a:ext cx="637353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2887055" y="3981742"/>
            <a:ext cx="874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reads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019537" y="1883850"/>
            <a:ext cx="1546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Paired-end</a:t>
            </a:r>
          </a:p>
        </p:txBody>
      </p:sp>
      <p:sp>
        <p:nvSpPr>
          <p:cNvPr id="43" name="Oval 42"/>
          <p:cNvSpPr/>
          <p:nvPr/>
        </p:nvSpPr>
        <p:spPr>
          <a:xfrm>
            <a:off x="3710537" y="3686260"/>
            <a:ext cx="198967" cy="21687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flipV="1">
            <a:off x="3871153" y="3728182"/>
            <a:ext cx="1083734" cy="1296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 flipV="1">
            <a:off x="4950654" y="3728180"/>
            <a:ext cx="711200" cy="1296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 flipV="1">
            <a:off x="5647343" y="3728182"/>
            <a:ext cx="558801" cy="13126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flipV="1">
            <a:off x="6201910" y="3728181"/>
            <a:ext cx="711200" cy="13126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3411150" y="3594317"/>
            <a:ext cx="352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9242" y="3592614"/>
            <a:ext cx="107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 3'</a:t>
            </a:r>
          </a:p>
        </p:txBody>
      </p: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6559163" y="1534898"/>
            <a:ext cx="0" cy="12407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503601" y="933235"/>
            <a:ext cx="109537" cy="601662"/>
          </a:xfrm>
          <a:prstGeom prst="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6503601" y="2775687"/>
            <a:ext cx="109537" cy="601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>
          <a:xfrm>
            <a:off x="6730612" y="933235"/>
            <a:ext cx="0" cy="603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 flipH="1">
            <a:off x="6729027" y="1536486"/>
            <a:ext cx="1586" cy="8016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cxnSpLocks/>
          </p:cNvCxnSpPr>
          <p:nvPr/>
        </p:nvCxnSpPr>
        <p:spPr>
          <a:xfrm flipH="1" flipV="1">
            <a:off x="6851263" y="2782672"/>
            <a:ext cx="1" cy="4103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cxnSpLocks/>
          </p:cNvCxnSpPr>
          <p:nvPr/>
        </p:nvCxnSpPr>
        <p:spPr>
          <a:xfrm flipH="1">
            <a:off x="6848088" y="1993684"/>
            <a:ext cx="1588" cy="8016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178808" y="1883850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Single-end</a:t>
            </a:r>
          </a:p>
        </p:txBody>
      </p:sp>
      <p:cxnSp>
        <p:nvCxnSpPr>
          <p:cNvPr id="62" name="Straight Connector 61"/>
          <p:cNvCxnSpPr>
            <a:cxnSpLocks/>
          </p:cNvCxnSpPr>
          <p:nvPr/>
        </p:nvCxnSpPr>
        <p:spPr>
          <a:xfrm flipH="1">
            <a:off x="3925128" y="1534898"/>
            <a:ext cx="1588" cy="12407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3871154" y="933235"/>
            <a:ext cx="109537" cy="601663"/>
          </a:xfrm>
          <a:prstGeom prst="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877248" y="2775686"/>
            <a:ext cx="109537" cy="6016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5" name="Straight Arrow Connector 64"/>
          <p:cNvCxnSpPr>
            <a:cxnSpLocks/>
          </p:cNvCxnSpPr>
          <p:nvPr/>
        </p:nvCxnSpPr>
        <p:spPr>
          <a:xfrm>
            <a:off x="4098165" y="933234"/>
            <a:ext cx="0" cy="603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cxnSpLocks/>
          </p:cNvCxnSpPr>
          <p:nvPr/>
        </p:nvCxnSpPr>
        <p:spPr>
          <a:xfrm flipH="1">
            <a:off x="4096579" y="1536485"/>
            <a:ext cx="1587" cy="8016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lide Number Placeholder 58">
            <a:extLst>
              <a:ext uri="{FF2B5EF4-FFF2-40B4-BE49-F238E27FC236}">
                <a16:creationId xmlns:a16="http://schemas.microsoft.com/office/drawing/2014/main" id="{B1CF88C4-08A6-D57E-1BDA-D266CA59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27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39932" y="594402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932" y="1304709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DNA library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9932" y="1992713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932" y="2654524"/>
            <a:ext cx="1612900" cy="393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932" y="3316335"/>
            <a:ext cx="1612900" cy="393700"/>
          </a:xfrm>
          <a:prstGeom prst="rect">
            <a:avLst/>
          </a:prstGeom>
          <a:solidFill>
            <a:srgbClr val="CCC1DA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 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932" y="3978146"/>
            <a:ext cx="1612900" cy="39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statistical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932" y="4632699"/>
            <a:ext cx="1612900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significance</a:t>
            </a:r>
          </a:p>
        </p:txBody>
      </p:sp>
      <p:cxnSp>
        <p:nvCxnSpPr>
          <p:cNvPr id="15" name="Straight Arrow Connector 14"/>
          <p:cNvCxnSpPr>
            <a:cxnSpLocks/>
            <a:endCxn id="5" idx="0"/>
          </p:cNvCxnSpPr>
          <p:nvPr/>
        </p:nvCxnSpPr>
        <p:spPr>
          <a:xfrm>
            <a:off x="7146382" y="1036599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endCxn id="7" idx="0"/>
          </p:cNvCxnSpPr>
          <p:nvPr/>
        </p:nvCxnSpPr>
        <p:spPr>
          <a:xfrm>
            <a:off x="7146382" y="1724603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  <a:endCxn id="8" idx="0"/>
          </p:cNvCxnSpPr>
          <p:nvPr/>
        </p:nvCxnSpPr>
        <p:spPr>
          <a:xfrm>
            <a:off x="7146382" y="2386414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7146382" y="3048225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  <a:endCxn id="10" idx="0"/>
          </p:cNvCxnSpPr>
          <p:nvPr/>
        </p:nvCxnSpPr>
        <p:spPr>
          <a:xfrm>
            <a:off x="7146382" y="3710036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  <a:stCxn id="10" idx="2"/>
          </p:cNvCxnSpPr>
          <p:nvPr/>
        </p:nvCxnSpPr>
        <p:spPr>
          <a:xfrm>
            <a:off x="7146382" y="4371847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400300" y="1126414"/>
            <a:ext cx="3242217" cy="8662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RNA to sequencing reads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12999" y="2765664"/>
            <a:ext cx="3229517" cy="8520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reads to read counts per gene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00300" y="4088738"/>
            <a:ext cx="3242216" cy="856175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read counts to significant genes</a:t>
            </a:r>
          </a:p>
        </p:txBody>
      </p:sp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114299" y="88659"/>
            <a:ext cx="5706637" cy="986986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RNA-seq procedure for differential expression analysis</a:t>
            </a:r>
          </a:p>
        </p:txBody>
      </p:sp>
      <p:sp>
        <p:nvSpPr>
          <p:cNvPr id="50" name="Left Brace 49"/>
          <p:cNvSpPr/>
          <p:nvPr/>
        </p:nvSpPr>
        <p:spPr>
          <a:xfrm>
            <a:off x="5736683" y="780584"/>
            <a:ext cx="374620" cy="1518267"/>
          </a:xfrm>
          <a:prstGeom prst="leftBrace">
            <a:avLst>
              <a:gd name="adj1" fmla="val 8333"/>
              <a:gd name="adj2" fmla="val 50483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Left Brace 50"/>
          <p:cNvSpPr/>
          <p:nvPr/>
        </p:nvSpPr>
        <p:spPr>
          <a:xfrm>
            <a:off x="5736682" y="2800038"/>
            <a:ext cx="330156" cy="762002"/>
          </a:xfrm>
          <a:prstGeom prst="leftBrace">
            <a:avLst>
              <a:gd name="adj1" fmla="val 8333"/>
              <a:gd name="adj2" fmla="val 50483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Left Brace 51"/>
          <p:cNvSpPr/>
          <p:nvPr/>
        </p:nvSpPr>
        <p:spPr>
          <a:xfrm>
            <a:off x="5723982" y="4103318"/>
            <a:ext cx="330144" cy="856175"/>
          </a:xfrm>
          <a:prstGeom prst="leftBrace">
            <a:avLst>
              <a:gd name="adj1" fmla="val 8333"/>
              <a:gd name="adj2" fmla="val 50483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511300" y="1263514"/>
            <a:ext cx="685800" cy="59689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54" name="Oval 53"/>
          <p:cNvSpPr/>
          <p:nvPr/>
        </p:nvSpPr>
        <p:spPr>
          <a:xfrm>
            <a:off x="1511300" y="2898168"/>
            <a:ext cx="685800" cy="59689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55" name="Oval 54"/>
          <p:cNvSpPr/>
          <p:nvPr/>
        </p:nvSpPr>
        <p:spPr>
          <a:xfrm>
            <a:off x="1511300" y="4225350"/>
            <a:ext cx="685800" cy="59689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EF6D87-6EFA-573B-A5D5-AB6793D2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5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6400" y="430871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BFBFBF"/>
                </a:solidFill>
              </a:rPr>
              <a:t>total 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400" y="1092682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BFBFBF"/>
                </a:solidFill>
              </a:rPr>
              <a:t>DNA library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1702628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2364439"/>
            <a:ext cx="1612900" cy="393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3026250"/>
            <a:ext cx="1612900" cy="393700"/>
          </a:xfrm>
          <a:prstGeom prst="rect">
            <a:avLst/>
          </a:prstGeom>
          <a:solidFill>
            <a:srgbClr val="CCC1DA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 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" y="3688061"/>
            <a:ext cx="1612900" cy="39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statistical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400" y="4376067"/>
            <a:ext cx="1612900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significance</a:t>
            </a:r>
          </a:p>
        </p:txBody>
      </p:sp>
      <p:cxnSp>
        <p:nvCxnSpPr>
          <p:cNvPr id="15" name="Straight Arrow Connector 14"/>
          <p:cNvCxnSpPr>
            <a:stCxn id="4" idx="2"/>
            <a:endCxn id="5" idx="0"/>
          </p:cNvCxnSpPr>
          <p:nvPr/>
        </p:nvCxnSpPr>
        <p:spPr>
          <a:xfrm>
            <a:off x="1212850" y="824572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endCxn id="7" idx="0"/>
          </p:cNvCxnSpPr>
          <p:nvPr/>
        </p:nvCxnSpPr>
        <p:spPr>
          <a:xfrm>
            <a:off x="1212850" y="1434518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  <a:endCxn id="8" idx="0"/>
          </p:cNvCxnSpPr>
          <p:nvPr/>
        </p:nvCxnSpPr>
        <p:spPr>
          <a:xfrm>
            <a:off x="1212850" y="2096329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1212850" y="2758140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  <a:endCxn id="10" idx="0"/>
          </p:cNvCxnSpPr>
          <p:nvPr/>
        </p:nvCxnSpPr>
        <p:spPr>
          <a:xfrm>
            <a:off x="1212850" y="3419951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  <a:stCxn id="10" idx="2"/>
          </p:cNvCxnSpPr>
          <p:nvPr/>
        </p:nvCxnSpPr>
        <p:spPr>
          <a:xfrm>
            <a:off x="1212850" y="4081762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2750763" y="-45054"/>
            <a:ext cx="5511800" cy="67780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R</a:t>
            </a:r>
            <a:r>
              <a:rPr lang="en-US" sz="3200" dirty="0"/>
              <a:t>eads to read counts per gene </a:t>
            </a:r>
          </a:p>
        </p:txBody>
      </p:sp>
      <p:sp>
        <p:nvSpPr>
          <p:cNvPr id="26" name="Rectangle 25"/>
          <p:cNvSpPr/>
          <p:nvPr/>
        </p:nvSpPr>
        <p:spPr>
          <a:xfrm flipV="1">
            <a:off x="3552255" y="944962"/>
            <a:ext cx="1083734" cy="1296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flipV="1">
            <a:off x="4635990" y="944960"/>
            <a:ext cx="651933" cy="1296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flipV="1">
            <a:off x="5287922" y="945028"/>
            <a:ext cx="711200" cy="131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flipV="1">
            <a:off x="5999122" y="945078"/>
            <a:ext cx="431800" cy="1294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6430923" y="944960"/>
            <a:ext cx="558801" cy="1270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7421523" y="945028"/>
            <a:ext cx="711200" cy="12957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 flipV="1">
            <a:off x="6989723" y="945078"/>
            <a:ext cx="431800" cy="1294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flipV="1">
            <a:off x="4071562" y="1857586"/>
            <a:ext cx="1083734" cy="1296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 flipV="1">
            <a:off x="5151063" y="1857584"/>
            <a:ext cx="711200" cy="1296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 flipV="1">
            <a:off x="5847752" y="1857586"/>
            <a:ext cx="558801" cy="13126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 flipV="1">
            <a:off x="6402319" y="1857585"/>
            <a:ext cx="711200" cy="13126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rallelogram 37"/>
          <p:cNvSpPr/>
          <p:nvPr/>
        </p:nvSpPr>
        <p:spPr>
          <a:xfrm flipH="1">
            <a:off x="3552252" y="1089302"/>
            <a:ext cx="1574801" cy="755584"/>
          </a:xfrm>
          <a:prstGeom prst="parallelogram">
            <a:avLst>
              <a:gd name="adj" fmla="val 67858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arallelogram 38"/>
          <p:cNvSpPr/>
          <p:nvPr/>
        </p:nvSpPr>
        <p:spPr>
          <a:xfrm>
            <a:off x="5142598" y="1085027"/>
            <a:ext cx="856524" cy="759859"/>
          </a:xfrm>
          <a:prstGeom prst="parallelogram">
            <a:avLst>
              <a:gd name="adj" fmla="val 19208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arallelogram 39"/>
          <p:cNvSpPr/>
          <p:nvPr/>
        </p:nvSpPr>
        <p:spPr>
          <a:xfrm>
            <a:off x="5862263" y="1083109"/>
            <a:ext cx="1127460" cy="761777"/>
          </a:xfrm>
          <a:prstGeom prst="parallelogram">
            <a:avLst>
              <a:gd name="adj" fmla="val 7338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rallelogram 40"/>
          <p:cNvSpPr/>
          <p:nvPr/>
        </p:nvSpPr>
        <p:spPr>
          <a:xfrm>
            <a:off x="6423485" y="1089303"/>
            <a:ext cx="1692303" cy="760709"/>
          </a:xfrm>
          <a:prstGeom prst="parallelogram">
            <a:avLst>
              <a:gd name="adj" fmla="val 13084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823189" y="627721"/>
            <a:ext cx="64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330" y="627721"/>
            <a:ext cx="759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intron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4071563" y="2181307"/>
            <a:ext cx="3041957" cy="0"/>
            <a:chOff x="4135604" y="2476500"/>
            <a:chExt cx="3041957" cy="0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4135604" y="24765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4759568" y="2476500"/>
              <a:ext cx="431526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5270500" y="2476500"/>
              <a:ext cx="640082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942332" y="2476500"/>
              <a:ext cx="611264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631461" y="24765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/>
          <p:cNvGrpSpPr/>
          <p:nvPr/>
        </p:nvGrpSpPr>
        <p:grpSpPr>
          <a:xfrm>
            <a:off x="4141413" y="2329279"/>
            <a:ext cx="2870507" cy="0"/>
            <a:chOff x="4205454" y="2578100"/>
            <a:chExt cx="2870507" cy="0"/>
          </a:xfrm>
        </p:grpSpPr>
        <p:cxnSp>
          <p:nvCxnSpPr>
            <p:cNvPr id="52" name="Straight Connector 51"/>
            <p:cNvCxnSpPr/>
            <p:nvPr/>
          </p:nvCxnSpPr>
          <p:spPr>
            <a:xfrm>
              <a:off x="4205454" y="25781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4797668" y="25781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396232" y="25781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6001146" y="257810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6599711" y="2578100"/>
              <a:ext cx="47625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>
            <a:off x="4254050" y="2477251"/>
            <a:ext cx="2734133" cy="0"/>
            <a:chOff x="4318091" y="2673350"/>
            <a:chExt cx="2734133" cy="0"/>
          </a:xfrm>
        </p:grpSpPr>
        <p:cxnSp>
          <p:nvCxnSpPr>
            <p:cNvPr id="57" name="Straight Connector 56"/>
            <p:cNvCxnSpPr/>
            <p:nvPr/>
          </p:nvCxnSpPr>
          <p:spPr>
            <a:xfrm>
              <a:off x="4318091" y="267335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903955" y="267335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5508869" y="2673350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101083" y="2673350"/>
              <a:ext cx="452513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6599711" y="2673350"/>
              <a:ext cx="452513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4437114" y="2625224"/>
            <a:ext cx="2420345" cy="0"/>
            <a:chOff x="4501155" y="2920417"/>
            <a:chExt cx="2420345" cy="0"/>
          </a:xfrm>
        </p:grpSpPr>
        <p:cxnSp>
          <p:nvCxnSpPr>
            <p:cNvPr id="65" name="Straight Connector 64"/>
            <p:cNvCxnSpPr/>
            <p:nvPr/>
          </p:nvCxnSpPr>
          <p:spPr>
            <a:xfrm>
              <a:off x="4501155" y="2920417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5087019" y="2920417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5691933" y="2920417"/>
              <a:ext cx="546100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6284147" y="2920417"/>
              <a:ext cx="637353" cy="0"/>
            </a:xfrm>
            <a:prstGeom prst="line">
              <a:avLst/>
            </a:prstGeom>
            <a:ln w="57150" cmpd="sng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/>
          <p:cNvSpPr txBox="1"/>
          <p:nvPr/>
        </p:nvSpPr>
        <p:spPr>
          <a:xfrm>
            <a:off x="2143045" y="2173859"/>
            <a:ext cx="1172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 reads</a:t>
            </a:r>
          </a:p>
        </p:txBody>
      </p:sp>
      <p:sp>
        <p:nvSpPr>
          <p:cNvPr id="72" name="Rectangle 71"/>
          <p:cNvSpPr/>
          <p:nvPr/>
        </p:nvSpPr>
        <p:spPr>
          <a:xfrm flipV="1">
            <a:off x="2470150" y="3936463"/>
            <a:ext cx="1083734" cy="1296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 flipV="1">
            <a:off x="3553885" y="3936461"/>
            <a:ext cx="651933" cy="1296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 flipV="1">
            <a:off x="4205817" y="3936529"/>
            <a:ext cx="711200" cy="131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 flipV="1">
            <a:off x="4917017" y="3936579"/>
            <a:ext cx="431800" cy="1294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 flipV="1">
            <a:off x="5348818" y="3936461"/>
            <a:ext cx="558801" cy="12709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flipV="1">
            <a:off x="6339418" y="3936529"/>
            <a:ext cx="711200" cy="12957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 flipV="1">
            <a:off x="5907618" y="3936579"/>
            <a:ext cx="431800" cy="1294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/>
          <p:cNvCxnSpPr/>
          <p:nvPr/>
        </p:nvCxnSpPr>
        <p:spPr>
          <a:xfrm>
            <a:off x="2552700" y="3493126"/>
            <a:ext cx="546100" cy="0"/>
          </a:xfrm>
          <a:prstGeom prst="line">
            <a:avLst/>
          </a:prstGeom>
          <a:ln w="57150" cmpd="sng">
            <a:solidFill>
              <a:schemeClr val="accent4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3659718" y="3493126"/>
            <a:ext cx="566307" cy="0"/>
          </a:xfrm>
          <a:prstGeom prst="line">
            <a:avLst/>
          </a:prstGeom>
          <a:ln w="57150" cmpd="sng">
            <a:solidFill>
              <a:schemeClr val="accent4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Parallelogram 92"/>
          <p:cNvSpPr/>
          <p:nvPr/>
        </p:nvSpPr>
        <p:spPr>
          <a:xfrm>
            <a:off x="3251862" y="3543927"/>
            <a:ext cx="701222" cy="367229"/>
          </a:xfrm>
          <a:prstGeom prst="parallelogram">
            <a:avLst>
              <a:gd name="adj" fmla="val 110854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rallelogram 93"/>
          <p:cNvSpPr/>
          <p:nvPr/>
        </p:nvSpPr>
        <p:spPr>
          <a:xfrm flipH="1">
            <a:off x="3953082" y="3543927"/>
            <a:ext cx="549610" cy="367229"/>
          </a:xfrm>
          <a:prstGeom prst="parallelogram">
            <a:avLst>
              <a:gd name="adj" fmla="val 7281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2143044" y="2776526"/>
            <a:ext cx="7000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2. alignment to the reference genome (DNA sequence)</a:t>
            </a:r>
          </a:p>
        </p:txBody>
      </p:sp>
      <p:sp>
        <p:nvSpPr>
          <p:cNvPr id="99" name="Parallelogram 98"/>
          <p:cNvSpPr/>
          <p:nvPr/>
        </p:nvSpPr>
        <p:spPr>
          <a:xfrm>
            <a:off x="2552701" y="3543927"/>
            <a:ext cx="546100" cy="367229"/>
          </a:xfrm>
          <a:prstGeom prst="parallelogram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4911290" y="3306632"/>
            <a:ext cx="4142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read counts (N=19 if all aligned)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95818" y="4179180"/>
            <a:ext cx="6530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intron-aware </a:t>
            </a:r>
            <a:r>
              <a:rPr lang="en-US" sz="2400" dirty="0"/>
              <a:t>aligner is important for RNA-seq reads alignment e.g., </a:t>
            </a:r>
            <a:r>
              <a:rPr lang="en-US" sz="2400" dirty="0" err="1"/>
              <a:t>Tophat</a:t>
            </a:r>
            <a:r>
              <a:rPr lang="en-US" sz="2400" dirty="0"/>
              <a:t>, GSNAP,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STAR</a:t>
            </a:r>
            <a:r>
              <a:rPr lang="en-US" sz="2400" dirty="0"/>
              <a:t>,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 HiSAT2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27444" y="3123794"/>
            <a:ext cx="105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read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BDBCEB-FDB7-3CC8-E758-9E95B464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4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93" grpId="0" animBg="1"/>
      <p:bldP spid="94" grpId="0" animBg="1"/>
      <p:bldP spid="98" grpId="0"/>
      <p:bldP spid="99" grpId="0" animBg="1"/>
      <p:bldP spid="100" grpId="0"/>
      <p:bldP spid="102" grpId="0"/>
      <p:bldP spid="10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593" y="117393"/>
            <a:ext cx="8229600" cy="739093"/>
          </a:xfrm>
        </p:spPr>
        <p:txBody>
          <a:bodyPr>
            <a:normAutofit/>
          </a:bodyPr>
          <a:lstStyle/>
          <a:p>
            <a:r>
              <a:rPr lang="en-US" sz="3200" dirty="0"/>
              <a:t>Exon-intron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44728"/>
            <a:ext cx="8229600" cy="11856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Sequence logos representing weight matrices for the first six bases of an intron (left) and the last six bases of an intron (right). In plants and animals, ~99% of introns begin with GT.</a:t>
            </a:r>
          </a:p>
        </p:txBody>
      </p:sp>
      <p:pic>
        <p:nvPicPr>
          <p:cNvPr id="4" name="Picture 3" descr="Screenshot 2019-03-31 15.15.4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027" y="849450"/>
            <a:ext cx="2722610" cy="2008817"/>
          </a:xfrm>
          <a:prstGeom prst="rect">
            <a:avLst/>
          </a:prstGeom>
        </p:spPr>
      </p:pic>
      <p:pic>
        <p:nvPicPr>
          <p:cNvPr id="5" name="Picture 4" descr="Screenshot 2019-03-31 15.15.5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22" y="849450"/>
            <a:ext cx="2731785" cy="20088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flipV="1">
            <a:off x="2020024" y="4517495"/>
            <a:ext cx="4805039" cy="2486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3103758" y="4517496"/>
            <a:ext cx="2890528" cy="248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flipV="1">
            <a:off x="5885635" y="4517563"/>
            <a:ext cx="1023360" cy="25185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217861" y="4063217"/>
            <a:ext cx="795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exon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227" y="4063217"/>
            <a:ext cx="951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1699" y="4063217"/>
            <a:ext cx="795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exon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5710" y="4390954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9512" y="4390954"/>
            <a:ext cx="556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971FB-E3CE-7FDD-7053-8D4A9413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9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flipV="1">
            <a:off x="2420023" y="2206334"/>
            <a:ext cx="4436534" cy="129563"/>
          </a:xfrm>
          <a:prstGeom prst="rect">
            <a:avLst/>
          </a:prstGeom>
          <a:solidFill>
            <a:srgbClr val="BFBFBF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308"/>
            <a:ext cx="8229600" cy="665162"/>
          </a:xfrm>
        </p:spPr>
        <p:txBody>
          <a:bodyPr>
            <a:normAutofit/>
          </a:bodyPr>
          <a:lstStyle/>
          <a:p>
            <a:r>
              <a:rPr lang="en-US" sz="3200" dirty="0"/>
              <a:t>Alignment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1" y="1014761"/>
            <a:ext cx="8383979" cy="3523786"/>
          </a:xfrm>
        </p:spPr>
        <p:txBody>
          <a:bodyPr>
            <a:noAutofit/>
          </a:bodyPr>
          <a:lstStyle/>
          <a:p>
            <a:r>
              <a:rPr lang="en-US" sz="2800" dirty="0"/>
              <a:t>Repeats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Sequencing errors</a:t>
            </a:r>
          </a:p>
          <a:p>
            <a:r>
              <a:rPr lang="en-US" sz="2800" dirty="0"/>
              <a:t>Polymorphisms (reference and sequenced individuals)</a:t>
            </a:r>
          </a:p>
          <a:p>
            <a:r>
              <a:rPr lang="en-US" sz="2800" dirty="0"/>
              <a:t>Quality of reference genomes (</a:t>
            </a:r>
            <a:r>
              <a:rPr lang="en-US" sz="2800" dirty="0" err="1"/>
              <a:t>mis</a:t>
            </a:r>
            <a:r>
              <a:rPr lang="en-US" sz="2800" dirty="0"/>
              <a:t>-assembly and incomplete genome) 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2606291" y="2206213"/>
            <a:ext cx="1041400" cy="12968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flipV="1">
            <a:off x="5387590" y="2206211"/>
            <a:ext cx="927100" cy="1296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132531" y="1762880"/>
            <a:ext cx="615827" cy="0"/>
          </a:xfrm>
          <a:prstGeom prst="line">
            <a:avLst/>
          </a:prstGeom>
          <a:ln w="57150" cmpd="sng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arallelogram 12"/>
          <p:cNvSpPr/>
          <p:nvPr/>
        </p:nvSpPr>
        <p:spPr>
          <a:xfrm>
            <a:off x="2860290" y="1813681"/>
            <a:ext cx="1888066" cy="367229"/>
          </a:xfrm>
          <a:prstGeom prst="parallelogram">
            <a:avLst>
              <a:gd name="adj" fmla="val 34292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/>
          <p:cNvSpPr/>
          <p:nvPr/>
        </p:nvSpPr>
        <p:spPr>
          <a:xfrm flipH="1">
            <a:off x="4132530" y="1813681"/>
            <a:ext cx="1945089" cy="367229"/>
          </a:xfrm>
          <a:prstGeom prst="parallelogram">
            <a:avLst>
              <a:gd name="adj" fmla="val 3748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086053" y="1469848"/>
            <a:ext cx="871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9121" y="2022876"/>
            <a:ext cx="591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39C4-C5F2-1743-BB7A-5D831266C61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79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553"/>
            <a:ext cx="8229600" cy="627062"/>
          </a:xfrm>
        </p:spPr>
        <p:txBody>
          <a:bodyPr>
            <a:normAutofit/>
          </a:bodyPr>
          <a:lstStyle/>
          <a:p>
            <a:r>
              <a:rPr lang="en-US" sz="3200" dirty="0"/>
              <a:t>Solutions to mitigate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464" y="3492111"/>
            <a:ext cx="7035802" cy="562458"/>
          </a:xfrm>
        </p:spPr>
        <p:txBody>
          <a:bodyPr>
            <a:normAutofit/>
          </a:bodyPr>
          <a:lstStyle/>
          <a:p>
            <a:r>
              <a:rPr lang="en-US" sz="2400" dirty="0"/>
              <a:t>Tolerance of mismatches or gaps for each alignment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9465" y="2085481"/>
            <a:ext cx="4538133" cy="4574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Longer reads or Paired-end reads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9465" y="610695"/>
            <a:ext cx="4538133" cy="457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Unique mapped reads</a:t>
            </a:r>
          </a:p>
        </p:txBody>
      </p:sp>
      <p:sp>
        <p:nvSpPr>
          <p:cNvPr id="8" name="Rectangle 7"/>
          <p:cNvSpPr/>
          <p:nvPr/>
        </p:nvSpPr>
        <p:spPr>
          <a:xfrm flipV="1">
            <a:off x="1210732" y="1807175"/>
            <a:ext cx="6214534" cy="129564"/>
          </a:xfrm>
          <a:prstGeom prst="rect">
            <a:avLst/>
          </a:prstGeom>
          <a:solidFill>
            <a:srgbClr val="BFBFBF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flipV="1">
            <a:off x="1515534" y="1807055"/>
            <a:ext cx="1063351" cy="126999"/>
          </a:xfrm>
          <a:prstGeom prst="rect">
            <a:avLst/>
          </a:prstGeom>
          <a:solidFill>
            <a:srgbClr val="95373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4207933" y="1807055"/>
            <a:ext cx="889000" cy="129684"/>
          </a:xfrm>
          <a:prstGeom prst="rect">
            <a:avLst/>
          </a:prstGeom>
          <a:solidFill>
            <a:srgbClr val="953735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5566541" y="1381285"/>
            <a:ext cx="546100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923240" y="1363722"/>
            <a:ext cx="615827" cy="0"/>
          </a:xfrm>
          <a:prstGeom prst="line">
            <a:avLst/>
          </a:prstGeom>
          <a:ln w="5715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arallelogram 12"/>
          <p:cNvSpPr/>
          <p:nvPr/>
        </p:nvSpPr>
        <p:spPr>
          <a:xfrm>
            <a:off x="1650999" y="1414523"/>
            <a:ext cx="1888066" cy="367229"/>
          </a:xfrm>
          <a:prstGeom prst="parallelogram">
            <a:avLst>
              <a:gd name="adj" fmla="val 34292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/>
          <p:cNvSpPr/>
          <p:nvPr/>
        </p:nvSpPr>
        <p:spPr>
          <a:xfrm flipH="1">
            <a:off x="2923239" y="1414523"/>
            <a:ext cx="1945089" cy="367229"/>
          </a:xfrm>
          <a:prstGeom prst="parallelogram">
            <a:avLst>
              <a:gd name="adj" fmla="val 3748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876762" y="1118189"/>
            <a:ext cx="70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reads</a:t>
            </a:r>
          </a:p>
        </p:txBody>
      </p:sp>
      <p:sp>
        <p:nvSpPr>
          <p:cNvPr id="16" name="Parallelogram 15"/>
          <p:cNvSpPr/>
          <p:nvPr/>
        </p:nvSpPr>
        <p:spPr>
          <a:xfrm flipH="1">
            <a:off x="5566827" y="1415152"/>
            <a:ext cx="545814" cy="367229"/>
          </a:xfrm>
          <a:prstGeom prst="parallelogram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flipV="1">
            <a:off x="5566827" y="1804371"/>
            <a:ext cx="545814" cy="12968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647266" y="99024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49643" y="99024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9830" y="167121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528440" y="2452811"/>
            <a:ext cx="7032293" cy="978538"/>
            <a:chOff x="528439" y="3363015"/>
            <a:chExt cx="7032293" cy="978538"/>
          </a:xfrm>
        </p:grpSpPr>
        <p:sp>
          <p:nvSpPr>
            <p:cNvPr id="21" name="Rectangle 20"/>
            <p:cNvSpPr/>
            <p:nvPr/>
          </p:nvSpPr>
          <p:spPr>
            <a:xfrm flipV="1">
              <a:off x="1346198" y="4108179"/>
              <a:ext cx="6214534" cy="129564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 flipV="1">
              <a:off x="1650999" y="4108058"/>
              <a:ext cx="1063351" cy="126999"/>
            </a:xfrm>
            <a:prstGeom prst="rect">
              <a:avLst/>
            </a:prstGeom>
            <a:solidFill>
              <a:srgbClr val="9537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 flipV="1">
              <a:off x="4343399" y="4108059"/>
              <a:ext cx="889000" cy="129684"/>
            </a:xfrm>
            <a:prstGeom prst="rect">
              <a:avLst/>
            </a:prstGeom>
            <a:solidFill>
              <a:srgbClr val="9537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1792091" y="3654929"/>
              <a:ext cx="922259" cy="0"/>
            </a:xfrm>
            <a:prstGeom prst="line">
              <a:avLst/>
            </a:prstGeom>
            <a:ln w="57150" cmpd="sng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Parallelogram 25"/>
            <p:cNvSpPr/>
            <p:nvPr/>
          </p:nvSpPr>
          <p:spPr>
            <a:xfrm>
              <a:off x="1792091" y="3707059"/>
              <a:ext cx="1231654" cy="367229"/>
            </a:xfrm>
            <a:prstGeom prst="parallelogram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8439" y="3419193"/>
              <a:ext cx="70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reads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5295" y="3972221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Ref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2714350" y="3654929"/>
              <a:ext cx="309395" cy="0"/>
            </a:xfrm>
            <a:prstGeom prst="line">
              <a:avLst/>
            </a:prstGeom>
            <a:ln w="57150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4416755" y="3654929"/>
              <a:ext cx="510842" cy="0"/>
            </a:xfrm>
            <a:prstGeom prst="line">
              <a:avLst/>
            </a:prstGeom>
            <a:ln w="57150" cmpd="sng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5159889" y="3654929"/>
              <a:ext cx="97543" cy="133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5257432" y="3654929"/>
              <a:ext cx="309395" cy="0"/>
            </a:xfrm>
            <a:prstGeom prst="line">
              <a:avLst/>
            </a:prstGeom>
            <a:ln w="57150" cmpd="sng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4868327" y="3363015"/>
              <a:ext cx="3617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…</a:t>
              </a:r>
            </a:p>
          </p:txBody>
        </p:sp>
        <p:sp>
          <p:nvSpPr>
            <p:cNvPr id="44" name="Parallelogram 43"/>
            <p:cNvSpPr/>
            <p:nvPr/>
          </p:nvSpPr>
          <p:spPr>
            <a:xfrm>
              <a:off x="4416755" y="3708426"/>
              <a:ext cx="510842" cy="367229"/>
            </a:xfrm>
            <a:prstGeom prst="parallelogram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Parallelogram 44"/>
            <p:cNvSpPr/>
            <p:nvPr/>
          </p:nvSpPr>
          <p:spPr>
            <a:xfrm>
              <a:off x="5159889" y="3707059"/>
              <a:ext cx="406652" cy="367229"/>
            </a:xfrm>
            <a:prstGeom prst="parallelogram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7" name="Straight Connector 46"/>
          <p:cNvCxnSpPr/>
          <p:nvPr/>
        </p:nvCxnSpPr>
        <p:spPr>
          <a:xfrm>
            <a:off x="3472975" y="4047755"/>
            <a:ext cx="0" cy="16933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3651985" y="4047755"/>
            <a:ext cx="0" cy="16933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3393140" y="4047755"/>
            <a:ext cx="0" cy="16933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741490" y="4047755"/>
            <a:ext cx="0" cy="16933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830995" y="4047755"/>
            <a:ext cx="0" cy="16933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4010005" y="4047755"/>
            <a:ext cx="0" cy="16933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920500" y="4047755"/>
            <a:ext cx="0" cy="16933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4099512" y="4047755"/>
            <a:ext cx="0" cy="16933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345975" y="4005416"/>
            <a:ext cx="812800" cy="0"/>
          </a:xfrm>
          <a:prstGeom prst="line">
            <a:avLst/>
          </a:prstGeom>
          <a:ln w="5715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 flipV="1">
            <a:off x="1246243" y="4244336"/>
            <a:ext cx="6214534" cy="129564"/>
          </a:xfrm>
          <a:prstGeom prst="rect">
            <a:avLst/>
          </a:prstGeom>
          <a:solidFill>
            <a:srgbClr val="BFBFBF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039C4-C5F2-1743-BB7A-5D831266C61E}" type="slidenum">
              <a:rPr lang="en-US" smtClean="0"/>
              <a:t>17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8331111" y="2012667"/>
            <a:ext cx="167068" cy="1464116"/>
            <a:chOff x="8242830" y="4538751"/>
            <a:chExt cx="228617" cy="3103562"/>
          </a:xfrm>
        </p:grpSpPr>
        <p:cxnSp>
          <p:nvCxnSpPr>
            <p:cNvPr id="58" name="Straight Connector 57"/>
            <p:cNvCxnSpPr/>
            <p:nvPr/>
          </p:nvCxnSpPr>
          <p:spPr>
            <a:xfrm rot="5400000">
              <a:off x="7348274" y="6088944"/>
              <a:ext cx="1898650" cy="158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/>
            <p:cNvSpPr/>
            <p:nvPr/>
          </p:nvSpPr>
          <p:spPr>
            <a:xfrm>
              <a:off x="8242830" y="4538751"/>
              <a:ext cx="109537" cy="60166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242830" y="7039063"/>
              <a:ext cx="109537" cy="60166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 rot="16200000" flipH="1">
              <a:off x="8168217" y="4840376"/>
              <a:ext cx="60325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5400000">
              <a:off x="8068205" y="5542051"/>
              <a:ext cx="801687" cy="1587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rot="5400000" flipH="1" flipV="1">
              <a:off x="8169823" y="7340688"/>
              <a:ext cx="601662" cy="1587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8068222" y="6651712"/>
              <a:ext cx="801688" cy="1587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Content Placeholder 2"/>
          <p:cNvSpPr txBox="1">
            <a:spLocks/>
          </p:cNvSpPr>
          <p:nvPr/>
        </p:nvSpPr>
        <p:spPr>
          <a:xfrm>
            <a:off x="389464" y="4496034"/>
            <a:ext cx="7035802" cy="562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Better reference genome</a:t>
            </a:r>
          </a:p>
        </p:txBody>
      </p:sp>
    </p:spTree>
    <p:extLst>
      <p:ext uri="{BB962C8B-B14F-4D97-AF65-F5344CB8AC3E}">
        <p14:creationId xmlns:p14="http://schemas.microsoft.com/office/powerpoint/2010/main" val="21232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8" grpId="0"/>
      <p:bldP spid="19" grpId="0"/>
      <p:bldP spid="56" grpId="0" animBg="1"/>
      <p:bldP spid="6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256912"/>
              </p:ext>
            </p:extLst>
          </p:nvPr>
        </p:nvGraphicFramePr>
        <p:xfrm>
          <a:off x="2311400" y="1796892"/>
          <a:ext cx="3251200" cy="16256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Gene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sample 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gene 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6,075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gene</a:t>
                      </a:r>
                      <a:r>
                        <a:rPr lang="en-US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295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...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...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454197" y="102393"/>
            <a:ext cx="5930900" cy="1313812"/>
          </a:xfrm>
        </p:spPr>
        <p:txBody>
          <a:bodyPr>
            <a:normAutofit/>
          </a:bodyPr>
          <a:lstStyle/>
          <a:p>
            <a:r>
              <a:rPr lang="en-US" sz="3200" dirty="0"/>
              <a:t>Count matrix</a:t>
            </a:r>
            <a:br>
              <a:rPr lang="en-US" sz="3200" dirty="0"/>
            </a:br>
            <a:r>
              <a:rPr lang="en-US" sz="3200" dirty="0"/>
              <a:t>Read counts (Raw) per gene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389730"/>
              </p:ext>
            </p:extLst>
          </p:nvPr>
        </p:nvGraphicFramePr>
        <p:xfrm>
          <a:off x="5562600" y="1796892"/>
          <a:ext cx="3251200" cy="16256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sample 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sample 3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5,934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3,370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377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169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...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...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9400" y="542382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RNA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9400" y="1204193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DNA library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400" y="1881049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400" y="2542860"/>
            <a:ext cx="1612900" cy="393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alignment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50" y="3227371"/>
            <a:ext cx="2082800" cy="393700"/>
          </a:xfrm>
          <a:prstGeom prst="rect">
            <a:avLst/>
          </a:prstGeom>
          <a:solidFill>
            <a:srgbClr val="CCC1DA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read 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700" y="3866482"/>
            <a:ext cx="1612900" cy="39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statistical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700" y="4476429"/>
            <a:ext cx="1612900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significance</a:t>
            </a:r>
          </a:p>
        </p:txBody>
      </p:sp>
      <p:cxnSp>
        <p:nvCxnSpPr>
          <p:cNvPr id="17" name="Straight Arrow Connector 16"/>
          <p:cNvCxnSpPr>
            <a:stCxn id="7" idx="2"/>
            <a:endCxn id="8" idx="0"/>
          </p:cNvCxnSpPr>
          <p:nvPr/>
        </p:nvCxnSpPr>
        <p:spPr>
          <a:xfrm>
            <a:off x="1085850" y="936083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  <a:endCxn id="10" idx="0"/>
          </p:cNvCxnSpPr>
          <p:nvPr/>
        </p:nvCxnSpPr>
        <p:spPr>
          <a:xfrm>
            <a:off x="1085850" y="1612939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1" idx="0"/>
          </p:cNvCxnSpPr>
          <p:nvPr/>
        </p:nvCxnSpPr>
        <p:spPr>
          <a:xfrm>
            <a:off x="1085850" y="2274750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2"/>
            <a:endCxn id="12" idx="0"/>
          </p:cNvCxnSpPr>
          <p:nvPr/>
        </p:nvCxnSpPr>
        <p:spPr>
          <a:xfrm>
            <a:off x="1085850" y="2936561"/>
            <a:ext cx="0" cy="2908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2" idx="2"/>
            <a:endCxn id="13" idx="0"/>
          </p:cNvCxnSpPr>
          <p:nvPr/>
        </p:nvCxnSpPr>
        <p:spPr>
          <a:xfrm flipH="1">
            <a:off x="1073150" y="3621072"/>
            <a:ext cx="12700" cy="2454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13" idx="2"/>
          </p:cNvCxnSpPr>
          <p:nvPr/>
        </p:nvCxnSpPr>
        <p:spPr>
          <a:xfrm>
            <a:off x="1073150" y="4260183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87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E7F1-90A6-8884-953A-D6159891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E8DA-5921-761E-D000-0891CAB8B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0E5D-06D6-B1D6-2B16-8EA6111E0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815" y="1282660"/>
            <a:ext cx="7136063" cy="2934229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RNA-seq procedure</a:t>
            </a:r>
          </a:p>
          <a:p>
            <a:pPr>
              <a:lnSpc>
                <a:spcPct val="120000"/>
              </a:lnSpc>
            </a:pPr>
            <a:r>
              <a:rPr lang="en-US" dirty="0"/>
              <a:t>Statistical test of differential expression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Multiple testing correction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RNA-seq data processing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Gene ontology (GO) enrichment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04FBB-AF57-5599-E328-8E178F32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79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6400" y="709651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BFBFBF"/>
                </a:solidFill>
              </a:rPr>
              <a:t>total 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400" y="1371462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BFBFBF"/>
                </a:solidFill>
              </a:rPr>
              <a:t>DNA library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2026015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BFBFBF"/>
                </a:solidFill>
              </a:rPr>
              <a:t>reads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3349637"/>
            <a:ext cx="1612900" cy="393700"/>
          </a:xfrm>
          <a:prstGeom prst="rect">
            <a:avLst/>
          </a:prstGeom>
          <a:solidFill>
            <a:srgbClr val="CCC1DA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read 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" y="4011448"/>
            <a:ext cx="1612900" cy="39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statistical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400" y="4621395"/>
            <a:ext cx="1612900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significance</a:t>
            </a:r>
          </a:p>
        </p:txBody>
      </p:sp>
      <p:cxnSp>
        <p:nvCxnSpPr>
          <p:cNvPr id="15" name="Straight Arrow Connector 14"/>
          <p:cNvCxnSpPr>
            <a:stCxn id="4" idx="2"/>
            <a:endCxn id="5" idx="0"/>
          </p:cNvCxnSpPr>
          <p:nvPr/>
        </p:nvCxnSpPr>
        <p:spPr>
          <a:xfrm>
            <a:off x="1212850" y="1103352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  <a:stCxn id="5" idx="2"/>
          </p:cNvCxnSpPr>
          <p:nvPr/>
        </p:nvCxnSpPr>
        <p:spPr>
          <a:xfrm>
            <a:off x="1212850" y="1765163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7" idx="2"/>
          </p:cNvCxnSpPr>
          <p:nvPr/>
        </p:nvCxnSpPr>
        <p:spPr>
          <a:xfrm>
            <a:off x="1212850" y="2419716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  <a:endCxn id="9" idx="0"/>
          </p:cNvCxnSpPr>
          <p:nvPr/>
        </p:nvCxnSpPr>
        <p:spPr>
          <a:xfrm>
            <a:off x="1212850" y="3081527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  <a:endCxn id="10" idx="0"/>
          </p:cNvCxnSpPr>
          <p:nvPr/>
        </p:nvCxnSpPr>
        <p:spPr>
          <a:xfrm>
            <a:off x="1212850" y="3743338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endCxn id="12" idx="0"/>
          </p:cNvCxnSpPr>
          <p:nvPr/>
        </p:nvCxnSpPr>
        <p:spPr>
          <a:xfrm>
            <a:off x="1212850" y="4353283"/>
            <a:ext cx="0" cy="268112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1717095" y="-1"/>
            <a:ext cx="5787675" cy="667565"/>
          </a:xfrm>
        </p:spPr>
        <p:txBody>
          <a:bodyPr>
            <a:normAutofit/>
          </a:bodyPr>
          <a:lstStyle/>
          <a:p>
            <a:r>
              <a:rPr lang="en-US" sz="2800" dirty="0"/>
              <a:t>Read counts to significant genes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2700744" y="1488257"/>
            <a:ext cx="2431464" cy="891404"/>
            <a:chOff x="867397" y="2130811"/>
            <a:chExt cx="2431464" cy="891404"/>
          </a:xfrm>
        </p:grpSpPr>
        <p:sp>
          <p:nvSpPr>
            <p:cNvPr id="80" name="Down Arrow 79"/>
            <p:cNvSpPr/>
            <p:nvPr/>
          </p:nvSpPr>
          <p:spPr>
            <a:xfrm>
              <a:off x="1248461" y="2130811"/>
              <a:ext cx="150209" cy="217774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867397" y="2375884"/>
              <a:ext cx="2431464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RNA, Library</a:t>
              </a:r>
            </a:p>
            <a:p>
              <a:pPr algn="ctr"/>
              <a:r>
                <a:rPr lang="en-US" dirty="0"/>
                <a:t>Sequencing</a:t>
              </a:r>
            </a:p>
          </p:txBody>
        </p:sp>
        <p:sp>
          <p:nvSpPr>
            <p:cNvPr id="84" name="Down Arrow 83"/>
            <p:cNvSpPr/>
            <p:nvPr/>
          </p:nvSpPr>
          <p:spPr>
            <a:xfrm>
              <a:off x="2880433" y="2130811"/>
              <a:ext cx="150209" cy="217774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2646759" y="2421748"/>
            <a:ext cx="2652278" cy="1213195"/>
            <a:chOff x="813412" y="3365383"/>
            <a:chExt cx="2652278" cy="1213195"/>
          </a:xfrm>
        </p:grpSpPr>
        <p:sp>
          <p:nvSpPr>
            <p:cNvPr id="86" name="Down Arrow 85"/>
            <p:cNvSpPr/>
            <p:nvPr/>
          </p:nvSpPr>
          <p:spPr>
            <a:xfrm>
              <a:off x="1248461" y="3365383"/>
              <a:ext cx="150209" cy="272169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Down Arrow 86"/>
            <p:cNvSpPr/>
            <p:nvPr/>
          </p:nvSpPr>
          <p:spPr>
            <a:xfrm>
              <a:off x="2880433" y="3365383"/>
              <a:ext cx="150209" cy="272169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813412" y="3575035"/>
              <a:ext cx="1020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N1 reads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445384" y="3575035"/>
              <a:ext cx="1020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N2 reads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867397" y="3932247"/>
              <a:ext cx="2431464" cy="64633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Trimming, Alignment</a:t>
              </a:r>
            </a:p>
            <a:p>
              <a:pPr algn="ctr"/>
              <a:r>
                <a:rPr lang="en-US" dirty="0"/>
                <a:t>Read counting per gene</a:t>
              </a:r>
            </a:p>
          </p:txBody>
        </p:sp>
      </p:grpSp>
      <p:sp>
        <p:nvSpPr>
          <p:cNvPr id="97" name="Down Arrow 96"/>
          <p:cNvSpPr/>
          <p:nvPr/>
        </p:nvSpPr>
        <p:spPr>
          <a:xfrm>
            <a:off x="3084000" y="3674132"/>
            <a:ext cx="150209" cy="272169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Down Arrow 102"/>
          <p:cNvSpPr/>
          <p:nvPr/>
        </p:nvSpPr>
        <p:spPr>
          <a:xfrm>
            <a:off x="4715972" y="3674132"/>
            <a:ext cx="150209" cy="272169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4" name="Table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904142"/>
              </p:ext>
            </p:extLst>
          </p:nvPr>
        </p:nvGraphicFramePr>
        <p:xfrm>
          <a:off x="2569475" y="3967178"/>
          <a:ext cx="2729562" cy="904240"/>
        </p:xfrm>
        <a:graphic>
          <a:graphicData uri="http://schemas.openxmlformats.org/drawingml/2006/table">
            <a:tbl>
              <a:tblPr/>
              <a:tblGrid>
                <a:gridCol w="909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1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Control 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TRT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Sum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N2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5" name="Group 104"/>
          <p:cNvGrpSpPr/>
          <p:nvPr/>
        </p:nvGrpSpPr>
        <p:grpSpPr>
          <a:xfrm>
            <a:off x="2660215" y="674230"/>
            <a:ext cx="2736661" cy="814027"/>
            <a:chOff x="826867" y="1199753"/>
            <a:chExt cx="2736661" cy="931058"/>
          </a:xfrm>
        </p:grpSpPr>
        <p:grpSp>
          <p:nvGrpSpPr>
            <p:cNvPr id="106" name="Group 105"/>
            <p:cNvGrpSpPr/>
            <p:nvPr/>
          </p:nvGrpSpPr>
          <p:grpSpPr>
            <a:xfrm>
              <a:off x="826867" y="1199753"/>
              <a:ext cx="2736661" cy="931058"/>
              <a:chOff x="3331717" y="1363606"/>
              <a:chExt cx="2736661" cy="931058"/>
            </a:xfrm>
          </p:grpSpPr>
          <p:pic>
            <p:nvPicPr>
              <p:cNvPr id="108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4089" y="1363606"/>
                <a:ext cx="412508" cy="551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9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15494" y="1411308"/>
                <a:ext cx="376809" cy="5035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TextBox 109"/>
              <p:cNvSpPr txBox="1"/>
              <p:nvPr/>
            </p:nvSpPr>
            <p:spPr>
              <a:xfrm>
                <a:off x="3331717" y="1925332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1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4840909" y="1925332"/>
                <a:ext cx="12274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1 (salt)</a:t>
                </a:r>
              </a:p>
            </p:txBody>
          </p:sp>
        </p:grpSp>
        <p:sp>
          <p:nvSpPr>
            <p:cNvPr id="107" name="TextBox 106"/>
            <p:cNvSpPr txBox="1"/>
            <p:nvPr/>
          </p:nvSpPr>
          <p:spPr>
            <a:xfrm>
              <a:off x="2720465" y="127566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</a:t>
              </a:r>
            </a:p>
          </p:txBody>
        </p:sp>
      </p:grpSp>
      <p:graphicFrame>
        <p:nvGraphicFramePr>
          <p:cNvPr id="112" name="Table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34970"/>
              </p:ext>
            </p:extLst>
          </p:nvPr>
        </p:nvGraphicFramePr>
        <p:xfrm>
          <a:off x="5645397" y="799830"/>
          <a:ext cx="3307557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4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60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 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Others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Control 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N1 – C1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TRT</a:t>
                      </a:r>
                      <a:r>
                        <a:rPr lang="en-US" sz="1800" baseline="0" dirty="0"/>
                        <a:t> 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N2</a:t>
                      </a:r>
                      <a:r>
                        <a:rPr lang="en-US" sz="1800" baseline="0" dirty="0"/>
                        <a:t> – T1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5" name="TextBox 114"/>
          <p:cNvSpPr txBox="1"/>
          <p:nvPr/>
        </p:nvSpPr>
        <p:spPr>
          <a:xfrm>
            <a:off x="5597732" y="1952655"/>
            <a:ext cx="33075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/>
              <a:t>Fisher’s Exact Test or χ</a:t>
            </a:r>
            <a:r>
              <a:rPr lang="en-US" sz="2000" baseline="30000" dirty="0"/>
              <a:t>2</a:t>
            </a:r>
            <a:r>
              <a:rPr lang="en-US" sz="2000" dirty="0"/>
              <a:t> test on Gene 1</a:t>
            </a:r>
          </a:p>
          <a:p>
            <a:r>
              <a:rPr lang="en-US" sz="2000" dirty="0">
                <a:solidFill>
                  <a:srgbClr val="0000FF"/>
                </a:solidFill>
              </a:rPr>
              <a:t>A p-value for Gene 1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Repeat on all the genes</a:t>
            </a:r>
          </a:p>
          <a:p>
            <a:r>
              <a:rPr lang="en-US" sz="2000" dirty="0">
                <a:solidFill>
                  <a:srgbClr val="0000FF"/>
                </a:solidFill>
              </a:rPr>
              <a:t>p-values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Multiple testing correction</a:t>
            </a:r>
          </a:p>
          <a:p>
            <a:r>
              <a:rPr lang="en-US" sz="2000" dirty="0">
                <a:solidFill>
                  <a:srgbClr val="0000FF"/>
                </a:solidFill>
              </a:rPr>
              <a:t>q-values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Declaration of significance</a:t>
            </a:r>
          </a:p>
          <a:p>
            <a:r>
              <a:rPr lang="en-US" sz="2000" dirty="0">
                <a:solidFill>
                  <a:srgbClr val="0000FF"/>
                </a:solidFill>
              </a:rPr>
              <a:t>a significant gene set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20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DD38E4-0C7B-F142-D0EC-30F9A35B3BA3}"/>
              </a:ext>
            </a:extLst>
          </p:cNvPr>
          <p:cNvSpPr/>
          <p:nvPr/>
        </p:nvSpPr>
        <p:spPr>
          <a:xfrm>
            <a:off x="406400" y="2687827"/>
            <a:ext cx="1612900" cy="393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alignment</a:t>
            </a:r>
          </a:p>
        </p:txBody>
      </p:sp>
    </p:spTree>
    <p:extLst>
      <p:ext uri="{BB962C8B-B14F-4D97-AF65-F5344CB8AC3E}">
        <p14:creationId xmlns:p14="http://schemas.microsoft.com/office/powerpoint/2010/main" val="246467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103" grpId="0" animBg="1"/>
      <p:bldP spid="1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F04D-52F1-9940-D0C1-CB63C661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>
            <a:extLst>
              <a:ext uri="{FF2B5EF4-FFF2-40B4-BE49-F238E27FC236}">
                <a16:creationId xmlns:a16="http://schemas.microsoft.com/office/drawing/2014/main" id="{C99159C1-5792-F2AA-3009-448C69883F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57250" y="314324"/>
            <a:ext cx="7450931" cy="667565"/>
          </a:xfrm>
        </p:spPr>
        <p:txBody>
          <a:bodyPr>
            <a:normAutofit/>
          </a:bodyPr>
          <a:lstStyle/>
          <a:p>
            <a:r>
              <a:rPr lang="en-US" sz="2800" dirty="0"/>
              <a:t>Read counts for differential expression analysis</a:t>
            </a:r>
          </a:p>
        </p:txBody>
      </p:sp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F8A08C30-9DB9-CC81-F8FF-CA798B2AA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20514"/>
              </p:ext>
            </p:extLst>
          </p:nvPr>
        </p:nvGraphicFramePr>
        <p:xfrm>
          <a:off x="3177628" y="1648070"/>
          <a:ext cx="2286247" cy="2601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4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7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 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Control 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Control 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238432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Control 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85987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TRT</a:t>
                      </a:r>
                      <a:r>
                        <a:rPr lang="en-US" sz="1800" baseline="0" dirty="0"/>
                        <a:t> 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TRT 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670047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TRT 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1455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0195B-E1C8-7FDF-63D7-9A663F48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37342-698D-0236-D049-E1510545129F}"/>
              </a:ext>
            </a:extLst>
          </p:cNvPr>
          <p:cNvSpPr txBox="1"/>
          <p:nvPr/>
        </p:nvSpPr>
        <p:spPr>
          <a:xfrm>
            <a:off x="5518943" y="1985962"/>
            <a:ext cx="1034257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0957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4667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Statistical test for differential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63836"/>
            <a:ext cx="8229600" cy="27347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Statistical test to discover differential expression (DE)</a:t>
            </a: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Count data</a:t>
            </a:r>
            <a:r>
              <a:rPr lang="en-US" sz="2400" dirty="0"/>
              <a:t>: Generalized Linear Model (GLM) to deal with count data</a:t>
            </a:r>
          </a:p>
          <a:p>
            <a:pPr marL="1028700" lvl="1" indent="-571500">
              <a:lnSpc>
                <a:spcPct val="90000"/>
              </a:lnSpc>
              <a:buNone/>
            </a:pPr>
            <a:r>
              <a:rPr lang="en-US" sz="2400" dirty="0"/>
              <a:t>e.g., Poisson GLM could handle count data but </a:t>
            </a:r>
            <a:r>
              <a:rPr lang="en-US" sz="2400" dirty="0" err="1"/>
              <a:t>overdispersion</a:t>
            </a:r>
            <a:r>
              <a:rPr lang="en-US" sz="2400" dirty="0"/>
              <a:t> exits</a:t>
            </a: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376092"/>
                </a:solidFill>
              </a:rPr>
              <a:t>Dispersion issue</a:t>
            </a:r>
            <a:r>
              <a:rPr lang="en-US" sz="2400" dirty="0"/>
              <a:t>: Using </a:t>
            </a:r>
            <a:r>
              <a:rPr lang="en-US" sz="2400" b="1" dirty="0"/>
              <a:t>negative binomial GLM </a:t>
            </a:r>
            <a:r>
              <a:rPr lang="en-US" sz="2400" dirty="0"/>
              <a:t>to incorporate dispersion into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4565" y="3817418"/>
            <a:ext cx="8034867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</a:rPr>
              <a:t>edgeR</a:t>
            </a:r>
            <a:r>
              <a:rPr lang="en-US" sz="2400" dirty="0"/>
              <a:t> (Robinson and Smyth, 2007), 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</a:rPr>
              <a:t>DESeq</a:t>
            </a:r>
            <a:r>
              <a:rPr lang="en-US" sz="2400" dirty="0"/>
              <a:t> (Anders and Huber, 2010), </a:t>
            </a:r>
            <a:r>
              <a:rPr lang="en-US" sz="2400" dirty="0" err="1"/>
              <a:t>NBPSeq</a:t>
            </a:r>
            <a:r>
              <a:rPr lang="en-US" sz="2400" dirty="0"/>
              <a:t> (Di et al., 2011), and </a:t>
            </a:r>
            <a:r>
              <a:rPr lang="en-US" sz="2400" dirty="0" err="1"/>
              <a:t>QuasiSeq</a:t>
            </a:r>
            <a:r>
              <a:rPr lang="en-US" sz="2400" dirty="0"/>
              <a:t> (Lund 2012)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25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738DA367-6D36-A599-C5BD-9AB9CD1B0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427666"/>
            <a:ext cx="7772400" cy="218783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CC1A8B-5091-957E-C743-FCA437E3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9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725"/>
            <a:ext cx="8229600" cy="653872"/>
          </a:xfrm>
        </p:spPr>
        <p:txBody>
          <a:bodyPr>
            <a:normAutofit/>
          </a:bodyPr>
          <a:lstStyle/>
          <a:p>
            <a:r>
              <a:rPr lang="en-US" sz="3200" dirty="0"/>
              <a:t>An RNA-seq experiment – source of variance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053284" y="2132675"/>
            <a:ext cx="150209" cy="272169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3255647" y="2132675"/>
            <a:ext cx="150209" cy="272169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379257"/>
              </p:ext>
            </p:extLst>
          </p:nvPr>
        </p:nvGraphicFramePr>
        <p:xfrm>
          <a:off x="457201" y="2487393"/>
          <a:ext cx="3490009" cy="861060"/>
        </p:xfrm>
        <a:graphic>
          <a:graphicData uri="http://schemas.openxmlformats.org/drawingml/2006/table">
            <a:tbl>
              <a:tblPr/>
              <a:tblGrid>
                <a:gridCol w="1019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 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C1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T1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Sum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N2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1606289" y="925186"/>
            <a:ext cx="2340920" cy="1111689"/>
            <a:chOff x="1233267" y="1019122"/>
            <a:chExt cx="2340920" cy="1111689"/>
          </a:xfrm>
        </p:grpSpPr>
        <p:grpSp>
          <p:nvGrpSpPr>
            <p:cNvPr id="13" name="Group 12"/>
            <p:cNvGrpSpPr/>
            <p:nvPr/>
          </p:nvGrpSpPr>
          <p:grpSpPr>
            <a:xfrm>
              <a:off x="1233267" y="1019122"/>
              <a:ext cx="2340920" cy="1111689"/>
              <a:chOff x="3738117" y="1182975"/>
              <a:chExt cx="2340920" cy="1111689"/>
            </a:xfrm>
          </p:grpSpPr>
          <p:pic>
            <p:nvPicPr>
              <p:cNvPr id="4" name="Picture 4"/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8417" y="1193494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4"/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15494" y="1182975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TextBox 6"/>
              <p:cNvSpPr txBox="1"/>
              <p:nvPr/>
            </p:nvSpPr>
            <p:spPr>
              <a:xfrm>
                <a:off x="3738117" y="1925332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1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851568" y="1914813"/>
                <a:ext cx="12274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1 (salt)</a:t>
                </a:r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2787371" y="11736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413838" y="766929"/>
            <a:ext cx="4587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Question</a:t>
            </a:r>
            <a:r>
              <a:rPr lang="en-US" sz="2400" dirty="0"/>
              <a:t>: what would cause the difference between two values, </a:t>
            </a:r>
            <a:r>
              <a:rPr lang="en-US" sz="2400" dirty="0">
                <a:solidFill>
                  <a:srgbClr val="FF0000"/>
                </a:solidFill>
              </a:rPr>
              <a:t>C1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</a:rPr>
              <a:t>T1</a:t>
            </a:r>
            <a:r>
              <a:rPr lang="en-US" sz="2400" dirty="0"/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797" y="3552210"/>
            <a:ext cx="39243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interest:</a:t>
            </a:r>
          </a:p>
          <a:p>
            <a:r>
              <a:rPr lang="en-US" sz="2400" dirty="0"/>
              <a:t>the effect of the </a:t>
            </a:r>
            <a:r>
              <a:rPr lang="en-US" sz="2400" dirty="0">
                <a:solidFill>
                  <a:srgbClr val="FF0000"/>
                </a:solidFill>
              </a:rPr>
              <a:t>salt treatment </a:t>
            </a:r>
            <a:r>
              <a:rPr lang="en-US" sz="2400" dirty="0"/>
              <a:t>on gene expression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0946" y="1887279"/>
            <a:ext cx="40335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Treatment effect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Plant difference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RNA quality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Library preparation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Sequencing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Sampling</a:t>
            </a:r>
          </a:p>
          <a:p>
            <a:pPr marL="457200" indent="-457200">
              <a:buFont typeface="Arial"/>
              <a:buChar char="•"/>
            </a:pPr>
            <a:endParaRPr lang="en-US" sz="2400" dirty="0"/>
          </a:p>
          <a:p>
            <a:pPr marL="457200" indent="-457200">
              <a:buFont typeface="Arial"/>
              <a:buChar char="•"/>
            </a:pPr>
            <a:r>
              <a:rPr lang="en-US" sz="2400" dirty="0"/>
              <a:t>Sequencing depth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759640" y="2552408"/>
            <a:ext cx="857698" cy="1898942"/>
            <a:chOff x="7759640" y="3409658"/>
            <a:chExt cx="857698" cy="1898942"/>
          </a:xfrm>
        </p:grpSpPr>
        <p:sp>
          <p:nvSpPr>
            <p:cNvPr id="36" name="Rectangle 35"/>
            <p:cNvSpPr/>
            <p:nvPr/>
          </p:nvSpPr>
          <p:spPr>
            <a:xfrm>
              <a:off x="7808384" y="3409658"/>
              <a:ext cx="743939" cy="66727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51789" y="3473759"/>
              <a:ext cx="4571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Bio</a:t>
              </a:r>
            </a:p>
            <a:p>
              <a:pPr algn="ctr"/>
              <a:r>
                <a:rPr lang="en-US" sz="1400" dirty="0"/>
                <a:t>TRT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808384" y="4052946"/>
              <a:ext cx="743939" cy="43015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808384" y="4482949"/>
              <a:ext cx="743939" cy="42407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808384" y="4896913"/>
              <a:ext cx="743939" cy="41168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759640" y="4008496"/>
              <a:ext cx="8576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Bio</a:t>
              </a:r>
            </a:p>
            <a:p>
              <a:pPr algn="ctr"/>
              <a:r>
                <a:rPr lang="en-US" sz="1400" dirty="0"/>
                <a:t>other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914490" y="4536894"/>
              <a:ext cx="5317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Tech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818715" y="4962372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Sample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4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2393"/>
            <a:ext cx="8229600" cy="753440"/>
          </a:xfrm>
        </p:spPr>
        <p:txBody>
          <a:bodyPr>
            <a:normAutofit/>
          </a:bodyPr>
          <a:lstStyle/>
          <a:p>
            <a:r>
              <a:rPr lang="en-US" sz="3200" dirty="0"/>
              <a:t>Source of variance in RNA-seq -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925690"/>
            <a:ext cx="7686094" cy="100134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Sampling variance</a:t>
            </a:r>
            <a:r>
              <a:rPr lang="en-US" sz="2800" dirty="0"/>
              <a:t> derived from the inherent nature of counting experiments</a:t>
            </a:r>
          </a:p>
        </p:txBody>
      </p:sp>
      <p:sp>
        <p:nvSpPr>
          <p:cNvPr id="4" name="Oval 3"/>
          <p:cNvSpPr/>
          <p:nvPr/>
        </p:nvSpPr>
        <p:spPr>
          <a:xfrm>
            <a:off x="1076785" y="2123465"/>
            <a:ext cx="3802565" cy="1966301"/>
          </a:xfrm>
          <a:prstGeom prst="ellipse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55808" y="2499752"/>
            <a:ext cx="3158066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total molecules: 10</a:t>
            </a:r>
            <a:r>
              <a:rPr lang="en-US" sz="2400" baseline="30000" dirty="0"/>
              <a:t>9</a:t>
            </a:r>
          </a:p>
          <a:p>
            <a:endParaRPr lang="en-US" sz="2400" dirty="0"/>
          </a:p>
          <a:p>
            <a:r>
              <a:rPr lang="en-US" sz="2400" dirty="0"/>
              <a:t>gene X: 1000 molecules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7535" y="1571204"/>
            <a:ext cx="22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Randomly sample 10</a:t>
            </a:r>
            <a:r>
              <a:rPr lang="en-US" baseline="30000" dirty="0"/>
              <a:t>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524482"/>
              </p:ext>
            </p:extLst>
          </p:nvPr>
        </p:nvGraphicFramePr>
        <p:xfrm>
          <a:off x="6127535" y="1939211"/>
          <a:ext cx="2457973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4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 sampling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Second sampling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Third sampling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127535" y="3125694"/>
            <a:ext cx="22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Randomly sample 10</a:t>
            </a:r>
            <a:r>
              <a:rPr lang="en-US" baseline="30000" dirty="0"/>
              <a:t>8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094611"/>
              </p:ext>
            </p:extLst>
          </p:nvPr>
        </p:nvGraphicFramePr>
        <p:xfrm>
          <a:off x="6127535" y="3493701"/>
          <a:ext cx="2457973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4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 sampling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Second sampling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Third sampling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65979" y="4211134"/>
            <a:ext cx="5768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Sequence depth (sampling number) matters.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8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1" grpId="0"/>
      <p:bldP spid="29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347"/>
            <a:ext cx="8229600" cy="579084"/>
          </a:xfrm>
        </p:spPr>
        <p:txBody>
          <a:bodyPr>
            <a:noAutofit/>
          </a:bodyPr>
          <a:lstStyle/>
          <a:p>
            <a:r>
              <a:rPr lang="en-US" sz="3200" dirty="0"/>
              <a:t>Technical replication</a:t>
            </a:r>
          </a:p>
        </p:txBody>
      </p:sp>
      <p:grpSp>
        <p:nvGrpSpPr>
          <p:cNvPr id="111" name="Group 110"/>
          <p:cNvGrpSpPr/>
          <p:nvPr/>
        </p:nvGrpSpPr>
        <p:grpSpPr>
          <a:xfrm>
            <a:off x="1355231" y="576527"/>
            <a:ext cx="7561062" cy="1678731"/>
            <a:chOff x="596948" y="1033222"/>
            <a:chExt cx="7561062" cy="1678731"/>
          </a:xfrm>
        </p:grpSpPr>
        <p:sp>
          <p:nvSpPr>
            <p:cNvPr id="11" name="TextBox 10"/>
            <p:cNvSpPr txBox="1"/>
            <p:nvPr/>
          </p:nvSpPr>
          <p:spPr>
            <a:xfrm>
              <a:off x="596948" y="1775579"/>
              <a:ext cx="1052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Control 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77834" y="1775579"/>
              <a:ext cx="704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TRT 1</a:t>
              </a: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1883966" y="1033222"/>
              <a:ext cx="1052429" cy="1111689"/>
              <a:chOff x="1872345" y="1202566"/>
              <a:chExt cx="1052429" cy="1111689"/>
            </a:xfrm>
          </p:grpSpPr>
          <p:pic>
            <p:nvPicPr>
              <p:cNvPr id="13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4716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1872345" y="1944923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2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3170984" y="1775579"/>
              <a:ext cx="1052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Control 3</a:t>
              </a: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165846" y="1033222"/>
              <a:ext cx="704152" cy="1111689"/>
              <a:chOff x="5954853" y="1202566"/>
              <a:chExt cx="704152" cy="1111689"/>
            </a:xfrm>
          </p:grpSpPr>
          <p:pic>
            <p:nvPicPr>
              <p:cNvPr id="17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3086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5954853" y="1944923"/>
                <a:ext cx="704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2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6109813" y="13436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</a:t>
                </a: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7453858" y="1775579"/>
              <a:ext cx="704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TRT 3</a:t>
              </a:r>
            </a:p>
          </p:txBody>
        </p:sp>
        <p:sp>
          <p:nvSpPr>
            <p:cNvPr id="23" name="Left Bracket 22"/>
            <p:cNvSpPr/>
            <p:nvPr/>
          </p:nvSpPr>
          <p:spPr>
            <a:xfrm rot="5400000" flipH="1">
              <a:off x="2355708" y="1071584"/>
              <a:ext cx="105833" cy="2576973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Left Bracket 23"/>
            <p:cNvSpPr/>
            <p:nvPr/>
          </p:nvSpPr>
          <p:spPr>
            <a:xfrm rot="5400000" flipH="1">
              <a:off x="6464983" y="1071585"/>
              <a:ext cx="105833" cy="2576973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86035" y="2067451"/>
              <a:ext cx="1379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within group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82492" y="2067451"/>
              <a:ext cx="1379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within group</a:t>
              </a:r>
            </a:p>
          </p:txBody>
        </p:sp>
        <p:sp>
          <p:nvSpPr>
            <p:cNvPr id="33" name="Left Bracket 32"/>
            <p:cNvSpPr/>
            <p:nvPr/>
          </p:nvSpPr>
          <p:spPr>
            <a:xfrm rot="5400000" flipH="1">
              <a:off x="4447073" y="494587"/>
              <a:ext cx="105834" cy="4241794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636647" y="2342621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between groups</a:t>
              </a: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5246499" y="2431652"/>
            <a:ext cx="1099384" cy="2331283"/>
            <a:chOff x="5407723" y="3076537"/>
            <a:chExt cx="1099384" cy="2331283"/>
          </a:xfrm>
        </p:grpSpPr>
        <p:sp>
          <p:nvSpPr>
            <p:cNvPr id="53" name="Rectangle 52"/>
            <p:cNvSpPr/>
            <p:nvPr/>
          </p:nvSpPr>
          <p:spPr>
            <a:xfrm>
              <a:off x="5698720" y="3076537"/>
              <a:ext cx="517391" cy="53647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728852" y="3082125"/>
              <a:ext cx="4571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Bio</a:t>
              </a:r>
            </a:p>
            <a:p>
              <a:r>
                <a:rPr lang="en-US" sz="1400" dirty="0"/>
                <a:t>TRT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698720" y="3593721"/>
              <a:ext cx="517391" cy="51643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698720" y="4097691"/>
              <a:ext cx="517391" cy="34093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698720" y="4430505"/>
              <a:ext cx="517391" cy="330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664550" y="3586932"/>
              <a:ext cx="5857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Bio</a:t>
              </a:r>
            </a:p>
            <a:p>
              <a:pPr algn="ctr"/>
              <a:r>
                <a:rPr lang="en-US" sz="1400" dirty="0"/>
                <a:t>other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691551" y="4125746"/>
              <a:ext cx="531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Tech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595778" y="442186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Sample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407723" y="4761489"/>
              <a:ext cx="1099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between groups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6407365" y="2430451"/>
            <a:ext cx="1849141" cy="1686153"/>
            <a:chOff x="6568588" y="3075336"/>
            <a:chExt cx="1849141" cy="1686153"/>
          </a:xfrm>
        </p:grpSpPr>
        <p:sp>
          <p:nvSpPr>
            <p:cNvPr id="71" name="Up-Down Arrow 70"/>
            <p:cNvSpPr/>
            <p:nvPr/>
          </p:nvSpPr>
          <p:spPr>
            <a:xfrm>
              <a:off x="6569150" y="3075336"/>
              <a:ext cx="173568" cy="1053471"/>
            </a:xfrm>
            <a:prstGeom prst="upDownArrow">
              <a:avLst/>
            </a:prstGeom>
            <a:solidFill>
              <a:srgbClr val="6600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Up-Down Arrow 71"/>
            <p:cNvSpPr/>
            <p:nvPr/>
          </p:nvSpPr>
          <p:spPr>
            <a:xfrm>
              <a:off x="6568588" y="4128807"/>
              <a:ext cx="174130" cy="632682"/>
            </a:xfrm>
            <a:prstGeom prst="up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822271" y="3116412"/>
              <a:ext cx="15954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Compare to declare the significance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3610065" y="2446172"/>
            <a:ext cx="1142429" cy="2150179"/>
            <a:chOff x="3010120" y="3314109"/>
            <a:chExt cx="1142429" cy="2150179"/>
          </a:xfrm>
        </p:grpSpPr>
        <p:sp>
          <p:nvSpPr>
            <p:cNvPr id="102" name="Rectangle 101"/>
            <p:cNvSpPr/>
            <p:nvPr/>
          </p:nvSpPr>
          <p:spPr>
            <a:xfrm>
              <a:off x="3314939" y="4100752"/>
              <a:ext cx="517391" cy="34093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314939" y="4433566"/>
              <a:ext cx="517391" cy="330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307770" y="4128807"/>
              <a:ext cx="531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Tech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211997" y="4424922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100912" y="4756402"/>
              <a:ext cx="94544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within groups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010120" y="3314109"/>
              <a:ext cx="11424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Technical</a:t>
              </a:r>
            </a:p>
            <a:p>
              <a:pPr algn="ctr"/>
              <a:r>
                <a:rPr lang="en-US" sz="2000" dirty="0"/>
                <a:t>replicate</a:t>
              </a:r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352812" y="2433737"/>
            <a:ext cx="3108301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7375E"/>
                </a:solidFill>
              </a:rPr>
              <a:t>Technical replication</a:t>
            </a:r>
            <a:r>
              <a:rPr lang="en-US" sz="2400" i="1" dirty="0"/>
              <a:t> </a:t>
            </a:r>
            <a:r>
              <a:rPr lang="en-US" sz="2400" dirty="0"/>
              <a:t>refers to the sequencing of multiple libraries derived from </a:t>
            </a:r>
            <a:r>
              <a:rPr lang="en-US" sz="2400" b="1" dirty="0">
                <a:solidFill>
                  <a:srgbClr val="17375E"/>
                </a:solidFill>
              </a:rPr>
              <a:t>the same biological sample</a:t>
            </a:r>
            <a:r>
              <a:rPr lang="en-US" sz="2400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9092" y="2884513"/>
            <a:ext cx="11155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Extra power</a:t>
            </a:r>
          </a:p>
        </p:txBody>
      </p:sp>
      <p:pic>
        <p:nvPicPr>
          <p:cNvPr id="4" name="Picture 3" descr="Screenshot 2017-04-11 09.25.0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18" y="805746"/>
            <a:ext cx="444346" cy="117434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9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2BE3-EDCA-1810-EB62-E23220866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83D5-7CD1-2C0F-1541-EEA135C4F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347"/>
            <a:ext cx="8229600" cy="579084"/>
          </a:xfrm>
        </p:spPr>
        <p:txBody>
          <a:bodyPr>
            <a:noAutofit/>
          </a:bodyPr>
          <a:lstStyle/>
          <a:p>
            <a:r>
              <a:rPr lang="en-US" sz="3200" dirty="0"/>
              <a:t>Statistical comparison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21532FB-AD33-EBEE-F942-BB266DBE80AA}"/>
              </a:ext>
            </a:extLst>
          </p:cNvPr>
          <p:cNvGrpSpPr/>
          <p:nvPr/>
        </p:nvGrpSpPr>
        <p:grpSpPr>
          <a:xfrm>
            <a:off x="1550152" y="1892852"/>
            <a:ext cx="1099384" cy="2331283"/>
            <a:chOff x="5407723" y="3076537"/>
            <a:chExt cx="1099384" cy="2331283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BB6EC1C-BCDC-4E0C-3A6C-7C8D4109D842}"/>
                </a:ext>
              </a:extLst>
            </p:cNvPr>
            <p:cNvSpPr/>
            <p:nvPr/>
          </p:nvSpPr>
          <p:spPr>
            <a:xfrm>
              <a:off x="5698720" y="3076537"/>
              <a:ext cx="517391" cy="53647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7A0D28-96A7-FCEE-4C72-837D38ECEDE3}"/>
                </a:ext>
              </a:extLst>
            </p:cNvPr>
            <p:cNvSpPr txBox="1"/>
            <p:nvPr/>
          </p:nvSpPr>
          <p:spPr>
            <a:xfrm>
              <a:off x="5728852" y="3082125"/>
              <a:ext cx="4571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Bio</a:t>
              </a:r>
            </a:p>
            <a:p>
              <a:r>
                <a:rPr lang="en-US" sz="1400" dirty="0"/>
                <a:t>TRT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7F2AF57-AE0D-91F9-F17B-F9C2D600E349}"/>
                </a:ext>
              </a:extLst>
            </p:cNvPr>
            <p:cNvSpPr/>
            <p:nvPr/>
          </p:nvSpPr>
          <p:spPr>
            <a:xfrm>
              <a:off x="5698720" y="3593721"/>
              <a:ext cx="517391" cy="51643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CD8C2F8-680A-EB44-9DF9-A03DBBF0F745}"/>
                </a:ext>
              </a:extLst>
            </p:cNvPr>
            <p:cNvSpPr/>
            <p:nvPr/>
          </p:nvSpPr>
          <p:spPr>
            <a:xfrm>
              <a:off x="5698720" y="4097691"/>
              <a:ext cx="517391" cy="34093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5A3D1E2-87EB-86FF-68B1-351D993ABD18}"/>
                </a:ext>
              </a:extLst>
            </p:cNvPr>
            <p:cNvSpPr/>
            <p:nvPr/>
          </p:nvSpPr>
          <p:spPr>
            <a:xfrm>
              <a:off x="5698720" y="4430505"/>
              <a:ext cx="517391" cy="330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46F5373-7483-0DE6-0ECA-0CAC6FE23DE6}"/>
                </a:ext>
              </a:extLst>
            </p:cNvPr>
            <p:cNvSpPr txBox="1"/>
            <p:nvPr/>
          </p:nvSpPr>
          <p:spPr>
            <a:xfrm>
              <a:off x="5664550" y="3586932"/>
              <a:ext cx="5857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Bio</a:t>
              </a:r>
            </a:p>
            <a:p>
              <a:pPr algn="ctr"/>
              <a:r>
                <a:rPr lang="en-US" sz="1400" dirty="0"/>
                <a:t>other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ABDC252-1121-52DE-CF4A-D8EBDF740531}"/>
                </a:ext>
              </a:extLst>
            </p:cNvPr>
            <p:cNvSpPr txBox="1"/>
            <p:nvPr/>
          </p:nvSpPr>
          <p:spPr>
            <a:xfrm>
              <a:off x="5691551" y="4125746"/>
              <a:ext cx="531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Tech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7DF2012-08C5-07FB-82F2-AA664FFE212B}"/>
                </a:ext>
              </a:extLst>
            </p:cNvPr>
            <p:cNvSpPr txBox="1"/>
            <p:nvPr/>
          </p:nvSpPr>
          <p:spPr>
            <a:xfrm>
              <a:off x="5595778" y="442186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68B2F82-5930-F31D-C397-8C8D95834385}"/>
                </a:ext>
              </a:extLst>
            </p:cNvPr>
            <p:cNvSpPr txBox="1"/>
            <p:nvPr/>
          </p:nvSpPr>
          <p:spPr>
            <a:xfrm>
              <a:off x="5407723" y="4761489"/>
              <a:ext cx="1099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between groups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BF36B84-2BC8-AA89-93E0-41C76F14F66B}"/>
              </a:ext>
            </a:extLst>
          </p:cNvPr>
          <p:cNvGrpSpPr/>
          <p:nvPr/>
        </p:nvGrpSpPr>
        <p:grpSpPr>
          <a:xfrm>
            <a:off x="2711018" y="1891651"/>
            <a:ext cx="174130" cy="1686153"/>
            <a:chOff x="6568588" y="3075336"/>
            <a:chExt cx="174130" cy="1686153"/>
          </a:xfrm>
        </p:grpSpPr>
        <p:sp>
          <p:nvSpPr>
            <p:cNvPr id="71" name="Up-Down Arrow 70">
              <a:extLst>
                <a:ext uri="{FF2B5EF4-FFF2-40B4-BE49-F238E27FC236}">
                  <a16:creationId xmlns:a16="http://schemas.microsoft.com/office/drawing/2014/main" id="{A555326C-508A-98EE-4E48-DA30D0D588CD}"/>
                </a:ext>
              </a:extLst>
            </p:cNvPr>
            <p:cNvSpPr/>
            <p:nvPr/>
          </p:nvSpPr>
          <p:spPr>
            <a:xfrm>
              <a:off x="6569150" y="3075336"/>
              <a:ext cx="173568" cy="1053471"/>
            </a:xfrm>
            <a:prstGeom prst="upDownArrow">
              <a:avLst/>
            </a:prstGeom>
            <a:solidFill>
              <a:srgbClr val="6600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Up-Down Arrow 71">
              <a:extLst>
                <a:ext uri="{FF2B5EF4-FFF2-40B4-BE49-F238E27FC236}">
                  <a16:creationId xmlns:a16="http://schemas.microsoft.com/office/drawing/2014/main" id="{F299965A-C435-37D6-3B71-801FB971CF1E}"/>
                </a:ext>
              </a:extLst>
            </p:cNvPr>
            <p:cNvSpPr/>
            <p:nvPr/>
          </p:nvSpPr>
          <p:spPr>
            <a:xfrm>
              <a:off x="6568588" y="4128807"/>
              <a:ext cx="174130" cy="632682"/>
            </a:xfrm>
            <a:prstGeom prst="up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9711B-181C-F671-0849-390018B2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463CB0-A7CE-5767-700B-7E0DE035BDAD}"/>
              </a:ext>
            </a:extLst>
          </p:cNvPr>
          <p:cNvGrpSpPr/>
          <p:nvPr/>
        </p:nvGrpSpPr>
        <p:grpSpPr>
          <a:xfrm>
            <a:off x="4980673" y="1892852"/>
            <a:ext cx="1099384" cy="2331283"/>
            <a:chOff x="5407723" y="3076537"/>
            <a:chExt cx="1099384" cy="233128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CEA7A78-E4CA-6FEF-6CD6-1E368783C5CA}"/>
                </a:ext>
              </a:extLst>
            </p:cNvPr>
            <p:cNvSpPr/>
            <p:nvPr/>
          </p:nvSpPr>
          <p:spPr>
            <a:xfrm>
              <a:off x="5698720" y="3076537"/>
              <a:ext cx="517391" cy="53647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ACE891-D3A7-161C-7DDD-4E4197AD0A1C}"/>
                </a:ext>
              </a:extLst>
            </p:cNvPr>
            <p:cNvSpPr txBox="1"/>
            <p:nvPr/>
          </p:nvSpPr>
          <p:spPr>
            <a:xfrm>
              <a:off x="5728852" y="3082125"/>
              <a:ext cx="4571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Bio</a:t>
              </a:r>
            </a:p>
            <a:p>
              <a:r>
                <a:rPr lang="en-US" sz="1400" dirty="0"/>
                <a:t>TRT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71B3C01-DD9C-B14F-8754-5995309F814D}"/>
                </a:ext>
              </a:extLst>
            </p:cNvPr>
            <p:cNvSpPr/>
            <p:nvPr/>
          </p:nvSpPr>
          <p:spPr>
            <a:xfrm>
              <a:off x="5698720" y="3593721"/>
              <a:ext cx="517391" cy="51643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B989DC-4203-5D87-DDC4-F56805A91881}"/>
                </a:ext>
              </a:extLst>
            </p:cNvPr>
            <p:cNvSpPr/>
            <p:nvPr/>
          </p:nvSpPr>
          <p:spPr>
            <a:xfrm>
              <a:off x="5698720" y="4097691"/>
              <a:ext cx="517391" cy="34093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EECD41E-8ED0-9E64-938D-2582431BF9ED}"/>
                </a:ext>
              </a:extLst>
            </p:cNvPr>
            <p:cNvSpPr/>
            <p:nvPr/>
          </p:nvSpPr>
          <p:spPr>
            <a:xfrm>
              <a:off x="5698720" y="4430505"/>
              <a:ext cx="517391" cy="330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ACD3D7-158A-3E36-399D-78935B3A9C6E}"/>
                </a:ext>
              </a:extLst>
            </p:cNvPr>
            <p:cNvSpPr txBox="1"/>
            <p:nvPr/>
          </p:nvSpPr>
          <p:spPr>
            <a:xfrm>
              <a:off x="5664550" y="3586932"/>
              <a:ext cx="5857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Bio</a:t>
              </a:r>
            </a:p>
            <a:p>
              <a:pPr algn="ctr"/>
              <a:r>
                <a:rPr lang="en-US" sz="1400" dirty="0"/>
                <a:t>other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3C400C-1FE7-3E83-8717-1BFFE70FDB11}"/>
                </a:ext>
              </a:extLst>
            </p:cNvPr>
            <p:cNvSpPr txBox="1"/>
            <p:nvPr/>
          </p:nvSpPr>
          <p:spPr>
            <a:xfrm>
              <a:off x="5691551" y="4125746"/>
              <a:ext cx="531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Tech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1FF2369-20D6-CA72-62B0-26DC31928BC5}"/>
                </a:ext>
              </a:extLst>
            </p:cNvPr>
            <p:cNvSpPr txBox="1"/>
            <p:nvPr/>
          </p:nvSpPr>
          <p:spPr>
            <a:xfrm>
              <a:off x="5595778" y="442186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47A45F-E1DB-DEB6-890F-E46C1B3548AF}"/>
                </a:ext>
              </a:extLst>
            </p:cNvPr>
            <p:cNvSpPr txBox="1"/>
            <p:nvPr/>
          </p:nvSpPr>
          <p:spPr>
            <a:xfrm>
              <a:off x="5407723" y="4761489"/>
              <a:ext cx="1099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between groups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F66D55F-68B6-D148-0C08-1C7DC9EDC5F1}"/>
              </a:ext>
            </a:extLst>
          </p:cNvPr>
          <p:cNvGrpSpPr/>
          <p:nvPr/>
        </p:nvGrpSpPr>
        <p:grpSpPr>
          <a:xfrm>
            <a:off x="6141538" y="1891651"/>
            <a:ext cx="174692" cy="1686153"/>
            <a:chOff x="6568588" y="3075336"/>
            <a:chExt cx="174692" cy="1686153"/>
          </a:xfrm>
        </p:grpSpPr>
        <p:sp>
          <p:nvSpPr>
            <p:cNvPr id="30" name="Up-Down Arrow 29">
              <a:extLst>
                <a:ext uri="{FF2B5EF4-FFF2-40B4-BE49-F238E27FC236}">
                  <a16:creationId xmlns:a16="http://schemas.microsoft.com/office/drawing/2014/main" id="{094924DE-A235-AF3C-0FFA-1A86BB66F2B1}"/>
                </a:ext>
              </a:extLst>
            </p:cNvPr>
            <p:cNvSpPr/>
            <p:nvPr/>
          </p:nvSpPr>
          <p:spPr>
            <a:xfrm>
              <a:off x="6569150" y="3075336"/>
              <a:ext cx="174130" cy="499063"/>
            </a:xfrm>
            <a:prstGeom prst="upDownArrow">
              <a:avLst/>
            </a:prstGeom>
            <a:solidFill>
              <a:srgbClr val="6600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Up-Down Arrow 34">
              <a:extLst>
                <a:ext uri="{FF2B5EF4-FFF2-40B4-BE49-F238E27FC236}">
                  <a16:creationId xmlns:a16="http://schemas.microsoft.com/office/drawing/2014/main" id="{1BBB67ED-017F-2FB9-DD74-1B4D7E6DBBDF}"/>
                </a:ext>
              </a:extLst>
            </p:cNvPr>
            <p:cNvSpPr/>
            <p:nvPr/>
          </p:nvSpPr>
          <p:spPr>
            <a:xfrm>
              <a:off x="6568588" y="3574399"/>
              <a:ext cx="174130" cy="1187090"/>
            </a:xfrm>
            <a:prstGeom prst="up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1A06F61A-B5A0-1238-023C-D7DA2BE13D6E}"/>
              </a:ext>
            </a:extLst>
          </p:cNvPr>
          <p:cNvSpPr txBox="1"/>
          <p:nvPr/>
        </p:nvSpPr>
        <p:spPr>
          <a:xfrm>
            <a:off x="5966611" y="1185559"/>
            <a:ext cx="530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8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sz="3600" b="1" dirty="0">
              <a:solidFill>
                <a:srgbClr val="008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7C14CB-E229-BCED-2DEE-D7349E1C71B2}"/>
              </a:ext>
            </a:extLst>
          </p:cNvPr>
          <p:cNvSpPr txBox="1"/>
          <p:nvPr/>
        </p:nvSpPr>
        <p:spPr>
          <a:xfrm>
            <a:off x="2525671" y="1185559"/>
            <a:ext cx="561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66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705"/>
            <a:ext cx="8229600" cy="57908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Biological replication</a:t>
            </a:r>
          </a:p>
        </p:txBody>
      </p:sp>
      <p:grpSp>
        <p:nvGrpSpPr>
          <p:cNvPr id="111" name="Group 110"/>
          <p:cNvGrpSpPr/>
          <p:nvPr/>
        </p:nvGrpSpPr>
        <p:grpSpPr>
          <a:xfrm>
            <a:off x="596948" y="588570"/>
            <a:ext cx="7561062" cy="1678731"/>
            <a:chOff x="596948" y="1033222"/>
            <a:chExt cx="7561062" cy="1678731"/>
          </a:xfrm>
        </p:grpSpPr>
        <p:grpSp>
          <p:nvGrpSpPr>
            <p:cNvPr id="25" name="Group 24"/>
            <p:cNvGrpSpPr/>
            <p:nvPr/>
          </p:nvGrpSpPr>
          <p:grpSpPr>
            <a:xfrm>
              <a:off x="596948" y="1033222"/>
              <a:ext cx="1052429" cy="1111689"/>
              <a:chOff x="646340" y="1202566"/>
              <a:chExt cx="1052429" cy="1111689"/>
            </a:xfrm>
          </p:grpSpPr>
          <p:pic>
            <p:nvPicPr>
              <p:cNvPr id="9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8711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646340" y="1944923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1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4877834" y="1033222"/>
              <a:ext cx="704152" cy="1111689"/>
              <a:chOff x="4653217" y="1202566"/>
              <a:chExt cx="704152" cy="1111689"/>
            </a:xfrm>
          </p:grpSpPr>
          <p:pic>
            <p:nvPicPr>
              <p:cNvPr id="10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1450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4653217" y="1944923"/>
                <a:ext cx="704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1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808177" y="13436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1883966" y="1033222"/>
              <a:ext cx="1052429" cy="1111689"/>
              <a:chOff x="1872345" y="1202566"/>
              <a:chExt cx="1052429" cy="1111689"/>
            </a:xfrm>
          </p:grpSpPr>
          <p:pic>
            <p:nvPicPr>
              <p:cNvPr id="13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4716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1872345" y="1944923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2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3170984" y="1033222"/>
              <a:ext cx="1052429" cy="1111689"/>
              <a:chOff x="3155296" y="1202566"/>
              <a:chExt cx="1052429" cy="1111689"/>
            </a:xfrm>
          </p:grpSpPr>
          <p:pic>
            <p:nvPicPr>
              <p:cNvPr id="15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667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TextBox 15"/>
              <p:cNvSpPr txBox="1"/>
              <p:nvPr/>
            </p:nvSpPr>
            <p:spPr>
              <a:xfrm>
                <a:off x="3155296" y="1944923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3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6165846" y="1033222"/>
              <a:ext cx="704152" cy="1111689"/>
              <a:chOff x="5954853" y="1202566"/>
              <a:chExt cx="704152" cy="1111689"/>
            </a:xfrm>
          </p:grpSpPr>
          <p:pic>
            <p:nvPicPr>
              <p:cNvPr id="17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3086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5954853" y="1944923"/>
                <a:ext cx="704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2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6109813" y="13436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7453858" y="1033222"/>
              <a:ext cx="704152" cy="1111689"/>
              <a:chOff x="7355074" y="1202566"/>
              <a:chExt cx="704152" cy="1111689"/>
            </a:xfrm>
          </p:grpSpPr>
          <p:pic>
            <p:nvPicPr>
              <p:cNvPr id="20" name="Picture 4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307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Box 20"/>
              <p:cNvSpPr txBox="1"/>
              <p:nvPr/>
            </p:nvSpPr>
            <p:spPr>
              <a:xfrm>
                <a:off x="7355074" y="1944923"/>
                <a:ext cx="704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3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7510034" y="13436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</a:t>
                </a:r>
              </a:p>
            </p:txBody>
          </p:sp>
        </p:grpSp>
        <p:sp>
          <p:nvSpPr>
            <p:cNvPr id="23" name="Left Bracket 22"/>
            <p:cNvSpPr/>
            <p:nvPr/>
          </p:nvSpPr>
          <p:spPr>
            <a:xfrm rot="5400000" flipH="1">
              <a:off x="2355708" y="1071584"/>
              <a:ext cx="105833" cy="2576973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Left Bracket 23"/>
            <p:cNvSpPr/>
            <p:nvPr/>
          </p:nvSpPr>
          <p:spPr>
            <a:xfrm rot="5400000" flipH="1">
              <a:off x="6464983" y="1071585"/>
              <a:ext cx="105833" cy="2576973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86035" y="2067451"/>
              <a:ext cx="1379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within group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82492" y="2067451"/>
              <a:ext cx="1379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within group</a:t>
              </a:r>
            </a:p>
          </p:txBody>
        </p:sp>
        <p:sp>
          <p:nvSpPr>
            <p:cNvPr id="33" name="Left Bracket 32"/>
            <p:cNvSpPr/>
            <p:nvPr/>
          </p:nvSpPr>
          <p:spPr>
            <a:xfrm rot="5400000" flipH="1">
              <a:off x="4447073" y="494587"/>
              <a:ext cx="105834" cy="4241794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636647" y="2342621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between groups</a:t>
              </a: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5630901" y="2658811"/>
            <a:ext cx="1099384" cy="2331283"/>
            <a:chOff x="5407723" y="3076537"/>
            <a:chExt cx="1099384" cy="2331283"/>
          </a:xfrm>
        </p:grpSpPr>
        <p:sp>
          <p:nvSpPr>
            <p:cNvPr id="53" name="Rectangle 52"/>
            <p:cNvSpPr/>
            <p:nvPr/>
          </p:nvSpPr>
          <p:spPr>
            <a:xfrm>
              <a:off x="5698720" y="3076537"/>
              <a:ext cx="517391" cy="53647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728852" y="3082125"/>
              <a:ext cx="4571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Bio</a:t>
              </a:r>
            </a:p>
            <a:p>
              <a:r>
                <a:rPr lang="en-US" sz="1400" dirty="0"/>
                <a:t>TRT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698720" y="3593721"/>
              <a:ext cx="517391" cy="51643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698720" y="4097691"/>
              <a:ext cx="517391" cy="34093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698720" y="4430505"/>
              <a:ext cx="517391" cy="330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664550" y="3586932"/>
              <a:ext cx="5857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Bio</a:t>
              </a:r>
            </a:p>
            <a:p>
              <a:pPr algn="ctr"/>
              <a:r>
                <a:rPr lang="en-US" sz="1400" dirty="0"/>
                <a:t>other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691551" y="4125746"/>
              <a:ext cx="531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Tech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595778" y="442186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Sample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407723" y="4761489"/>
              <a:ext cx="1099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between groups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6791766" y="2657610"/>
            <a:ext cx="2098264" cy="1686153"/>
            <a:chOff x="6568588" y="3075336"/>
            <a:chExt cx="2098264" cy="1686153"/>
          </a:xfrm>
        </p:grpSpPr>
        <p:sp>
          <p:nvSpPr>
            <p:cNvPr id="71" name="Up-Down Arrow 70"/>
            <p:cNvSpPr/>
            <p:nvPr/>
          </p:nvSpPr>
          <p:spPr>
            <a:xfrm>
              <a:off x="6569150" y="3075336"/>
              <a:ext cx="174130" cy="499063"/>
            </a:xfrm>
            <a:prstGeom prst="upDownArrow">
              <a:avLst/>
            </a:prstGeom>
            <a:solidFill>
              <a:srgbClr val="6600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Up-Down Arrow 71"/>
            <p:cNvSpPr/>
            <p:nvPr/>
          </p:nvSpPr>
          <p:spPr>
            <a:xfrm>
              <a:off x="6568588" y="3574399"/>
              <a:ext cx="174130" cy="1187090"/>
            </a:xfrm>
            <a:prstGeom prst="up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804199" y="3111287"/>
              <a:ext cx="18626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Compare to declare the significance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3320345" y="3050760"/>
            <a:ext cx="968334" cy="1934246"/>
            <a:chOff x="3097167" y="3468487"/>
            <a:chExt cx="968334" cy="1934246"/>
          </a:xfrm>
        </p:grpSpPr>
        <p:sp>
          <p:nvSpPr>
            <p:cNvPr id="102" name="Rectangle 101"/>
            <p:cNvSpPr/>
            <p:nvPr/>
          </p:nvSpPr>
          <p:spPr>
            <a:xfrm>
              <a:off x="3314939" y="4100752"/>
              <a:ext cx="517391" cy="34093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314939" y="4433566"/>
              <a:ext cx="517391" cy="330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307770" y="4128807"/>
              <a:ext cx="531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Tech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211997" y="4424922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100912" y="4756402"/>
              <a:ext cx="9454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within groups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097167" y="3468487"/>
              <a:ext cx="968334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Technical</a:t>
              </a:r>
            </a:p>
            <a:p>
              <a:pPr algn="ctr"/>
              <a:r>
                <a:rPr lang="en-US" sz="1600" dirty="0"/>
                <a:t>replicate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4451251" y="2527176"/>
            <a:ext cx="982661" cy="2442237"/>
            <a:chOff x="4228072" y="2944902"/>
            <a:chExt cx="982661" cy="2442237"/>
          </a:xfrm>
        </p:grpSpPr>
        <p:sp>
          <p:nvSpPr>
            <p:cNvPr id="57" name="Rectangle 56"/>
            <p:cNvSpPr/>
            <p:nvPr/>
          </p:nvSpPr>
          <p:spPr>
            <a:xfrm>
              <a:off x="4451300" y="3581188"/>
              <a:ext cx="517391" cy="51643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451300" y="4085158"/>
              <a:ext cx="517391" cy="34093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451300" y="4417972"/>
              <a:ext cx="517391" cy="330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417130" y="3574399"/>
              <a:ext cx="5857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Bio</a:t>
              </a:r>
            </a:p>
            <a:p>
              <a:pPr algn="ctr"/>
              <a:r>
                <a:rPr lang="en-US" sz="1400" dirty="0"/>
                <a:t>other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444131" y="4113213"/>
              <a:ext cx="5317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Tech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348358" y="4409328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Sample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237273" y="4740808"/>
              <a:ext cx="9454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within groups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228072" y="2944902"/>
              <a:ext cx="98266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Biological</a:t>
              </a:r>
            </a:p>
            <a:p>
              <a:pPr algn="ctr"/>
              <a:r>
                <a:rPr lang="en-US" sz="1600" dirty="0"/>
                <a:t>replicate</a:t>
              </a:r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313298" y="2598248"/>
            <a:ext cx="3027345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7375E"/>
                </a:solidFill>
              </a:rPr>
              <a:t>Biological replication</a:t>
            </a:r>
            <a:r>
              <a:rPr lang="en-US" sz="2400" b="1" dirty="0">
                <a:solidFill>
                  <a:srgbClr val="17375E"/>
                </a:solidFill>
              </a:rPr>
              <a:t> </a:t>
            </a:r>
            <a:r>
              <a:rPr lang="en-US" sz="2400" dirty="0"/>
              <a:t>refers to the sequencing of multiple libraries derived from </a:t>
            </a:r>
            <a:r>
              <a:rPr lang="en-US" sz="2400" b="1" dirty="0">
                <a:solidFill>
                  <a:srgbClr val="17375E"/>
                </a:solidFill>
              </a:rPr>
              <a:t>different biological samples</a:t>
            </a:r>
            <a:r>
              <a:rPr lang="en-US" sz="2400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33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63C1B-2DC1-02CB-5513-79279FEB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22B3-A28D-C778-AAD7-CE0B10DE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829"/>
            <a:ext cx="8229600" cy="57908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Biological replication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88DAC3E-3B62-3C14-5054-566C24E407DC}"/>
              </a:ext>
            </a:extLst>
          </p:cNvPr>
          <p:cNvGrpSpPr/>
          <p:nvPr/>
        </p:nvGrpSpPr>
        <p:grpSpPr>
          <a:xfrm>
            <a:off x="791469" y="821200"/>
            <a:ext cx="7561062" cy="1678731"/>
            <a:chOff x="596948" y="1033222"/>
            <a:chExt cx="7561062" cy="167873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2C76168-2DC8-2D86-3CF8-2E6204B28CA0}"/>
                </a:ext>
              </a:extLst>
            </p:cNvPr>
            <p:cNvGrpSpPr/>
            <p:nvPr/>
          </p:nvGrpSpPr>
          <p:grpSpPr>
            <a:xfrm>
              <a:off x="596948" y="1033222"/>
              <a:ext cx="1052429" cy="1111689"/>
              <a:chOff x="646340" y="1202566"/>
              <a:chExt cx="1052429" cy="1111689"/>
            </a:xfrm>
          </p:grpSpPr>
          <p:pic>
            <p:nvPicPr>
              <p:cNvPr id="9" name="Picture 4">
                <a:extLst>
                  <a:ext uri="{FF2B5EF4-FFF2-40B4-BE49-F238E27FC236}">
                    <a16:creationId xmlns:a16="http://schemas.microsoft.com/office/drawing/2014/main" id="{5AC97C00-02FE-6239-00BC-AC2A5C76E8D1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8711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BF2DA7-C3BE-CE2D-D67A-224D496F701E}"/>
                  </a:ext>
                </a:extLst>
              </p:cNvPr>
              <p:cNvSpPr txBox="1"/>
              <p:nvPr/>
            </p:nvSpPr>
            <p:spPr>
              <a:xfrm>
                <a:off x="646340" y="1944923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1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C4E02B6-0AD9-12E3-ACAF-5A8C540F01A6}"/>
                </a:ext>
              </a:extLst>
            </p:cNvPr>
            <p:cNvGrpSpPr/>
            <p:nvPr/>
          </p:nvGrpSpPr>
          <p:grpSpPr>
            <a:xfrm>
              <a:off x="4877834" y="1033222"/>
              <a:ext cx="704152" cy="1111689"/>
              <a:chOff x="4653217" y="1202566"/>
              <a:chExt cx="704152" cy="1111689"/>
            </a:xfrm>
          </p:grpSpPr>
          <p:pic>
            <p:nvPicPr>
              <p:cNvPr id="10" name="Picture 4">
                <a:extLst>
                  <a:ext uri="{FF2B5EF4-FFF2-40B4-BE49-F238E27FC236}">
                    <a16:creationId xmlns:a16="http://schemas.microsoft.com/office/drawing/2014/main" id="{DEF3D3BC-E24A-DD4C-5F60-34C24E654303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1450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7767BD-0992-EBC2-50DA-20C4B89EDE91}"/>
                  </a:ext>
                </a:extLst>
              </p:cNvPr>
              <p:cNvSpPr txBox="1"/>
              <p:nvPr/>
            </p:nvSpPr>
            <p:spPr>
              <a:xfrm>
                <a:off x="4653217" y="1944923"/>
                <a:ext cx="704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1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B734BB-FD93-40E3-27D7-D8B04877924E}"/>
                  </a:ext>
                </a:extLst>
              </p:cNvPr>
              <p:cNvSpPr txBox="1"/>
              <p:nvPr/>
            </p:nvSpPr>
            <p:spPr>
              <a:xfrm>
                <a:off x="4808177" y="13436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05F52B-439E-E549-8C0C-F7E349FA445E}"/>
                </a:ext>
              </a:extLst>
            </p:cNvPr>
            <p:cNvGrpSpPr/>
            <p:nvPr/>
          </p:nvGrpSpPr>
          <p:grpSpPr>
            <a:xfrm>
              <a:off x="1883966" y="1033222"/>
              <a:ext cx="1052429" cy="1111689"/>
              <a:chOff x="1872345" y="1202566"/>
              <a:chExt cx="1052429" cy="1111689"/>
            </a:xfrm>
          </p:grpSpPr>
          <p:pic>
            <p:nvPicPr>
              <p:cNvPr id="13" name="Picture 4">
                <a:extLst>
                  <a:ext uri="{FF2B5EF4-FFF2-40B4-BE49-F238E27FC236}">
                    <a16:creationId xmlns:a16="http://schemas.microsoft.com/office/drawing/2014/main" id="{4C1037C3-C544-0396-D93E-508EE9BF5683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4716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E5C5EC-D764-94E2-68EA-5F5B2572DCC9}"/>
                  </a:ext>
                </a:extLst>
              </p:cNvPr>
              <p:cNvSpPr txBox="1"/>
              <p:nvPr/>
            </p:nvSpPr>
            <p:spPr>
              <a:xfrm>
                <a:off x="1872345" y="1944923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2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4052F67-7B7B-BC0F-731F-7AA4A30EB304}"/>
                </a:ext>
              </a:extLst>
            </p:cNvPr>
            <p:cNvGrpSpPr/>
            <p:nvPr/>
          </p:nvGrpSpPr>
          <p:grpSpPr>
            <a:xfrm>
              <a:off x="3170984" y="1033222"/>
              <a:ext cx="1052429" cy="1111689"/>
              <a:chOff x="3155296" y="1202566"/>
              <a:chExt cx="1052429" cy="1111689"/>
            </a:xfrm>
          </p:grpSpPr>
          <p:pic>
            <p:nvPicPr>
              <p:cNvPr id="15" name="Picture 4">
                <a:extLst>
                  <a:ext uri="{FF2B5EF4-FFF2-40B4-BE49-F238E27FC236}">
                    <a16:creationId xmlns:a16="http://schemas.microsoft.com/office/drawing/2014/main" id="{D959DFEA-4129-09C5-DB34-00A5E65F8816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7667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AC08D5-3E2B-6DCB-FD67-E2A8A1568B45}"/>
                  </a:ext>
                </a:extLst>
              </p:cNvPr>
              <p:cNvSpPr txBox="1"/>
              <p:nvPr/>
            </p:nvSpPr>
            <p:spPr>
              <a:xfrm>
                <a:off x="3155296" y="1944923"/>
                <a:ext cx="105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Control 3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2701575-D38F-0E1E-48F5-FF5948190E45}"/>
                </a:ext>
              </a:extLst>
            </p:cNvPr>
            <p:cNvGrpSpPr/>
            <p:nvPr/>
          </p:nvGrpSpPr>
          <p:grpSpPr>
            <a:xfrm>
              <a:off x="6165846" y="1033222"/>
              <a:ext cx="704152" cy="1111689"/>
              <a:chOff x="5954853" y="1202566"/>
              <a:chExt cx="704152" cy="1111689"/>
            </a:xfrm>
          </p:grpSpPr>
          <p:pic>
            <p:nvPicPr>
              <p:cNvPr id="17" name="Picture 4">
                <a:extLst>
                  <a:ext uri="{FF2B5EF4-FFF2-40B4-BE49-F238E27FC236}">
                    <a16:creationId xmlns:a16="http://schemas.microsoft.com/office/drawing/2014/main" id="{C049035F-DB75-6C7C-249B-18699E860BED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3086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868548-F7B0-0799-2C31-9253D1903D98}"/>
                  </a:ext>
                </a:extLst>
              </p:cNvPr>
              <p:cNvSpPr txBox="1"/>
              <p:nvPr/>
            </p:nvSpPr>
            <p:spPr>
              <a:xfrm>
                <a:off x="5954853" y="1944923"/>
                <a:ext cx="704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63617E-B89D-4851-CB2A-B9A0F0D53429}"/>
                  </a:ext>
                </a:extLst>
              </p:cNvPr>
              <p:cNvSpPr txBox="1"/>
              <p:nvPr/>
            </p:nvSpPr>
            <p:spPr>
              <a:xfrm>
                <a:off x="6109813" y="13436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D7953CF-A42C-EB5C-0A96-E851A5097418}"/>
                </a:ext>
              </a:extLst>
            </p:cNvPr>
            <p:cNvGrpSpPr/>
            <p:nvPr/>
          </p:nvGrpSpPr>
          <p:grpSpPr>
            <a:xfrm>
              <a:off x="7453858" y="1033222"/>
              <a:ext cx="704152" cy="1111689"/>
              <a:chOff x="7355074" y="1202566"/>
              <a:chExt cx="704152" cy="1111689"/>
            </a:xfrm>
          </p:grpSpPr>
          <p:pic>
            <p:nvPicPr>
              <p:cNvPr id="20" name="Picture 4">
                <a:extLst>
                  <a:ext uri="{FF2B5EF4-FFF2-40B4-BE49-F238E27FC236}">
                    <a16:creationId xmlns:a16="http://schemas.microsoft.com/office/drawing/2014/main" id="{87DB2C64-B8BF-4272-2C33-EB78C246D9C7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307" y="1202566"/>
                <a:ext cx="547687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44A3E2-C023-E741-30B8-5B39E1D0872F}"/>
                  </a:ext>
                </a:extLst>
              </p:cNvPr>
              <p:cNvSpPr txBox="1"/>
              <p:nvPr/>
            </p:nvSpPr>
            <p:spPr>
              <a:xfrm>
                <a:off x="7355074" y="1944923"/>
                <a:ext cx="7041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TRT 3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210D6A-C1EE-8619-7A4A-1869378B06EA}"/>
                  </a:ext>
                </a:extLst>
              </p:cNvPr>
              <p:cNvSpPr txBox="1"/>
              <p:nvPr/>
            </p:nvSpPr>
            <p:spPr>
              <a:xfrm>
                <a:off x="7510034" y="134368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T</a:t>
                </a:r>
              </a:p>
            </p:txBody>
          </p:sp>
        </p:grpSp>
        <p:sp>
          <p:nvSpPr>
            <p:cNvPr id="23" name="Left Bracket 22">
              <a:extLst>
                <a:ext uri="{FF2B5EF4-FFF2-40B4-BE49-F238E27FC236}">
                  <a16:creationId xmlns:a16="http://schemas.microsoft.com/office/drawing/2014/main" id="{DA6A3F7B-E8F7-0614-B7CE-6A079CBC9206}"/>
                </a:ext>
              </a:extLst>
            </p:cNvPr>
            <p:cNvSpPr/>
            <p:nvPr/>
          </p:nvSpPr>
          <p:spPr>
            <a:xfrm rot="5400000" flipH="1">
              <a:off x="2355708" y="1071584"/>
              <a:ext cx="105833" cy="2576973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Left Bracket 23">
              <a:extLst>
                <a:ext uri="{FF2B5EF4-FFF2-40B4-BE49-F238E27FC236}">
                  <a16:creationId xmlns:a16="http://schemas.microsoft.com/office/drawing/2014/main" id="{082B4878-9D58-E5B6-FDDB-77D5058F74B9}"/>
                </a:ext>
              </a:extLst>
            </p:cNvPr>
            <p:cNvSpPr/>
            <p:nvPr/>
          </p:nvSpPr>
          <p:spPr>
            <a:xfrm rot="5400000" flipH="1">
              <a:off x="6464983" y="1071585"/>
              <a:ext cx="105833" cy="2576973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DDAA6FF-FC89-D58D-D6CD-0EFE31631E74}"/>
                </a:ext>
              </a:extLst>
            </p:cNvPr>
            <p:cNvSpPr txBox="1"/>
            <p:nvPr/>
          </p:nvSpPr>
          <p:spPr>
            <a:xfrm>
              <a:off x="1686035" y="2067451"/>
              <a:ext cx="1471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within groups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368432-7EFE-4A62-0FEE-79FB0C10D33E}"/>
                </a:ext>
              </a:extLst>
            </p:cNvPr>
            <p:cNvSpPr txBox="1"/>
            <p:nvPr/>
          </p:nvSpPr>
          <p:spPr>
            <a:xfrm>
              <a:off x="5782492" y="2067451"/>
              <a:ext cx="1471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within groups</a:t>
              </a:r>
            </a:p>
          </p:txBody>
        </p:sp>
        <p:sp>
          <p:nvSpPr>
            <p:cNvPr id="33" name="Left Bracket 32">
              <a:extLst>
                <a:ext uri="{FF2B5EF4-FFF2-40B4-BE49-F238E27FC236}">
                  <a16:creationId xmlns:a16="http://schemas.microsoft.com/office/drawing/2014/main" id="{AB4A0381-5FC0-3AC4-CCC3-671618E61B13}"/>
                </a:ext>
              </a:extLst>
            </p:cNvPr>
            <p:cNvSpPr/>
            <p:nvPr/>
          </p:nvSpPr>
          <p:spPr>
            <a:xfrm rot="5400000" flipH="1">
              <a:off x="4447073" y="494587"/>
              <a:ext cx="105834" cy="4241794"/>
            </a:xfrm>
            <a:prstGeom prst="leftBracke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1F51E4-D832-D8A8-FDFE-EC7A33129877}"/>
                </a:ext>
              </a:extLst>
            </p:cNvPr>
            <p:cNvSpPr txBox="1"/>
            <p:nvPr/>
          </p:nvSpPr>
          <p:spPr>
            <a:xfrm>
              <a:off x="3636647" y="2342621"/>
              <a:ext cx="1710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between groups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600350A6-96B9-0DD8-61DF-3AFE3E61CA6D}"/>
              </a:ext>
            </a:extLst>
          </p:cNvPr>
          <p:cNvSpPr txBox="1"/>
          <p:nvPr/>
        </p:nvSpPr>
        <p:spPr>
          <a:xfrm>
            <a:off x="196017" y="2695967"/>
            <a:ext cx="89356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Use </a:t>
            </a:r>
            <a:r>
              <a:rPr lang="en-US" sz="2800" b="1" i="1" dirty="0"/>
              <a:t>biological replication </a:t>
            </a:r>
            <a:r>
              <a:rPr lang="en-US" sz="2800" dirty="0"/>
              <a:t>instead of technical replication unless you have your own interest.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More replicates increase the power to detect small effect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D7421-F73D-CE4F-CF32-63DFEA43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99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106" y="78800"/>
            <a:ext cx="8229600" cy="5000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Question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116" y="785243"/>
            <a:ext cx="6475241" cy="39216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Goal: to identify the DEs between two biological groups</a:t>
            </a:r>
          </a:p>
          <a:p>
            <a:pPr marL="0" indent="0">
              <a:buNone/>
            </a:pPr>
            <a:r>
              <a:rPr lang="en-US" sz="2800" dirty="0"/>
              <a:t>Design: Each group has five biological replicates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To avoid messing up samples across groups. The experiment of each group was conducted separately.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Is this a sound experimental design? Why? </a:t>
            </a:r>
          </a:p>
        </p:txBody>
      </p:sp>
      <p:sp>
        <p:nvSpPr>
          <p:cNvPr id="4" name="Rectangle 3"/>
          <p:cNvSpPr/>
          <p:nvPr/>
        </p:nvSpPr>
        <p:spPr>
          <a:xfrm>
            <a:off x="7945682" y="1440270"/>
            <a:ext cx="517391" cy="5364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975813" y="1445858"/>
            <a:ext cx="457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Bio</a:t>
            </a:r>
          </a:p>
          <a:p>
            <a:r>
              <a:rPr lang="en-US" sz="1400" dirty="0"/>
              <a:t>TRT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945682" y="1957455"/>
            <a:ext cx="517391" cy="51643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945682" y="2461425"/>
            <a:ext cx="517391" cy="34093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945682" y="2794238"/>
            <a:ext cx="517391" cy="33098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938920" y="2042394"/>
            <a:ext cx="530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Bio</a:t>
            </a:r>
          </a:p>
          <a:p>
            <a:pPr algn="ctr"/>
            <a:r>
              <a:rPr lang="en-US" sz="1200" dirty="0"/>
              <a:t>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3302" y="2531816"/>
            <a:ext cx="4821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1212" y="280676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0820" y="3125223"/>
            <a:ext cx="1099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between groups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45682" y="2455156"/>
            <a:ext cx="517391" cy="106591"/>
          </a:xfrm>
          <a:prstGeom prst="rect">
            <a:avLst/>
          </a:prstGeom>
          <a:pattFill prst="trellis">
            <a:fgClr>
              <a:schemeClr val="accent4">
                <a:lumMod val="75000"/>
              </a:schemeClr>
            </a:fgClr>
            <a:bgClr>
              <a:prstClr val="white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rved Right Arrow 15"/>
          <p:cNvSpPr/>
          <p:nvPr/>
        </p:nvSpPr>
        <p:spPr>
          <a:xfrm flipH="1" flipV="1">
            <a:off x="8482716" y="1514754"/>
            <a:ext cx="224990" cy="1027321"/>
          </a:xfrm>
          <a:prstGeom prst="curved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6907752" y="2052077"/>
            <a:ext cx="945445" cy="1691651"/>
            <a:chOff x="4237273" y="3695488"/>
            <a:chExt cx="945445" cy="1691651"/>
          </a:xfrm>
        </p:grpSpPr>
        <p:sp>
          <p:nvSpPr>
            <p:cNvPr id="18" name="Rectangle 17"/>
            <p:cNvSpPr/>
            <p:nvPr/>
          </p:nvSpPr>
          <p:spPr>
            <a:xfrm>
              <a:off x="4451300" y="3695488"/>
              <a:ext cx="517391" cy="51643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51300" y="4205158"/>
              <a:ext cx="517391" cy="22093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451300" y="4417972"/>
              <a:ext cx="517391" cy="3309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17130" y="3701399"/>
              <a:ext cx="5857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Bio</a:t>
              </a:r>
            </a:p>
            <a:p>
              <a:pPr algn="ctr"/>
              <a:r>
                <a:rPr lang="en-US" sz="1400" dirty="0"/>
                <a:t>other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69531" y="4164013"/>
              <a:ext cx="4821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Tech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348358" y="4409328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Sample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37273" y="4740808"/>
              <a:ext cx="9454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within groups</a:t>
              </a:r>
            </a:p>
          </p:txBody>
        </p:sp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9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84" y="41436"/>
            <a:ext cx="8229600" cy="57908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Comparison of read counts among different samples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617149" y="667034"/>
            <a:ext cx="1052429" cy="1111689"/>
            <a:chOff x="646340" y="1202566"/>
            <a:chExt cx="1052429" cy="1111689"/>
          </a:xfrm>
        </p:grpSpPr>
        <p:pic>
          <p:nvPicPr>
            <p:cNvPr id="9" name="Picture 4"/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8711" y="1202566"/>
              <a:ext cx="54768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646340" y="1944923"/>
              <a:ext cx="1052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Control 1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436787" y="667034"/>
            <a:ext cx="704152" cy="1111689"/>
            <a:chOff x="4653217" y="1202566"/>
            <a:chExt cx="704152" cy="1111689"/>
          </a:xfrm>
        </p:grpSpPr>
        <p:pic>
          <p:nvPicPr>
            <p:cNvPr id="10" name="Picture 4"/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450" y="1202566"/>
              <a:ext cx="54768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4653217" y="1944923"/>
              <a:ext cx="704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TRT 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08177" y="13436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848027" y="667034"/>
            <a:ext cx="1052429" cy="1111689"/>
            <a:chOff x="1872345" y="1202566"/>
            <a:chExt cx="1052429" cy="1111689"/>
          </a:xfrm>
        </p:grpSpPr>
        <p:pic>
          <p:nvPicPr>
            <p:cNvPr id="13" name="Picture 4"/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4716" y="1202566"/>
              <a:ext cx="54768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1872345" y="1944923"/>
              <a:ext cx="1052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Control 2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070438" y="667034"/>
            <a:ext cx="1052429" cy="1111689"/>
            <a:chOff x="3155296" y="1202566"/>
            <a:chExt cx="1052429" cy="1111689"/>
          </a:xfrm>
        </p:grpSpPr>
        <p:pic>
          <p:nvPicPr>
            <p:cNvPr id="15" name="Picture 4"/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7667" y="1202566"/>
              <a:ext cx="54768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Box 15"/>
            <p:cNvSpPr txBox="1"/>
            <p:nvPr/>
          </p:nvSpPr>
          <p:spPr>
            <a:xfrm>
              <a:off x="3155296" y="1944923"/>
              <a:ext cx="1052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Control 3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641134" y="667034"/>
            <a:ext cx="704152" cy="1111689"/>
            <a:chOff x="5954853" y="1202566"/>
            <a:chExt cx="704152" cy="1111689"/>
          </a:xfrm>
        </p:grpSpPr>
        <p:pic>
          <p:nvPicPr>
            <p:cNvPr id="17" name="Picture 4"/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3086" y="1202566"/>
              <a:ext cx="54768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/>
            <p:cNvSpPr txBox="1"/>
            <p:nvPr/>
          </p:nvSpPr>
          <p:spPr>
            <a:xfrm>
              <a:off x="5954853" y="1944923"/>
              <a:ext cx="704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TRT 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109813" y="13436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879348" y="667034"/>
            <a:ext cx="704152" cy="1111689"/>
            <a:chOff x="7355074" y="1202566"/>
            <a:chExt cx="704152" cy="1111689"/>
          </a:xfrm>
        </p:grpSpPr>
        <p:pic>
          <p:nvPicPr>
            <p:cNvPr id="20" name="Picture 4"/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3307" y="1202566"/>
              <a:ext cx="54768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7355074" y="1944923"/>
              <a:ext cx="704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TRT 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10034" y="13436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</a:t>
              </a:r>
            </a:p>
          </p:txBody>
        </p:sp>
      </p:grpSp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82596"/>
              </p:ext>
            </p:extLst>
          </p:nvPr>
        </p:nvGraphicFramePr>
        <p:xfrm>
          <a:off x="457200" y="2053524"/>
          <a:ext cx="8365067" cy="861060"/>
        </p:xfrm>
        <a:graphic>
          <a:graphicData uri="http://schemas.openxmlformats.org/drawingml/2006/table">
            <a:tbl>
              <a:tblPr/>
              <a:tblGrid>
                <a:gridCol w="1033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1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5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 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C2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C3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T2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T3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2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Sum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N1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N2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N3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N4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N5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N6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9928" y="3320018"/>
            <a:ext cx="8186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Sequence depth (total read number) influences read counts. Therefore, raw read counts can not be compared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541" y="4197529"/>
            <a:ext cx="896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>
                <a:solidFill>
                  <a:srgbClr val="FF0000"/>
                </a:solidFill>
              </a:rPr>
              <a:t>Can we generate some comparable numbers among samples?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71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269" y="50631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normalization</a:t>
            </a:r>
            <a:r>
              <a:rPr lang="en-US" sz="3200" dirty="0"/>
              <a:t> method: RPKM and FPKM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28" y="704255"/>
            <a:ext cx="9013772" cy="495299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17375E"/>
                </a:solidFill>
              </a:rPr>
              <a:t>RPKM</a:t>
            </a:r>
            <a:r>
              <a:rPr lang="en-US" sz="2400" dirty="0"/>
              <a:t>: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Read</a:t>
            </a:r>
            <a:r>
              <a:rPr lang="en-US" sz="2400" dirty="0"/>
              <a:t> number per </a:t>
            </a:r>
            <a:r>
              <a:rPr lang="en-US" sz="2400" dirty="0" err="1"/>
              <a:t>kilobase</a:t>
            </a:r>
            <a:r>
              <a:rPr lang="en-US" sz="2400" dirty="0"/>
              <a:t> of exons per million of total reads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784975" y="2143414"/>
            <a:ext cx="1505800" cy="13141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2290774" y="2143415"/>
            <a:ext cx="651932" cy="1314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2942707" y="2143483"/>
            <a:ext cx="1639567" cy="131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/>
          <p:cNvGrpSpPr/>
          <p:nvPr/>
        </p:nvGrpSpPr>
        <p:grpSpPr>
          <a:xfrm>
            <a:off x="852401" y="1911746"/>
            <a:ext cx="3729873" cy="6350"/>
            <a:chOff x="3299576" y="3971925"/>
            <a:chExt cx="3729873" cy="635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3299576" y="3975100"/>
              <a:ext cx="47867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787900" y="3975100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803651" y="3975100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4375150" y="3975100"/>
              <a:ext cx="35645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389881" y="3975100"/>
              <a:ext cx="16001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5591926" y="3975100"/>
              <a:ext cx="47867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6096001" y="3975100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6661149" y="3971925"/>
              <a:ext cx="368300" cy="635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/>
          <p:cNvGrpSpPr/>
          <p:nvPr/>
        </p:nvGrpSpPr>
        <p:grpSpPr>
          <a:xfrm>
            <a:off x="784976" y="2046155"/>
            <a:ext cx="3804499" cy="0"/>
            <a:chOff x="3232151" y="4073525"/>
            <a:chExt cx="3804499" cy="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232151" y="4073525"/>
              <a:ext cx="54610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829051" y="4073525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4427162" y="4073525"/>
              <a:ext cx="30443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89881" y="4073525"/>
              <a:ext cx="242513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4787900" y="4073525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5683251" y="4073525"/>
              <a:ext cx="54610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6280151" y="4073525"/>
              <a:ext cx="43814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6732212" y="4073525"/>
              <a:ext cx="30443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/>
          <p:cNvGrpSpPr/>
          <p:nvPr/>
        </p:nvGrpSpPr>
        <p:grpSpPr>
          <a:xfrm>
            <a:off x="1055600" y="1783688"/>
            <a:ext cx="3483074" cy="0"/>
            <a:chOff x="3502776" y="3873500"/>
            <a:chExt cx="3483074" cy="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3502776" y="387350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992937" y="387350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4482738" y="3873500"/>
              <a:ext cx="242513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389882" y="3873500"/>
              <a:ext cx="35686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787901" y="3873500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5780002" y="387350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6226924" y="387350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6681412" y="3873500"/>
              <a:ext cx="30443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>
            <a:off x="1191374" y="1655630"/>
            <a:ext cx="2921000" cy="0"/>
            <a:chOff x="3638550" y="3752850"/>
            <a:chExt cx="2921000" cy="0"/>
          </a:xfrm>
        </p:grpSpPr>
        <p:cxnSp>
          <p:nvCxnSpPr>
            <p:cNvPr id="68" name="Straight Connector 67"/>
            <p:cNvCxnSpPr/>
            <p:nvPr/>
          </p:nvCxnSpPr>
          <p:spPr>
            <a:xfrm>
              <a:off x="3638550" y="3752850"/>
              <a:ext cx="298451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3992937" y="3752850"/>
              <a:ext cx="356813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4375150" y="3752850"/>
              <a:ext cx="350101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89882" y="3752850"/>
              <a:ext cx="242512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87901" y="3752850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5661776" y="375285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6125325" y="375285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1816099" y="1191048"/>
            <a:ext cx="1656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count = </a:t>
            </a:r>
            <a:r>
              <a:rPr lang="en-US" b="1" dirty="0">
                <a:solidFill>
                  <a:srgbClr val="17375E"/>
                </a:solidFill>
              </a:rP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8761" y="1216965"/>
            <a:ext cx="105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1</a:t>
            </a:r>
          </a:p>
        </p:txBody>
      </p:sp>
      <p:sp>
        <p:nvSpPr>
          <p:cNvPr id="89" name="Rectangle 88"/>
          <p:cNvSpPr/>
          <p:nvPr/>
        </p:nvSpPr>
        <p:spPr>
          <a:xfrm flipV="1">
            <a:off x="819149" y="3543733"/>
            <a:ext cx="1505800" cy="13141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 flipV="1">
            <a:off x="2324948" y="3543734"/>
            <a:ext cx="651932" cy="1314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 flipV="1">
            <a:off x="2976881" y="3543802"/>
            <a:ext cx="1639567" cy="131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/>
          <p:cNvGrpSpPr/>
          <p:nvPr/>
        </p:nvGrpSpPr>
        <p:grpSpPr>
          <a:xfrm>
            <a:off x="886575" y="3312065"/>
            <a:ext cx="3729873" cy="6350"/>
            <a:chOff x="3299576" y="3971925"/>
            <a:chExt cx="3729873" cy="6350"/>
          </a:xfrm>
        </p:grpSpPr>
        <p:cxnSp>
          <p:nvCxnSpPr>
            <p:cNvPr id="93" name="Straight Connector 92"/>
            <p:cNvCxnSpPr/>
            <p:nvPr/>
          </p:nvCxnSpPr>
          <p:spPr>
            <a:xfrm>
              <a:off x="3299576" y="3975100"/>
              <a:ext cx="47867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87900" y="3975100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3803651" y="3975100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4375150" y="3975100"/>
              <a:ext cx="35645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5389881" y="3975100"/>
              <a:ext cx="16001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5591926" y="3975100"/>
              <a:ext cx="47867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6096001" y="3975100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6661149" y="3971925"/>
              <a:ext cx="368300" cy="635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/>
          <p:cNvGrpSpPr/>
          <p:nvPr/>
        </p:nvGrpSpPr>
        <p:grpSpPr>
          <a:xfrm>
            <a:off x="819150" y="3446474"/>
            <a:ext cx="3804499" cy="0"/>
            <a:chOff x="3232151" y="4073525"/>
            <a:chExt cx="3804499" cy="0"/>
          </a:xfrm>
        </p:grpSpPr>
        <p:cxnSp>
          <p:nvCxnSpPr>
            <p:cNvPr id="102" name="Straight Connector 101"/>
            <p:cNvCxnSpPr/>
            <p:nvPr/>
          </p:nvCxnSpPr>
          <p:spPr>
            <a:xfrm>
              <a:off x="3232151" y="4073525"/>
              <a:ext cx="54610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3829051" y="4073525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4427162" y="4073525"/>
              <a:ext cx="30443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5389881" y="4073525"/>
              <a:ext cx="242513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4787900" y="4073525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5683251" y="4073525"/>
              <a:ext cx="54610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6280151" y="4073525"/>
              <a:ext cx="43814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6732212" y="4073525"/>
              <a:ext cx="30443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Group 109"/>
          <p:cNvGrpSpPr/>
          <p:nvPr/>
        </p:nvGrpSpPr>
        <p:grpSpPr>
          <a:xfrm>
            <a:off x="1089774" y="3184007"/>
            <a:ext cx="3483074" cy="0"/>
            <a:chOff x="3502776" y="3873500"/>
            <a:chExt cx="3483074" cy="0"/>
          </a:xfrm>
        </p:grpSpPr>
        <p:cxnSp>
          <p:nvCxnSpPr>
            <p:cNvPr id="111" name="Straight Connector 110"/>
            <p:cNvCxnSpPr/>
            <p:nvPr/>
          </p:nvCxnSpPr>
          <p:spPr>
            <a:xfrm>
              <a:off x="3502776" y="387350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3992937" y="387350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>
              <a:off x="4482738" y="3873500"/>
              <a:ext cx="242513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5389882" y="3873500"/>
              <a:ext cx="35686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87901" y="3873500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5780002" y="387350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6226924" y="3873500"/>
              <a:ext cx="43422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6681412" y="3873500"/>
              <a:ext cx="30443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TextBox 126"/>
          <p:cNvSpPr txBox="1"/>
          <p:nvPr/>
        </p:nvSpPr>
        <p:spPr>
          <a:xfrm>
            <a:off x="744377" y="3681500"/>
            <a:ext cx="16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exon 1 (</a:t>
            </a:r>
            <a:r>
              <a:rPr lang="en-US" b="1" dirty="0">
                <a:solidFill>
                  <a:srgbClr val="17375E"/>
                </a:solidFill>
              </a:rPr>
              <a:t>220 </a:t>
            </a:r>
            <a:r>
              <a:rPr lang="en-US" b="1" dirty="0" err="1">
                <a:solidFill>
                  <a:srgbClr val="17375E"/>
                </a:solidFill>
              </a:rPr>
              <a:t>bp</a:t>
            </a:r>
            <a:r>
              <a:rPr lang="en-US" dirty="0"/>
              <a:t>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966951" y="3681500"/>
            <a:ext cx="1668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 2 (</a:t>
            </a:r>
            <a:r>
              <a:rPr lang="en-US" b="1" dirty="0">
                <a:solidFill>
                  <a:srgbClr val="17375E"/>
                </a:solidFill>
              </a:rPr>
              <a:t>280 </a:t>
            </a:r>
            <a:r>
              <a:rPr lang="en-US" b="1" dirty="0" err="1">
                <a:solidFill>
                  <a:srgbClr val="17375E"/>
                </a:solidFill>
              </a:rPr>
              <a:t>bp</a:t>
            </a:r>
            <a:r>
              <a:rPr lang="en-US" dirty="0"/>
              <a:t>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833575" y="2737417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count = </a:t>
            </a:r>
            <a:r>
              <a:rPr lang="en-US" b="1" dirty="0">
                <a:solidFill>
                  <a:srgbClr val="17375E"/>
                </a:solidFill>
              </a:rPr>
              <a:t>18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8367" y="2737417"/>
            <a:ext cx="1347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Treatment 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920348" y="1191048"/>
            <a:ext cx="3790521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total reads: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15 millions </a:t>
            </a:r>
            <a:r>
              <a:rPr lang="en-US" dirty="0"/>
              <a:t>of total reads</a:t>
            </a:r>
          </a:p>
          <a:p>
            <a:pPr>
              <a:lnSpc>
                <a:spcPct val="150000"/>
              </a:lnSpc>
            </a:pPr>
            <a:r>
              <a:rPr lang="en-US" dirty="0"/>
              <a:t>RPKM of X = 23 * 1000 / 500 / 15 = </a:t>
            </a:r>
            <a:r>
              <a:rPr lang="en-US" b="1" dirty="0">
                <a:solidFill>
                  <a:srgbClr val="008000"/>
                </a:solidFill>
              </a:rPr>
              <a:t>3.1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920347" y="2656627"/>
            <a:ext cx="3853940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total reads: </a:t>
            </a:r>
            <a:r>
              <a:rPr lang="en-US" b="1" dirty="0">
                <a:solidFill>
                  <a:srgbClr val="17375E"/>
                </a:solidFill>
              </a:rPr>
              <a:t>10 millions </a:t>
            </a:r>
            <a:r>
              <a:rPr lang="en-US" dirty="0"/>
              <a:t>of total reads</a:t>
            </a:r>
          </a:p>
          <a:p>
            <a:pPr>
              <a:lnSpc>
                <a:spcPct val="150000"/>
              </a:lnSpc>
            </a:pPr>
            <a:r>
              <a:rPr lang="en-US" dirty="0"/>
              <a:t>RPKM of X = 18 * 1000 / 500 / 10 = </a:t>
            </a:r>
            <a:r>
              <a:rPr lang="en-US" b="1" dirty="0">
                <a:solidFill>
                  <a:srgbClr val="008000"/>
                </a:solidFill>
              </a:rPr>
              <a:t>3.6</a:t>
            </a:r>
            <a:r>
              <a:rPr lang="en-US" dirty="0"/>
              <a:t> </a:t>
            </a:r>
          </a:p>
        </p:txBody>
      </p:sp>
      <p:sp>
        <p:nvSpPr>
          <p:cNvPr id="136" name="Content Placeholder 2"/>
          <p:cNvSpPr txBox="1">
            <a:spLocks/>
          </p:cNvSpPr>
          <p:nvPr/>
        </p:nvSpPr>
        <p:spPr>
          <a:xfrm>
            <a:off x="650831" y="4343152"/>
            <a:ext cx="6692058" cy="4305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7375E"/>
                </a:solidFill>
              </a:rPr>
              <a:t>RPM</a:t>
            </a:r>
            <a:r>
              <a:rPr lang="en-US" sz="2400" dirty="0"/>
              <a:t>: number per million of total reads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8333" y="1783689"/>
            <a:ext cx="2006600" cy="2624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180668" y="3252071"/>
            <a:ext cx="1921934" cy="26246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32</a:t>
            </a:fld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757074" y="2290723"/>
            <a:ext cx="16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exon 1 (</a:t>
            </a:r>
            <a:r>
              <a:rPr lang="en-US" b="1" dirty="0">
                <a:solidFill>
                  <a:srgbClr val="17375E"/>
                </a:solidFill>
              </a:rPr>
              <a:t>220 </a:t>
            </a:r>
            <a:r>
              <a:rPr lang="en-US" b="1" dirty="0" err="1">
                <a:solidFill>
                  <a:srgbClr val="17375E"/>
                </a:solidFill>
              </a:rPr>
              <a:t>bp</a:t>
            </a:r>
            <a:r>
              <a:rPr lang="en-US" dirty="0"/>
              <a:t>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9648" y="2290723"/>
            <a:ext cx="1668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 2 (</a:t>
            </a:r>
            <a:r>
              <a:rPr lang="en-US" b="1" dirty="0">
                <a:solidFill>
                  <a:srgbClr val="17375E"/>
                </a:solidFill>
              </a:rPr>
              <a:t>280 </a:t>
            </a:r>
            <a:r>
              <a:rPr lang="en-US" b="1" dirty="0" err="1">
                <a:solidFill>
                  <a:srgbClr val="17375E"/>
                </a:solidFill>
              </a:rPr>
              <a:t>bp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654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8" grpId="0" animBg="1"/>
      <p:bldP spid="1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992"/>
            <a:ext cx="8229600" cy="719690"/>
          </a:xfrm>
        </p:spPr>
        <p:txBody>
          <a:bodyPr>
            <a:noAutofit/>
          </a:bodyPr>
          <a:lstStyle/>
          <a:p>
            <a:r>
              <a:rPr lang="en-US" sz="3200" dirty="0"/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3" y="942975"/>
            <a:ext cx="7644394" cy="3607594"/>
          </a:xfrm>
        </p:spPr>
        <p:txBody>
          <a:bodyPr>
            <a:noAutofit/>
          </a:bodyPr>
          <a:lstStyle/>
          <a:p>
            <a:r>
              <a:rPr lang="en-US" sz="2600" b="1" dirty="0">
                <a:solidFill>
                  <a:schemeClr val="accent2">
                    <a:lumMod val="50000"/>
                  </a:schemeClr>
                </a:solidFill>
              </a:rPr>
              <a:t>Sequencing depth</a:t>
            </a:r>
          </a:p>
          <a:p>
            <a:pPr marL="0" indent="0">
              <a:buNone/>
            </a:pPr>
            <a:r>
              <a:rPr lang="en-US" sz="2400" dirty="0"/>
              <a:t>Increasing sequencing depth decreases sampling variance</a:t>
            </a:r>
          </a:p>
          <a:p>
            <a:r>
              <a:rPr lang="en-US" sz="2600" b="1" dirty="0">
                <a:solidFill>
                  <a:schemeClr val="accent2">
                    <a:lumMod val="50000"/>
                  </a:schemeClr>
                </a:solidFill>
              </a:rPr>
              <a:t>Biological replication</a:t>
            </a:r>
          </a:p>
          <a:p>
            <a:pPr marL="0" indent="0">
              <a:buNone/>
            </a:pPr>
            <a:r>
              <a:rPr lang="en-US" sz="2400" dirty="0"/>
              <a:t>Reasonable number of biological replication helps accurately estimate variances to achieve reliable statistical inference.</a:t>
            </a:r>
          </a:p>
          <a:p>
            <a:r>
              <a:rPr lang="en-US" sz="2600" b="1" dirty="0">
                <a:solidFill>
                  <a:schemeClr val="accent2">
                    <a:lumMod val="50000"/>
                  </a:schemeClr>
                </a:solidFill>
              </a:rPr>
              <a:t>Randomization and </a:t>
            </a:r>
            <a:r>
              <a:rPr lang="en-US" sz="2600" b="1" dirty="0" err="1">
                <a:solidFill>
                  <a:schemeClr val="accent2">
                    <a:lumMod val="50000"/>
                  </a:schemeClr>
                </a:solidFill>
              </a:rPr>
              <a:t>unbiasedness</a:t>
            </a:r>
            <a:endParaRPr lang="en-US" sz="26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/>
              <a:t>To avoid confounding effect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8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F809C-AD1E-1DBB-7613-4F35E8F5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28CE-EB1F-244B-E17F-27373ECC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670E5-BBF8-9D9A-FE3E-72B6E4E36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815" y="1282660"/>
            <a:ext cx="7136063" cy="2934229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RNA-seq procedure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Statistical test of differential expression</a:t>
            </a:r>
          </a:p>
          <a:p>
            <a:pPr>
              <a:lnSpc>
                <a:spcPct val="120000"/>
              </a:lnSpc>
            </a:pPr>
            <a:r>
              <a:rPr lang="en-US" dirty="0"/>
              <a:t>Multiple testing correction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RNA-seq data processing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Gene ontology (GO) enrichment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0FE68-4DCD-B835-20FF-A5E96D5E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64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84210"/>
              </p:ext>
            </p:extLst>
          </p:nvPr>
        </p:nvGraphicFramePr>
        <p:xfrm>
          <a:off x="1898650" y="851693"/>
          <a:ext cx="5346699" cy="3543302"/>
        </p:xfrm>
        <a:graphic>
          <a:graphicData uri="http://schemas.openxmlformats.org/drawingml/2006/table">
            <a:tbl>
              <a:tblPr/>
              <a:tblGrid>
                <a:gridCol w="160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 Result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GeneID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Log2</a:t>
                      </a: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C*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p-value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2.42E-05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0.130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87447" y="4454427"/>
            <a:ext cx="5688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* Log2FC: log2 of fold change (TRT / control)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7200" y="102393"/>
            <a:ext cx="8229600" cy="749300"/>
          </a:xfrm>
        </p:spPr>
        <p:txBody>
          <a:bodyPr>
            <a:normAutofit/>
          </a:bodyPr>
          <a:lstStyle/>
          <a:p>
            <a:r>
              <a:rPr lang="en-US" sz="3200" dirty="0"/>
              <a:t>DE result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779CB8-D224-CE7D-DB02-CAE17E977123}"/>
              </a:ext>
            </a:extLst>
          </p:cNvPr>
          <p:cNvGrpSpPr/>
          <p:nvPr/>
        </p:nvGrpSpPr>
        <p:grpSpPr>
          <a:xfrm>
            <a:off x="6738516" y="1619480"/>
            <a:ext cx="585417" cy="1352562"/>
            <a:chOff x="6659932" y="1619480"/>
            <a:chExt cx="585417" cy="13525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9756A8E-7617-4C05-8538-A9535DAFBA5F}"/>
                    </a:ext>
                  </a:extLst>
                </p:cNvPr>
                <p:cNvSpPr txBox="1"/>
                <p:nvPr/>
              </p:nvSpPr>
              <p:spPr>
                <a:xfrm>
                  <a:off x="6659932" y="1619480"/>
                  <a:ext cx="5854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9756A8E-7617-4C05-8538-A9535DAFB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9932" y="1619480"/>
                  <a:ext cx="585417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128" r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405F773-FA86-847A-3871-5053A969F303}"/>
                    </a:ext>
                  </a:extLst>
                </p:cNvPr>
                <p:cNvSpPr txBox="1"/>
                <p:nvPr/>
              </p:nvSpPr>
              <p:spPr>
                <a:xfrm>
                  <a:off x="6659932" y="2387267"/>
                  <a:ext cx="5854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405F773-FA86-847A-3871-5053A969F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9932" y="2387267"/>
                  <a:ext cx="585417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128" r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3839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7200" y="-4622"/>
            <a:ext cx="8229600" cy="906462"/>
          </a:xfrm>
        </p:spPr>
        <p:txBody>
          <a:bodyPr/>
          <a:lstStyle/>
          <a:p>
            <a:pPr rtl="0" eaLnBrk="1" latinLnBrk="0" hangingPunct="1"/>
            <a:r>
              <a:rPr lang="en-US" sz="32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Single statistical test</a:t>
            </a:r>
            <a:endParaRPr lang="en-US" dirty="0">
              <a:effectLst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526676" y="3752850"/>
            <a:ext cx="6731000" cy="0"/>
          </a:xfrm>
          <a:prstGeom prst="line">
            <a:avLst/>
          </a:prstGeom>
          <a:ln w="571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43348" y="3752850"/>
            <a:ext cx="366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348" y="3752850"/>
            <a:ext cx="366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1875104" y="2495550"/>
            <a:ext cx="0" cy="125730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79847" y="1986519"/>
            <a:ext cx="1196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p</a:t>
            </a:r>
            <a:r>
              <a:rPr lang="en-US" sz="2400" dirty="0"/>
              <a:t> = 0.05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36</a:t>
            </a:fld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6809876" y="3194050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469040" y="2520950"/>
            <a:ext cx="1971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8000"/>
                </a:solidFill>
              </a:rPr>
              <a:t>not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9847" y="1030481"/>
            <a:ext cx="3536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H0: the null hypothesis</a:t>
            </a:r>
          </a:p>
        </p:txBody>
      </p:sp>
    </p:spTree>
    <p:extLst>
      <p:ext uri="{BB962C8B-B14F-4D97-AF65-F5344CB8AC3E}">
        <p14:creationId xmlns:p14="http://schemas.microsoft.com/office/powerpoint/2010/main" val="10400941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7200" y="42069"/>
            <a:ext cx="8229600" cy="906462"/>
          </a:xfrm>
        </p:spPr>
        <p:txBody>
          <a:bodyPr/>
          <a:lstStyle/>
          <a:p>
            <a:pPr rtl="0" eaLnBrk="1" latinLnBrk="0" hangingPunct="1"/>
            <a:r>
              <a:rPr lang="en-US" sz="32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Single statistical test</a:t>
            </a:r>
            <a:endParaRPr lang="en-US" dirty="0">
              <a:effectLst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526676" y="3752850"/>
            <a:ext cx="6731000" cy="0"/>
          </a:xfrm>
          <a:prstGeom prst="line">
            <a:avLst/>
          </a:prstGeom>
          <a:ln w="571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43348" y="3752850"/>
            <a:ext cx="366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348" y="3752850"/>
            <a:ext cx="366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1519504" y="3194050"/>
            <a:ext cx="330200" cy="330200"/>
          </a:xfrm>
          <a:prstGeom prst="ellipse">
            <a:avLst/>
          </a:prstGeom>
          <a:solidFill>
            <a:srgbClr val="FF0000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1875104" y="2495550"/>
            <a:ext cx="0" cy="125730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79847" y="1986519"/>
            <a:ext cx="1196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p</a:t>
            </a:r>
            <a:r>
              <a:rPr lang="en-US" sz="2400" dirty="0"/>
              <a:t> = 0.05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37</a:t>
            </a:fld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57200" y="2556530"/>
            <a:ext cx="1392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9847" y="991349"/>
            <a:ext cx="3536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H0: the null hypothesis</a:t>
            </a:r>
          </a:p>
        </p:txBody>
      </p:sp>
    </p:spTree>
    <p:extLst>
      <p:ext uri="{BB962C8B-B14F-4D97-AF65-F5344CB8AC3E}">
        <p14:creationId xmlns:p14="http://schemas.microsoft.com/office/powerpoint/2010/main" val="144761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455" y="4091579"/>
            <a:ext cx="8876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"A p-value is </a:t>
            </a:r>
            <a:r>
              <a:rPr lang="en-US" sz="2400" b="1" dirty="0"/>
              <a:t>ONLY</a:t>
            </a:r>
            <a:r>
              <a:rPr lang="en-US" sz="2400" dirty="0"/>
              <a:t> statistically valid when a single score is computed."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7200" y="90437"/>
            <a:ext cx="8229600" cy="906462"/>
          </a:xfrm>
        </p:spPr>
        <p:txBody>
          <a:bodyPr/>
          <a:lstStyle/>
          <a:p>
            <a:pPr rtl="0" eaLnBrk="1" latinLnBrk="0" hangingPunct="1"/>
            <a:r>
              <a:rPr lang="en-US" sz="32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Multiple testing correction</a:t>
            </a:r>
            <a:endParaRPr lang="en-US" dirty="0">
              <a:effectLst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241639" y="2786913"/>
            <a:ext cx="6731000" cy="0"/>
          </a:xfrm>
          <a:prstGeom prst="line">
            <a:avLst/>
          </a:prstGeom>
          <a:ln w="5715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8311" y="2786913"/>
            <a:ext cx="366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89311" y="2786913"/>
            <a:ext cx="366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72339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28167" y="3048523"/>
            <a:ext cx="6059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p-value when a </a:t>
            </a:r>
            <a:r>
              <a:rPr lang="en-US" sz="2800" dirty="0">
                <a:solidFill>
                  <a:srgbClr val="FF0000"/>
                </a:solidFill>
              </a:rPr>
              <a:t>NULL</a:t>
            </a:r>
            <a:r>
              <a:rPr lang="en-US" sz="2800" dirty="0"/>
              <a:t> hypothesis is true</a:t>
            </a:r>
          </a:p>
        </p:txBody>
      </p:sp>
      <p:sp>
        <p:nvSpPr>
          <p:cNvPr id="10" name="Oval 9"/>
          <p:cNvSpPr/>
          <p:nvPr/>
        </p:nvSpPr>
        <p:spPr>
          <a:xfrm>
            <a:off x="6969472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816439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340439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921339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886539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079839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045039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234467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325205" y="2228113"/>
            <a:ext cx="330200" cy="330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C2C4FC7-AC72-2C18-D8F8-3A957A0C1640}"/>
              </a:ext>
            </a:extLst>
          </p:cNvPr>
          <p:cNvGrpSpPr/>
          <p:nvPr/>
        </p:nvGrpSpPr>
        <p:grpSpPr>
          <a:xfrm>
            <a:off x="994810" y="1020582"/>
            <a:ext cx="1196436" cy="1766331"/>
            <a:chOff x="994810" y="1020582"/>
            <a:chExt cx="1196436" cy="1766331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590067" y="1529613"/>
              <a:ext cx="0" cy="125730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994810" y="1020582"/>
              <a:ext cx="1196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p</a:t>
              </a:r>
              <a:r>
                <a:rPr lang="en-US" sz="2400" dirty="0"/>
                <a:t> = 0.05</a:t>
              </a:r>
            </a:p>
          </p:txBody>
        </p:sp>
      </p:grp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7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CD80-752F-41C1-2939-9E4A16D3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096CAE-088B-9868-02EA-6A194FABA773}"/>
              </a:ext>
            </a:extLst>
          </p:cNvPr>
          <p:cNvGraphicFramePr>
            <a:graphicFrameLocks noGrp="1"/>
          </p:cNvGraphicFramePr>
          <p:nvPr/>
        </p:nvGraphicFramePr>
        <p:xfrm>
          <a:off x="1898650" y="851693"/>
          <a:ext cx="5346699" cy="3543302"/>
        </p:xfrm>
        <a:graphic>
          <a:graphicData uri="http://schemas.openxmlformats.org/drawingml/2006/table">
            <a:tbl>
              <a:tblPr/>
              <a:tblGrid>
                <a:gridCol w="160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 Result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GeneID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Log2</a:t>
                      </a: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C*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p-value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0.916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-0.89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2.42E-05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0.130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-0.36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0.140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-0.07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0.811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391F61-CC24-6534-4054-17FAC07F8687}"/>
              </a:ext>
            </a:extLst>
          </p:cNvPr>
          <p:cNvSpPr txBox="1"/>
          <p:nvPr/>
        </p:nvSpPr>
        <p:spPr>
          <a:xfrm>
            <a:off x="1787447" y="4454427"/>
            <a:ext cx="5688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* Log2FC: log2 of fold change (TRT / control)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57B6D4-5FC8-5BB1-9610-03757729B9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102393"/>
            <a:ext cx="8229600" cy="749300"/>
          </a:xfrm>
        </p:spPr>
        <p:txBody>
          <a:bodyPr>
            <a:normAutofit/>
          </a:bodyPr>
          <a:lstStyle/>
          <a:p>
            <a:r>
              <a:rPr lang="en-US" sz="3200" dirty="0"/>
              <a:t>DE result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EEB5-9A95-377B-7505-6E62EA66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39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722EF7-8C4E-6EDC-467A-58A86363A3EA}"/>
              </a:ext>
            </a:extLst>
          </p:cNvPr>
          <p:cNvGrpSpPr/>
          <p:nvPr/>
        </p:nvGrpSpPr>
        <p:grpSpPr>
          <a:xfrm>
            <a:off x="6738516" y="1765069"/>
            <a:ext cx="585417" cy="1206973"/>
            <a:chOff x="6659932" y="1765069"/>
            <a:chExt cx="585417" cy="12069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8C4325-B1B1-E6C7-5C5A-9362DCC6D202}"/>
                    </a:ext>
                  </a:extLst>
                </p:cNvPr>
                <p:cNvSpPr txBox="1"/>
                <p:nvPr/>
              </p:nvSpPr>
              <p:spPr>
                <a:xfrm>
                  <a:off x="6664983" y="1765069"/>
                  <a:ext cx="47320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☓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28C4325-B1B1-E6C7-5C5A-9362DCC6D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4983" y="1765069"/>
                  <a:ext cx="473206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8802DC0-8636-8A37-DD1D-5E2C4C30CA74}"/>
                    </a:ext>
                  </a:extLst>
                </p:cNvPr>
                <p:cNvSpPr txBox="1"/>
                <p:nvPr/>
              </p:nvSpPr>
              <p:spPr>
                <a:xfrm>
                  <a:off x="6659932" y="2387267"/>
                  <a:ext cx="5854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✓</m:t>
                        </m:r>
                      </m:oMath>
                    </m:oMathPara>
                  </a14:m>
                  <a:endParaRPr lang="en-US" sz="3200" dirty="0">
                    <a:solidFill>
                      <a:schemeClr val="accent3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8802DC0-8636-8A37-DD1D-5E2C4C30C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9932" y="2387267"/>
                  <a:ext cx="585417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2128" r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9034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903640"/>
          </a:xfrm>
        </p:spPr>
        <p:txBody>
          <a:bodyPr>
            <a:noAutofit/>
          </a:bodyPr>
          <a:lstStyle/>
          <a:p>
            <a:r>
              <a:rPr lang="en-US" sz="3200" dirty="0"/>
              <a:t>P-value distribution under the null hypothesis (e.g., no treatment effect)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43" y="1033900"/>
            <a:ext cx="3522660" cy="3522660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/>
        </p:nvCxnSpPr>
        <p:spPr>
          <a:xfrm>
            <a:off x="1427365" y="1409744"/>
            <a:ext cx="0" cy="24267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0" y="1284281"/>
            <a:ext cx="39533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 matter how stringent the criteria are, you’ll identify genes with very small p-values and the </a:t>
            </a:r>
            <a:r>
              <a:rPr lang="en-US" sz="2800" dirty="0">
                <a:solidFill>
                  <a:srgbClr val="FF0000"/>
                </a:solidFill>
              </a:rPr>
              <a:t>false discovery rate </a:t>
            </a:r>
            <a:r>
              <a:rPr lang="en-US" sz="2800" dirty="0"/>
              <a:t>(FDR) is 100%.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24514" y="4419638"/>
            <a:ext cx="8362286" cy="6952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When H0 is true, the p-value is distributed uniformly from 0 to 1.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0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056"/>
            <a:ext cx="8229600" cy="739341"/>
          </a:xfrm>
        </p:spPr>
        <p:txBody>
          <a:bodyPr>
            <a:normAutofit/>
          </a:bodyPr>
          <a:lstStyle/>
          <a:p>
            <a:r>
              <a:rPr lang="en-US" sz="2400" dirty="0"/>
              <a:t>P-value distribution under both the null and non-null hypotheses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60" y="981427"/>
            <a:ext cx="8229600" cy="3076405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/>
        </p:nvCxnSpPr>
        <p:spPr>
          <a:xfrm>
            <a:off x="6406741" y="1417750"/>
            <a:ext cx="0" cy="20228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51345" y="1315002"/>
            <a:ext cx="259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Cutoff: p=0.05</a:t>
            </a:r>
          </a:p>
          <a:p>
            <a:r>
              <a:rPr lang="en-US" dirty="0"/>
              <a:t>FDR=471/(471+989)=32%</a:t>
            </a:r>
          </a:p>
          <a:p>
            <a:endParaRPr lang="en-US" dirty="0"/>
          </a:p>
          <a:p>
            <a:r>
              <a:rPr lang="en-US" dirty="0"/>
              <a:t>Cutoff: p=0.01</a:t>
            </a:r>
          </a:p>
          <a:p>
            <a:r>
              <a:rPr lang="en-US" dirty="0"/>
              <a:t>FDR=102/(102+912)=10%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24100" y="3957584"/>
            <a:ext cx="2610068" cy="923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When the null hypothesis is true, the p-value is distributed uniformly.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8266" y="3957583"/>
            <a:ext cx="2928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the null hypothesis is false, the p-value distribution is skewed toward 0.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85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11" y="722889"/>
            <a:ext cx="4480212" cy="42238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724"/>
            <a:ext cx="8229600" cy="51420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Multiple test correction – FDR method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676109" y="1274868"/>
            <a:ext cx="0" cy="30410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56771" y="1569332"/>
            <a:ext cx="2882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P-values &lt; 0.00009</a:t>
            </a:r>
          </a:p>
          <a:p>
            <a:r>
              <a:rPr lang="en-US" sz="2400" dirty="0"/>
              <a:t>DE=992</a:t>
            </a:r>
          </a:p>
          <a:p>
            <a:r>
              <a:rPr lang="en-US" sz="2400" dirty="0"/>
              <a:t>False DE=10</a:t>
            </a:r>
          </a:p>
          <a:p>
            <a:endParaRPr lang="en-US" sz="2400" dirty="0"/>
          </a:p>
          <a:p>
            <a:r>
              <a:rPr lang="en-US" sz="2400" dirty="0"/>
              <a:t>FDR 1%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1533837" y="3225216"/>
            <a:ext cx="3545016" cy="0"/>
          </a:xfrm>
          <a:prstGeom prst="line">
            <a:avLst/>
          </a:prstGeom>
          <a:ln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1096436" y="3742973"/>
            <a:ext cx="554272" cy="26811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5900" y="3611793"/>
            <a:ext cx="122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False positive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159936" y="1996770"/>
            <a:ext cx="469605" cy="34290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5901" y="1531232"/>
            <a:ext cx="1223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True positive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9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0443"/>
            <a:ext cx="8229600" cy="569912"/>
          </a:xfrm>
        </p:spPr>
        <p:txBody>
          <a:bodyPr>
            <a:noAutofit/>
          </a:bodyPr>
          <a:lstStyle/>
          <a:p>
            <a:r>
              <a:rPr lang="en-US" sz="3200" dirty="0"/>
              <a:t>q-values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009" y="569421"/>
            <a:ext cx="8479650" cy="811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17375E"/>
                </a:solidFill>
              </a:rPr>
              <a:t>q-value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the smallest FDR </a:t>
            </a:r>
            <a:r>
              <a:rPr lang="en-US" sz="2400" dirty="0"/>
              <a:t>for which we can reject the null hypothesis for that one test and all others with smaller p-values.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282328"/>
              </p:ext>
            </p:extLst>
          </p:nvPr>
        </p:nvGraphicFramePr>
        <p:xfrm>
          <a:off x="548888" y="1702963"/>
          <a:ext cx="2476500" cy="332486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p-values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q-values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0.006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0.015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0.009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0.059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0.013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0.063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0.035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0.139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0.051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0.171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0.155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0.442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0.197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0.492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0.247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0.539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0.358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0.426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0.656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0.526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0.702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0.622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0.777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0.782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0.920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0.925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0.974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82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4008" y="1353219"/>
            <a:ext cx="293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number of tests: m = 16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432065" y="2695934"/>
            <a:ext cx="6983142" cy="1616327"/>
            <a:chOff x="636857" y="2856023"/>
            <a:chExt cx="6983142" cy="1616327"/>
          </a:xfrm>
        </p:grpSpPr>
        <p:sp>
          <p:nvSpPr>
            <p:cNvPr id="8" name="TextBox 7"/>
            <p:cNvSpPr txBox="1"/>
            <p:nvPr/>
          </p:nvSpPr>
          <p:spPr>
            <a:xfrm>
              <a:off x="4367906" y="3949130"/>
              <a:ext cx="32520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dirty="0">
                  <a:solidFill>
                    <a:srgbClr val="008000"/>
                  </a:solidFill>
                </a:rPr>
                <a:t>10% FDR, q-values &lt; 0.1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636857" y="2856023"/>
              <a:ext cx="2726267" cy="0"/>
            </a:xfrm>
            <a:prstGeom prst="line">
              <a:avLst/>
            </a:prstGeom>
            <a:ln w="38100" cmpd="sng">
              <a:solidFill>
                <a:srgbClr val="008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30905" y="2309318"/>
            <a:ext cx="7026635" cy="1513832"/>
            <a:chOff x="592253" y="2797969"/>
            <a:chExt cx="7026635" cy="1513832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592253" y="2797969"/>
              <a:ext cx="2726267" cy="0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324462" y="3788581"/>
              <a:ext cx="32944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dirty="0">
                  <a:solidFill>
                    <a:srgbClr val="FF0000"/>
                  </a:solidFill>
                </a:rPr>
                <a:t>5% FDR, q-values &lt; 0.05</a:t>
              </a:r>
              <a:endParaRPr lang="en-US" sz="24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30208" y="3074183"/>
            <a:ext cx="6908799" cy="1693080"/>
            <a:chOff x="558800" y="3598335"/>
            <a:chExt cx="6908799" cy="169308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558800" y="3598335"/>
              <a:ext cx="2726267" cy="0"/>
            </a:xfrm>
            <a:prstGeom prst="line">
              <a:avLst/>
            </a:prstGeom>
            <a:ln w="38100" cmpd="sng"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4291706" y="4768195"/>
              <a:ext cx="31758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400" dirty="0">
                  <a:solidFill>
                    <a:srgbClr val="0000FF"/>
                  </a:solidFill>
                </a:rPr>
                <a:t>20% FDR, q-values &lt; 0.2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06799" y="1572143"/>
            <a:ext cx="508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FDR (False Discovery Rate) methods (</a:t>
            </a:r>
            <a:r>
              <a:rPr lang="en-US" sz="2400" dirty="0" err="1"/>
              <a:t>qvalue</a:t>
            </a:r>
            <a:r>
              <a:rPr lang="en-US" sz="2400" dirty="0"/>
              <a:t> or BH) are methods to calculate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q-values</a:t>
            </a:r>
            <a:r>
              <a:rPr lang="en-US" sz="2400" dirty="0"/>
              <a:t>/</a:t>
            </a:r>
            <a:r>
              <a:rPr lang="en-US" sz="2400" dirty="0">
                <a:solidFill>
                  <a:srgbClr val="376092"/>
                </a:solidFill>
              </a:rPr>
              <a:t>adjusted p-values</a:t>
            </a:r>
            <a:r>
              <a:rPr lang="en-US" sz="2400" dirty="0"/>
              <a:t>/</a:t>
            </a:r>
            <a:r>
              <a:rPr lang="en-US" sz="2400" dirty="0">
                <a:solidFill>
                  <a:srgbClr val="376092"/>
                </a:solidFill>
              </a:rPr>
              <a:t>corrected p-values</a:t>
            </a:r>
            <a:r>
              <a:rPr lang="en-US" sz="2400" dirty="0"/>
              <a:t> based on p-values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9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789"/>
            <a:ext cx="8229600" cy="776640"/>
          </a:xfrm>
        </p:spPr>
        <p:txBody>
          <a:bodyPr>
            <a:normAutofit/>
          </a:bodyPr>
          <a:lstStyle/>
          <a:p>
            <a:r>
              <a:rPr lang="en-US" sz="3200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4429"/>
            <a:ext cx="8229600" cy="3934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If we identify 500 differential expression (DE) genes using the 5% FDR to account for multiple tests. Which one below is a better description?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1. I am 95% confident that 500 genes are DE.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2. The 5% genes (25 genes) in the set are expected to be false DE 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71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221139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False discovery rate (concept)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150" y="848097"/>
            <a:ext cx="870585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example, among 10,000 tests (10,000 genes), 100 significant genes are declared, in which 10 gene is falsely rejected.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In this case, the false discovery rate is 10%.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269523"/>
              </p:ext>
            </p:extLst>
          </p:nvPr>
        </p:nvGraphicFramePr>
        <p:xfrm>
          <a:off x="457200" y="2387941"/>
          <a:ext cx="8267700" cy="19547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9230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True</a:t>
                      </a:r>
                      <a:r>
                        <a:rPr lang="en-US" sz="2400" baseline="0" dirty="0"/>
                        <a:t> n</a:t>
                      </a:r>
                      <a:r>
                        <a:rPr lang="en-US" sz="2400" dirty="0"/>
                        <a:t>ull hypothesis </a:t>
                      </a:r>
                      <a:r>
                        <a:rPr lang="en-US" sz="2400" baseline="0" dirty="0"/>
                        <a:t>(H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False</a:t>
                      </a:r>
                      <a:r>
                        <a:rPr lang="en-US" sz="2400" baseline="0" dirty="0"/>
                        <a:t> null </a:t>
                      </a:r>
                      <a:r>
                        <a:rPr lang="en-US" sz="2400" dirty="0"/>
                        <a:t>hypothesis</a:t>
                      </a:r>
                      <a:r>
                        <a:rPr lang="en-US" sz="2400" baseline="0" dirty="0"/>
                        <a:t> (H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532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Rejected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(Declared</a:t>
                      </a:r>
                      <a:r>
                        <a:rPr lang="en-US" sz="2400" baseline="0" dirty="0"/>
                        <a:t> significance)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679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0516"/>
          </a:xfrm>
        </p:spPr>
        <p:txBody>
          <a:bodyPr>
            <a:normAutofit/>
          </a:bodyPr>
          <a:lstStyle/>
          <a:p>
            <a:r>
              <a:rPr lang="en-US" sz="3200" dirty="0"/>
              <a:t>P-value histograms from real studies</a:t>
            </a:r>
          </a:p>
        </p:txBody>
      </p:sp>
      <p:pic>
        <p:nvPicPr>
          <p:cNvPr id="4" name="Picture 3" descr="Screen Shot 2014-05-27 at 1.12.1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498" y="953891"/>
            <a:ext cx="3334927" cy="3074118"/>
          </a:xfrm>
          <a:prstGeom prst="rect">
            <a:avLst/>
          </a:prstGeom>
        </p:spPr>
      </p:pic>
      <p:pic>
        <p:nvPicPr>
          <p:cNvPr id="5" name="Picture 4" descr="Screen Shot 2014-05-27 at 1.11.1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30" y="953893"/>
            <a:ext cx="3351256" cy="30741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5566" y="4069874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p-values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6033" y="4069874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p-values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-35881" y="2191307"/>
            <a:ext cx="1263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Number of genes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0429" y="7111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962" y="7111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940" y="4301117"/>
            <a:ext cx="7009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you perform an RNA-seq experiment, which one would you hope to obtain? Why?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326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78AA-9BE6-8B9E-5C22-61A9A8013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D81-CC1D-523A-E826-71189674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0516"/>
          </a:xfrm>
        </p:spPr>
        <p:txBody>
          <a:bodyPr>
            <a:normAutofit/>
          </a:bodyPr>
          <a:lstStyle/>
          <a:p>
            <a:r>
              <a:rPr lang="en-US" sz="3200" dirty="0"/>
              <a:t>P-value histograms from real studies</a:t>
            </a:r>
          </a:p>
        </p:txBody>
      </p:sp>
      <p:pic>
        <p:nvPicPr>
          <p:cNvPr id="4" name="Picture 3" descr="Screen Shot 2014-05-27 at 1.12.16 PM.png">
            <a:extLst>
              <a:ext uri="{FF2B5EF4-FFF2-40B4-BE49-F238E27FC236}">
                <a16:creationId xmlns:a16="http://schemas.microsoft.com/office/drawing/2014/main" id="{0ADEDB4F-7CD3-B0C0-724E-85CF0F22B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498" y="953891"/>
            <a:ext cx="3334927" cy="3074118"/>
          </a:xfrm>
          <a:prstGeom prst="rect">
            <a:avLst/>
          </a:prstGeom>
        </p:spPr>
      </p:pic>
      <p:pic>
        <p:nvPicPr>
          <p:cNvPr id="5" name="Picture 4" descr="Screen Shot 2014-05-27 at 1.11.13 PM.png">
            <a:extLst>
              <a:ext uri="{FF2B5EF4-FFF2-40B4-BE49-F238E27FC236}">
                <a16:creationId xmlns:a16="http://schemas.microsoft.com/office/drawing/2014/main" id="{E1363A32-E392-8E87-34BE-E8DFB8FB1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30" y="953893"/>
            <a:ext cx="3351256" cy="3074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23389D-DC12-A97F-B4C7-DA5A4E7B4A04}"/>
              </a:ext>
            </a:extLst>
          </p:cNvPr>
          <p:cNvSpPr txBox="1"/>
          <p:nvPr/>
        </p:nvSpPr>
        <p:spPr>
          <a:xfrm>
            <a:off x="6435566" y="4069874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p-values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5B3E4-4398-AD84-1CA4-0424241DD1B1}"/>
              </a:ext>
            </a:extLst>
          </p:cNvPr>
          <p:cNvSpPr txBox="1"/>
          <p:nvPr/>
        </p:nvSpPr>
        <p:spPr>
          <a:xfrm>
            <a:off x="2256033" y="4069874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p-values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1ADA2-7018-C8A1-CCBF-19851A4C4B22}"/>
              </a:ext>
            </a:extLst>
          </p:cNvPr>
          <p:cNvSpPr txBox="1"/>
          <p:nvPr/>
        </p:nvSpPr>
        <p:spPr>
          <a:xfrm rot="16200000">
            <a:off x="-35881" y="2191307"/>
            <a:ext cx="1263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Number of genes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FE3E3-0527-6E9A-E5F4-88ECB668E749}"/>
              </a:ext>
            </a:extLst>
          </p:cNvPr>
          <p:cNvSpPr txBox="1"/>
          <p:nvPr/>
        </p:nvSpPr>
        <p:spPr>
          <a:xfrm>
            <a:off x="2460429" y="7111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7C23D1-AE5A-E19F-87E9-5413C28E4559}"/>
              </a:ext>
            </a:extLst>
          </p:cNvPr>
          <p:cNvSpPr txBox="1"/>
          <p:nvPr/>
        </p:nvSpPr>
        <p:spPr>
          <a:xfrm>
            <a:off x="6639962" y="711171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4DC7D8-6C24-5CA9-E042-FF9CEB37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13EBF-D6AE-A191-F850-DF61C0D34B1B}"/>
              </a:ext>
            </a:extLst>
          </p:cNvPr>
          <p:cNvSpPr txBox="1"/>
          <p:nvPr/>
        </p:nvSpPr>
        <p:spPr>
          <a:xfrm>
            <a:off x="1245270" y="4428137"/>
            <a:ext cx="2691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 = 1,370, FDR=5%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90456-A0E6-5D14-C724-FF1AE4BE64EB}"/>
              </a:ext>
            </a:extLst>
          </p:cNvPr>
          <p:cNvSpPr txBox="1"/>
          <p:nvPr/>
        </p:nvSpPr>
        <p:spPr>
          <a:xfrm>
            <a:off x="5639650" y="4428137"/>
            <a:ext cx="230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 = 0, FDR=20%</a:t>
            </a:r>
          </a:p>
        </p:txBody>
      </p:sp>
    </p:spTree>
    <p:extLst>
      <p:ext uri="{BB962C8B-B14F-4D97-AF65-F5344CB8AC3E}">
        <p14:creationId xmlns:p14="http://schemas.microsoft.com/office/powerpoint/2010/main" val="165614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C9459-C5D7-EF52-516C-4A9245975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9C79-7F69-F4D4-B05C-07045311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3AE2-16D4-1A2D-5BFD-D6482F1C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815" y="1282660"/>
            <a:ext cx="7136063" cy="2934229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RNA-seq procedure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Statistical test of differential expression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Multiple testing correction</a:t>
            </a:r>
          </a:p>
          <a:p>
            <a:pPr>
              <a:lnSpc>
                <a:spcPct val="120000"/>
              </a:lnSpc>
            </a:pPr>
            <a:r>
              <a:rPr lang="en-US" dirty="0"/>
              <a:t>RNA-seq data processing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Gene ontology (GO) enrichment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20B65-3338-BECF-9EA3-0500BD28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911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A2048-2DCB-DDAC-CF30-25A0F28C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9CD061-B2A8-5D99-8383-8825EDC1A136}"/>
              </a:ext>
            </a:extLst>
          </p:cNvPr>
          <p:cNvSpPr/>
          <p:nvPr/>
        </p:nvSpPr>
        <p:spPr>
          <a:xfrm>
            <a:off x="6339932" y="594402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RNA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6BDB6B-572D-FDF2-A678-0FB2D8A2F15D}"/>
              </a:ext>
            </a:extLst>
          </p:cNvPr>
          <p:cNvSpPr/>
          <p:nvPr/>
        </p:nvSpPr>
        <p:spPr>
          <a:xfrm>
            <a:off x="6339932" y="1304709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DNA library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58FE45-014D-E64B-35EC-2A31D1A8F714}"/>
              </a:ext>
            </a:extLst>
          </p:cNvPr>
          <p:cNvSpPr/>
          <p:nvPr/>
        </p:nvSpPr>
        <p:spPr>
          <a:xfrm>
            <a:off x="6339932" y="1992713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38C4FD-1C3B-5FEC-5D79-6DE0FFCDA1EC}"/>
              </a:ext>
            </a:extLst>
          </p:cNvPr>
          <p:cNvSpPr/>
          <p:nvPr/>
        </p:nvSpPr>
        <p:spPr>
          <a:xfrm>
            <a:off x="6339932" y="2654524"/>
            <a:ext cx="1612900" cy="393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alignment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5003CB-0AD2-12F5-8815-E72DED97A8BF}"/>
              </a:ext>
            </a:extLst>
          </p:cNvPr>
          <p:cNvSpPr/>
          <p:nvPr/>
        </p:nvSpPr>
        <p:spPr>
          <a:xfrm>
            <a:off x="6339932" y="3316335"/>
            <a:ext cx="1612900" cy="393700"/>
          </a:xfrm>
          <a:prstGeom prst="rect">
            <a:avLst/>
          </a:prstGeom>
          <a:solidFill>
            <a:srgbClr val="CCC1DA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 counts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DBDAF2-278C-B1A2-BB4F-69BC9077F386}"/>
              </a:ext>
            </a:extLst>
          </p:cNvPr>
          <p:cNvSpPr/>
          <p:nvPr/>
        </p:nvSpPr>
        <p:spPr>
          <a:xfrm>
            <a:off x="6339932" y="3978146"/>
            <a:ext cx="1612900" cy="39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statistical test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264D71-720E-8934-77E1-AE93F4BEC6B9}"/>
              </a:ext>
            </a:extLst>
          </p:cNvPr>
          <p:cNvSpPr/>
          <p:nvPr/>
        </p:nvSpPr>
        <p:spPr>
          <a:xfrm>
            <a:off x="6339932" y="4632699"/>
            <a:ext cx="1612900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significance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C267E9-F54D-E0E1-552F-FE9C1D9E412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7146382" y="1036599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227B37-9F2C-CF0C-60B6-3B6572AED5D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146382" y="1724603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E07A25-165A-6749-AA9D-8B7B3E346E9E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7146382" y="2386414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BBBEAE-1123-CF6B-2376-5F9182C54188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7146382" y="3048225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9FCC0A-0AD5-D8BA-0AEE-9FFAEFE5992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7146382" y="3710036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2D3CB4-67C7-C0CF-C980-3AC636DF992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146382" y="4371847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CBA690E-9398-52D4-A2E9-5936BD450B03}"/>
              </a:ext>
            </a:extLst>
          </p:cNvPr>
          <p:cNvSpPr/>
          <p:nvPr/>
        </p:nvSpPr>
        <p:spPr>
          <a:xfrm>
            <a:off x="2400300" y="1126414"/>
            <a:ext cx="3242217" cy="8662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RNA to sequencing reads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9350838-76C2-0923-69BC-B9F56E9776B3}"/>
              </a:ext>
            </a:extLst>
          </p:cNvPr>
          <p:cNvSpPr/>
          <p:nvPr/>
        </p:nvSpPr>
        <p:spPr>
          <a:xfrm>
            <a:off x="2412999" y="2765664"/>
            <a:ext cx="3229517" cy="8520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reads to read counts per gene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431D29B-F21B-F254-C646-4EA11B7AFC14}"/>
              </a:ext>
            </a:extLst>
          </p:cNvPr>
          <p:cNvSpPr/>
          <p:nvPr/>
        </p:nvSpPr>
        <p:spPr>
          <a:xfrm>
            <a:off x="2400300" y="4088738"/>
            <a:ext cx="3242216" cy="856175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read counts to significant genes</a:t>
            </a:r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BBB6C81C-A501-87EA-71A2-09D57E93D5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299" y="88659"/>
            <a:ext cx="5706637" cy="986986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RNA-seq procedure for differential expression analysis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59F77CCE-C57E-CE96-889C-17FA1A4511AE}"/>
              </a:ext>
            </a:extLst>
          </p:cNvPr>
          <p:cNvSpPr/>
          <p:nvPr/>
        </p:nvSpPr>
        <p:spPr>
          <a:xfrm>
            <a:off x="5736683" y="780584"/>
            <a:ext cx="374620" cy="1518267"/>
          </a:xfrm>
          <a:prstGeom prst="leftBrace">
            <a:avLst>
              <a:gd name="adj1" fmla="val 8333"/>
              <a:gd name="adj2" fmla="val 50483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Left Brace 50">
            <a:extLst>
              <a:ext uri="{FF2B5EF4-FFF2-40B4-BE49-F238E27FC236}">
                <a16:creationId xmlns:a16="http://schemas.microsoft.com/office/drawing/2014/main" id="{7002AAA7-693E-DD94-49A9-01455E666B0E}"/>
              </a:ext>
            </a:extLst>
          </p:cNvPr>
          <p:cNvSpPr/>
          <p:nvPr/>
        </p:nvSpPr>
        <p:spPr>
          <a:xfrm>
            <a:off x="5736682" y="2800038"/>
            <a:ext cx="330156" cy="762002"/>
          </a:xfrm>
          <a:prstGeom prst="leftBrace">
            <a:avLst>
              <a:gd name="adj1" fmla="val 8333"/>
              <a:gd name="adj2" fmla="val 50483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4A6B8FA7-BAEC-4FC2-323C-3571FF146F46}"/>
              </a:ext>
            </a:extLst>
          </p:cNvPr>
          <p:cNvSpPr/>
          <p:nvPr/>
        </p:nvSpPr>
        <p:spPr>
          <a:xfrm>
            <a:off x="5723982" y="4103318"/>
            <a:ext cx="330144" cy="856175"/>
          </a:xfrm>
          <a:prstGeom prst="leftBrace">
            <a:avLst>
              <a:gd name="adj1" fmla="val 8333"/>
              <a:gd name="adj2" fmla="val 50483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1A33B59-6BCF-E9F0-94CC-2ED2695ECFC1}"/>
              </a:ext>
            </a:extLst>
          </p:cNvPr>
          <p:cNvSpPr/>
          <p:nvPr/>
        </p:nvSpPr>
        <p:spPr>
          <a:xfrm>
            <a:off x="1511300" y="1263514"/>
            <a:ext cx="685800" cy="59689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2001E0B-6012-0CA6-C7D8-89909C29A967}"/>
              </a:ext>
            </a:extLst>
          </p:cNvPr>
          <p:cNvSpPr/>
          <p:nvPr/>
        </p:nvSpPr>
        <p:spPr>
          <a:xfrm>
            <a:off x="1511300" y="2898168"/>
            <a:ext cx="685800" cy="59689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296A526-5542-3E69-97AB-14B14F7D7152}"/>
              </a:ext>
            </a:extLst>
          </p:cNvPr>
          <p:cNvSpPr/>
          <p:nvPr/>
        </p:nvSpPr>
        <p:spPr>
          <a:xfrm>
            <a:off x="1511300" y="4225350"/>
            <a:ext cx="685800" cy="59689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BE934-6F52-CCBE-5229-50D76E5E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028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8550" y="424387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total 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8550" y="1086198"/>
            <a:ext cx="1612900" cy="393700"/>
          </a:xfrm>
          <a:prstGeom prst="rect">
            <a:avLst/>
          </a:prstGeom>
          <a:solidFill>
            <a:srgbClr val="FCD5B5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DNA library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84" y="1734571"/>
            <a:ext cx="1612900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84" y="2396382"/>
            <a:ext cx="1612900" cy="393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84" y="3058193"/>
            <a:ext cx="1612900" cy="393700"/>
          </a:xfrm>
          <a:prstGeom prst="rect">
            <a:avLst/>
          </a:prstGeom>
          <a:solidFill>
            <a:srgbClr val="CCC1DA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 counts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84" y="3720004"/>
            <a:ext cx="1612900" cy="39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statistical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84" y="4375411"/>
            <a:ext cx="1612900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significance</a:t>
            </a:r>
          </a:p>
        </p:txBody>
      </p:sp>
      <p:cxnSp>
        <p:nvCxnSpPr>
          <p:cNvPr id="15" name="Straight Arrow Connector 14"/>
          <p:cNvCxnSpPr>
            <a:stCxn id="4" idx="2"/>
            <a:endCxn id="5" idx="0"/>
          </p:cNvCxnSpPr>
          <p:nvPr/>
        </p:nvCxnSpPr>
        <p:spPr>
          <a:xfrm>
            <a:off x="1435000" y="818088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endCxn id="7" idx="0"/>
          </p:cNvCxnSpPr>
          <p:nvPr/>
        </p:nvCxnSpPr>
        <p:spPr>
          <a:xfrm>
            <a:off x="1442034" y="1466461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  <a:endCxn id="8" idx="0"/>
          </p:cNvCxnSpPr>
          <p:nvPr/>
        </p:nvCxnSpPr>
        <p:spPr>
          <a:xfrm>
            <a:off x="1442034" y="2128272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8" idx="2"/>
            <a:endCxn id="9" idx="0"/>
          </p:cNvCxnSpPr>
          <p:nvPr/>
        </p:nvCxnSpPr>
        <p:spPr>
          <a:xfrm>
            <a:off x="1442034" y="2790083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  <a:endCxn id="10" idx="0"/>
          </p:cNvCxnSpPr>
          <p:nvPr/>
        </p:nvCxnSpPr>
        <p:spPr>
          <a:xfrm>
            <a:off x="1442034" y="3451894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endCxn id="12" idx="0"/>
          </p:cNvCxnSpPr>
          <p:nvPr/>
        </p:nvCxnSpPr>
        <p:spPr>
          <a:xfrm>
            <a:off x="1442034" y="4107299"/>
            <a:ext cx="0" cy="268112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tle 48"/>
          <p:cNvSpPr>
            <a:spLocks noGrp="1"/>
          </p:cNvSpPr>
          <p:nvPr>
            <p:ph type="title" idx="4294967295"/>
          </p:nvPr>
        </p:nvSpPr>
        <p:spPr>
          <a:xfrm>
            <a:off x="3239868" y="41623"/>
            <a:ext cx="2984500" cy="57961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Keywords</a:t>
            </a:r>
          </a:p>
        </p:txBody>
      </p:sp>
      <p:sp>
        <p:nvSpPr>
          <p:cNvPr id="32" name="Title 48"/>
          <p:cNvSpPr txBox="1">
            <a:spLocks/>
          </p:cNvSpPr>
          <p:nvPr/>
        </p:nvSpPr>
        <p:spPr>
          <a:xfrm>
            <a:off x="2794000" y="621237"/>
            <a:ext cx="5359400" cy="579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randomization, replication, RNA quality</a:t>
            </a:r>
          </a:p>
        </p:txBody>
      </p:sp>
      <p:sp>
        <p:nvSpPr>
          <p:cNvPr id="33" name="Title 48"/>
          <p:cNvSpPr txBox="1">
            <a:spLocks/>
          </p:cNvSpPr>
          <p:nvPr/>
        </p:nvSpPr>
        <p:spPr>
          <a:xfrm>
            <a:off x="2794000" y="1236615"/>
            <a:ext cx="6223000" cy="1581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short or long reads</a:t>
            </a:r>
          </a:p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single- or paired-end reads, read length</a:t>
            </a:r>
          </a:p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sequencing depths</a:t>
            </a:r>
          </a:p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(e.g., &gt;20 million short reads for most experiments)</a:t>
            </a:r>
          </a:p>
        </p:txBody>
      </p:sp>
      <p:sp>
        <p:nvSpPr>
          <p:cNvPr id="34" name="Title 48"/>
          <p:cNvSpPr txBox="1">
            <a:spLocks/>
          </p:cNvSpPr>
          <p:nvPr/>
        </p:nvSpPr>
        <p:spPr>
          <a:xfrm>
            <a:off x="2794001" y="2818410"/>
            <a:ext cx="5524495" cy="929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intron-spanning aligners</a:t>
            </a:r>
          </a:p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(e.g., STAR, HiSAT2)</a:t>
            </a:r>
          </a:p>
        </p:txBody>
      </p:sp>
      <p:sp>
        <p:nvSpPr>
          <p:cNvPr id="35" name="Title 48"/>
          <p:cNvSpPr txBox="1">
            <a:spLocks/>
          </p:cNvSpPr>
          <p:nvPr/>
        </p:nvSpPr>
        <p:spPr>
          <a:xfrm>
            <a:off x="2794000" y="3776409"/>
            <a:ext cx="6223000" cy="929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 data statistical analysis (DESeq2 &amp;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edgeR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algn="l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multiple test p-value adjustment (FDR method)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09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38901" y="1118734"/>
            <a:ext cx="5484832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reads (</a:t>
            </a:r>
            <a:r>
              <a:rPr lang="en-US" sz="2000" dirty="0" err="1">
                <a:solidFill>
                  <a:schemeClr val="tx1"/>
                </a:solidFill>
              </a:rPr>
              <a:t>fastq</a:t>
            </a:r>
            <a:r>
              <a:rPr lang="en-US" sz="2000" dirty="0">
                <a:solidFill>
                  <a:schemeClr val="tx1"/>
                </a:solidFill>
              </a:rPr>
              <a:t> read data)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901" y="1780545"/>
            <a:ext cx="5484832" cy="393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alignment (STAR, or others)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901" y="2442356"/>
            <a:ext cx="5484832" cy="393700"/>
          </a:xfrm>
          <a:prstGeom prst="rect">
            <a:avLst/>
          </a:prstGeom>
          <a:solidFill>
            <a:srgbClr val="CCC1DA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read counts (HT-</a:t>
            </a:r>
            <a:r>
              <a:rPr lang="en-US" sz="2000" dirty="0" err="1">
                <a:solidFill>
                  <a:srgbClr val="000000"/>
                </a:solidFill>
              </a:rPr>
              <a:t>Seq</a:t>
            </a:r>
            <a:r>
              <a:rPr lang="en-US" sz="2000" dirty="0">
                <a:solidFill>
                  <a:srgbClr val="000000"/>
                </a:solidFill>
              </a:rPr>
              <a:t>, STAR)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901" y="3104167"/>
            <a:ext cx="5484832" cy="39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statistical test (DESeq2, </a:t>
            </a:r>
            <a:r>
              <a:rPr lang="en-US" sz="2000" dirty="0" err="1">
                <a:solidFill>
                  <a:schemeClr val="tx1"/>
                </a:solidFill>
              </a:rPr>
              <a:t>edgeR</a:t>
            </a:r>
            <a:r>
              <a:rPr lang="en-US" sz="2000" dirty="0">
                <a:solidFill>
                  <a:schemeClr val="tx1"/>
                </a:solidFill>
              </a:rPr>
              <a:t>, or others)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901" y="3765978"/>
            <a:ext cx="5484832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q-values (FDR method)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901" y="4427790"/>
            <a:ext cx="5484832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significance</a:t>
            </a:r>
          </a:p>
        </p:txBody>
      </p:sp>
      <p:cxnSp>
        <p:nvCxnSpPr>
          <p:cNvPr id="16" name="Straight Arrow Connector 15"/>
          <p:cNvCxnSpPr>
            <a:stCxn id="6" idx="2"/>
            <a:endCxn id="7" idx="0"/>
          </p:cNvCxnSpPr>
          <p:nvPr/>
        </p:nvCxnSpPr>
        <p:spPr>
          <a:xfrm>
            <a:off x="3081317" y="1512435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2"/>
            <a:endCxn id="8" idx="0"/>
          </p:cNvCxnSpPr>
          <p:nvPr/>
        </p:nvCxnSpPr>
        <p:spPr>
          <a:xfrm>
            <a:off x="3081317" y="2174246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2"/>
            <a:endCxn id="9" idx="0"/>
          </p:cNvCxnSpPr>
          <p:nvPr/>
        </p:nvCxnSpPr>
        <p:spPr>
          <a:xfrm>
            <a:off x="3081317" y="2836057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2"/>
            <a:endCxn id="10" idx="0"/>
          </p:cNvCxnSpPr>
          <p:nvPr/>
        </p:nvCxnSpPr>
        <p:spPr>
          <a:xfrm>
            <a:off x="3081317" y="3497868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1" idx="0"/>
          </p:cNvCxnSpPr>
          <p:nvPr/>
        </p:nvCxnSpPr>
        <p:spPr>
          <a:xfrm>
            <a:off x="3081317" y="4159678"/>
            <a:ext cx="0" cy="268112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Brace 27"/>
          <p:cNvSpPr/>
          <p:nvPr/>
        </p:nvSpPr>
        <p:spPr>
          <a:xfrm>
            <a:off x="6044276" y="1274323"/>
            <a:ext cx="288988" cy="1505832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333265" y="1773154"/>
            <a:ext cx="2298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Bioinformatics</a:t>
            </a:r>
          </a:p>
        </p:txBody>
      </p:sp>
      <p:sp>
        <p:nvSpPr>
          <p:cNvPr id="30" name="Right Brace 29"/>
          <p:cNvSpPr/>
          <p:nvPr/>
        </p:nvSpPr>
        <p:spPr>
          <a:xfrm>
            <a:off x="6044276" y="3206343"/>
            <a:ext cx="288988" cy="1505832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333265" y="3697569"/>
            <a:ext cx="2810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Statistical analysis</a:t>
            </a:r>
          </a:p>
        </p:txBody>
      </p:sp>
      <p:sp>
        <p:nvSpPr>
          <p:cNvPr id="32" name="Title 31"/>
          <p:cNvSpPr>
            <a:spLocks noGrp="1"/>
          </p:cNvSpPr>
          <p:nvPr>
            <p:ph type="title" idx="4294967295"/>
          </p:nvPr>
        </p:nvSpPr>
        <p:spPr>
          <a:xfrm>
            <a:off x="457200" y="202092"/>
            <a:ext cx="8229600" cy="707875"/>
          </a:xfrm>
        </p:spPr>
        <p:txBody>
          <a:bodyPr>
            <a:noAutofit/>
          </a:bodyPr>
          <a:lstStyle/>
          <a:p>
            <a:pPr rtl="0" eaLnBrk="1" latinLnBrk="0" hangingPunct="1"/>
            <a:r>
              <a:rPr lang="en-US" sz="32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Bioinformatics and Statistics (</a:t>
            </a:r>
            <a:r>
              <a:rPr lang="en-US" sz="3200" dirty="0" err="1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Illumina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data)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BC817-BFF3-FC86-79FF-5E2F529D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246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904170"/>
          </a:xfrm>
        </p:spPr>
        <p:txBody>
          <a:bodyPr>
            <a:normAutofit/>
          </a:bodyPr>
          <a:lstStyle/>
          <a:p>
            <a:r>
              <a:rPr lang="en-US" sz="3200" b="1" dirty="0"/>
              <a:t>STAR</a:t>
            </a:r>
            <a:r>
              <a:rPr lang="en-US" sz="3200" dirty="0"/>
              <a:t> pipeline – from reads to counts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87508" y="801676"/>
            <a:ext cx="7599292" cy="21462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Required files: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Reference genome (</a:t>
            </a:r>
            <a:r>
              <a:rPr lang="en-US" sz="2800" dirty="0" err="1">
                <a:solidFill>
                  <a:schemeClr val="accent3">
                    <a:lumMod val="50000"/>
                  </a:schemeClr>
                </a:solidFill>
              </a:rPr>
              <a:t>fasta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 file)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Gene information (</a:t>
            </a:r>
            <a:r>
              <a:rPr lang="en-US" sz="2800" dirty="0" err="1">
                <a:solidFill>
                  <a:schemeClr val="accent3">
                    <a:lumMod val="50000"/>
                  </a:schemeClr>
                </a:solidFill>
              </a:rPr>
              <a:t>gff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 or </a:t>
            </a:r>
            <a:r>
              <a:rPr lang="en-US" sz="2800" dirty="0" err="1">
                <a:solidFill>
                  <a:schemeClr val="accent3">
                    <a:lumMod val="50000"/>
                  </a:schemeClr>
                </a:solidFill>
              </a:rPr>
              <a:t>gtf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 gene annotation)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Reads (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</a:rPr>
              <a:t>fastq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 files) – your own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346602" y="2977626"/>
            <a:ext cx="83401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Many reference genomes and </a:t>
            </a:r>
            <a:r>
              <a:rPr lang="en-US" sz="2400" dirty="0" err="1"/>
              <a:t>gff</a:t>
            </a:r>
            <a:r>
              <a:rPr lang="en-US" sz="2400" dirty="0"/>
              <a:t>/</a:t>
            </a:r>
            <a:r>
              <a:rPr lang="en-US" sz="2400" dirty="0" err="1"/>
              <a:t>gtf</a:t>
            </a:r>
            <a:r>
              <a:rPr lang="en-US" sz="2400" dirty="0"/>
              <a:t> files are available at:</a:t>
            </a:r>
          </a:p>
          <a:p>
            <a:r>
              <a:rPr lang="en-US" sz="2400" dirty="0"/>
              <a:t>http://</a:t>
            </a:r>
            <a:r>
              <a:rPr lang="en-US" sz="2400" dirty="0" err="1"/>
              <a:t>ensembl.org</a:t>
            </a:r>
            <a:r>
              <a:rPr lang="en-US" sz="2400" dirty="0"/>
              <a:t>/info/data/ftp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590801" y="3839487"/>
            <a:ext cx="3632378" cy="1201620"/>
            <a:chOff x="1087508" y="4354508"/>
            <a:chExt cx="6983650" cy="2310248"/>
          </a:xfrm>
        </p:grpSpPr>
        <p:pic>
          <p:nvPicPr>
            <p:cNvPr id="5" name="Picture 4" descr="Screenshot 2018-06-05 09.29.10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7508" y="4420351"/>
              <a:ext cx="6983650" cy="2188577"/>
            </a:xfrm>
            <a:prstGeom prst="rect">
              <a:avLst/>
            </a:prstGeom>
          </p:spPr>
        </p:pic>
        <p:sp>
          <p:nvSpPr>
            <p:cNvPr id="7" name="Rounded Rectangle 6"/>
            <p:cNvSpPr/>
            <p:nvPr/>
          </p:nvSpPr>
          <p:spPr>
            <a:xfrm>
              <a:off x="2149067" y="4354508"/>
              <a:ext cx="683794" cy="2310248"/>
            </a:xfrm>
            <a:prstGeom prst="roundRect">
              <a:avLst/>
            </a:prstGeom>
            <a:noFill/>
            <a:ln w="19050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87364" y="4354508"/>
              <a:ext cx="683794" cy="2310248"/>
            </a:xfrm>
            <a:prstGeom prst="roundRect">
              <a:avLst/>
            </a:prstGeom>
            <a:noFill/>
            <a:ln w="19050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4624D-9049-E6CB-E4C4-4E0AB3F2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7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4438" y="87165"/>
            <a:ext cx="8229600" cy="736855"/>
          </a:xfrm>
        </p:spPr>
        <p:txBody>
          <a:bodyPr>
            <a:normAutofit/>
          </a:bodyPr>
          <a:lstStyle/>
          <a:p>
            <a:r>
              <a:rPr lang="en-US" sz="3200" dirty="0"/>
              <a:t>Reads to counts - </a:t>
            </a:r>
            <a:r>
              <a:rPr lang="en-US" sz="3200" b="1" dirty="0"/>
              <a:t>reference indexing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152484" y="3409891"/>
            <a:ext cx="70659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STAR --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runMode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genomeGenerate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genomeDir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. \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genomeFastaFiles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reference.fas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sjdbGTFfile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genes.gtf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--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runThreadN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4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131358" y="852494"/>
            <a:ext cx="4651073" cy="2464181"/>
            <a:chOff x="3629763" y="1780767"/>
            <a:chExt cx="4651073" cy="2464181"/>
          </a:xfrm>
        </p:grpSpPr>
        <p:sp>
          <p:nvSpPr>
            <p:cNvPr id="6" name="Oval 5"/>
            <p:cNvSpPr/>
            <p:nvPr/>
          </p:nvSpPr>
          <p:spPr>
            <a:xfrm>
              <a:off x="4545298" y="1780767"/>
              <a:ext cx="2584306" cy="1308578"/>
            </a:xfrm>
            <a:prstGeom prst="ellipse">
              <a:avLst/>
            </a:prstGeom>
            <a:noFill/>
            <a:ln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“sorted or indexed” genome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629763" y="3541000"/>
              <a:ext cx="1893165" cy="703948"/>
            </a:xfrm>
            <a:prstGeom prst="ellipse">
              <a:avLst/>
            </a:prstGeom>
            <a:noFill/>
            <a:ln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reads</a:t>
              </a:r>
            </a:p>
          </p:txBody>
        </p:sp>
        <p:sp>
          <p:nvSpPr>
            <p:cNvPr id="8" name="Curved Down Arrow 7"/>
            <p:cNvSpPr/>
            <p:nvPr/>
          </p:nvSpPr>
          <p:spPr>
            <a:xfrm>
              <a:off x="4515401" y="3105741"/>
              <a:ext cx="2738230" cy="388910"/>
            </a:xfrm>
            <a:prstGeom prst="curvedDown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6068794" y="3534276"/>
              <a:ext cx="2212042" cy="703948"/>
            </a:xfrm>
            <a:prstGeom prst="ellipse">
              <a:avLst/>
            </a:prstGeom>
            <a:noFill/>
            <a:ln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alignments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69260" y="3183050"/>
              <a:ext cx="1230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one by one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52D9E-2F27-F6FC-DD6B-C2247150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7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102393"/>
            <a:ext cx="8229600" cy="597289"/>
          </a:xfrm>
        </p:spPr>
        <p:txBody>
          <a:bodyPr>
            <a:normAutofit/>
          </a:bodyPr>
          <a:lstStyle/>
          <a:p>
            <a:r>
              <a:rPr lang="en-US" sz="3200" dirty="0"/>
              <a:t>Reads to counts – </a:t>
            </a:r>
            <a:r>
              <a:rPr lang="en-US" sz="3200" b="1" dirty="0"/>
              <a:t>alignment and read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535" y="619185"/>
            <a:ext cx="538538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STAR</a:t>
            </a:r>
            <a:r>
              <a:rPr lang="en-US" sz="1600" dirty="0"/>
              <a:t> --</a:t>
            </a:r>
            <a:r>
              <a:rPr lang="en-US" sz="1600" dirty="0" err="1"/>
              <a:t>genomeDir</a:t>
            </a:r>
            <a:r>
              <a:rPr lang="en-US" sz="1600" dirty="0"/>
              <a:t> </a:t>
            </a:r>
            <a:r>
              <a:rPr lang="en-US" sz="1600" b="1" dirty="0" err="1">
                <a:solidFill>
                  <a:srgbClr val="FF0000"/>
                </a:solidFill>
              </a:rPr>
              <a:t>reference.fas</a:t>
            </a:r>
            <a:r>
              <a:rPr lang="en-US" sz="1600" dirty="0"/>
              <a:t>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readFilesIn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FF0000"/>
                </a:solidFill>
              </a:rPr>
              <a:t>read1.fq read2.fq </a:t>
            </a:r>
            <a:r>
              <a:rPr lang="en-US" sz="1600" dirty="0"/>
              <a:t>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alignIntronMax</a:t>
            </a:r>
            <a:r>
              <a:rPr lang="en-US" sz="1600" dirty="0"/>
              <a:t> 100000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alignMatesGapMax</a:t>
            </a:r>
            <a:r>
              <a:rPr lang="en-US" sz="1600" dirty="0"/>
              <a:t> 100000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outFileNamePrefix</a:t>
            </a:r>
            <a:r>
              <a:rPr lang="en-US" sz="1600" dirty="0"/>
              <a:t> output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outSAMattrIHstart</a:t>
            </a:r>
            <a:r>
              <a:rPr lang="en-US" sz="1600" dirty="0"/>
              <a:t> 0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outSAMmultNmax</a:t>
            </a:r>
            <a:r>
              <a:rPr lang="en-US" sz="1600" dirty="0"/>
              <a:t> 1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outSAMstrandField</a:t>
            </a:r>
            <a:r>
              <a:rPr lang="en-US" sz="1600" dirty="0"/>
              <a:t> </a:t>
            </a:r>
            <a:r>
              <a:rPr lang="en-US" sz="1600" dirty="0" err="1"/>
              <a:t>intronMotif</a:t>
            </a:r>
            <a:r>
              <a:rPr lang="en-US" sz="1600" dirty="0"/>
              <a:t>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outFilterIntronMotifs</a:t>
            </a:r>
            <a:r>
              <a:rPr lang="en-US" sz="1600" dirty="0"/>
              <a:t> </a:t>
            </a:r>
            <a:r>
              <a:rPr lang="en-US" sz="1600" dirty="0" err="1"/>
              <a:t>RemoveNoncanonicalUnannotated</a:t>
            </a:r>
            <a:r>
              <a:rPr lang="en-US" sz="1600" dirty="0"/>
              <a:t>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outSAMtype</a:t>
            </a:r>
            <a:r>
              <a:rPr lang="en-US" sz="1600" dirty="0"/>
              <a:t> BAM </a:t>
            </a:r>
            <a:r>
              <a:rPr lang="en-US" sz="1600" dirty="0" err="1"/>
              <a:t>SortedByCoordinate</a:t>
            </a:r>
            <a:r>
              <a:rPr lang="en-US" sz="1600" dirty="0"/>
              <a:t>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quantMode</a:t>
            </a:r>
            <a:r>
              <a:rPr lang="en-US" sz="1600" dirty="0"/>
              <a:t> </a:t>
            </a:r>
            <a:r>
              <a:rPr lang="en-US" sz="1600" dirty="0" err="1"/>
              <a:t>GeneCounts</a:t>
            </a:r>
            <a:r>
              <a:rPr lang="en-US" sz="1600" dirty="0"/>
              <a:t>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outFilterMismatchNmax</a:t>
            </a:r>
            <a:r>
              <a:rPr lang="en-US" sz="1600" dirty="0"/>
              <a:t> 5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outFilterMismatchNoverLmax</a:t>
            </a:r>
            <a:r>
              <a:rPr lang="en-US" sz="1600" dirty="0"/>
              <a:t> 0.05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outFilterMatchNmin</a:t>
            </a:r>
            <a:r>
              <a:rPr lang="en-US" sz="1600" dirty="0"/>
              <a:t> 50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outSJfilterReads</a:t>
            </a:r>
            <a:r>
              <a:rPr lang="en-US" sz="1600" dirty="0"/>
              <a:t> Unique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outFilterMultimapNmax</a:t>
            </a:r>
            <a:r>
              <a:rPr lang="en-US" sz="1600" dirty="0"/>
              <a:t> 1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outSAMmapqUnique</a:t>
            </a:r>
            <a:r>
              <a:rPr lang="en-US" sz="1600" dirty="0"/>
              <a:t> 60 \</a:t>
            </a:r>
          </a:p>
          <a:p>
            <a:r>
              <a:rPr lang="en-US" sz="1600" dirty="0"/>
              <a:t>     --</a:t>
            </a:r>
            <a:r>
              <a:rPr lang="en-US" sz="1600" dirty="0" err="1"/>
              <a:t>outFilterMultimapScoreRange</a:t>
            </a:r>
            <a:r>
              <a:rPr lang="en-US" sz="1600" dirty="0"/>
              <a:t>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AB8C4-3BF6-69BB-198F-0449C727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5AB605-EB50-6117-9B78-6DCAC23BA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926445"/>
              </p:ext>
            </p:extLst>
          </p:nvPr>
        </p:nvGraphicFramePr>
        <p:xfrm>
          <a:off x="3907631" y="853917"/>
          <a:ext cx="2409031" cy="1625600"/>
        </p:xfrm>
        <a:graphic>
          <a:graphicData uri="http://schemas.openxmlformats.org/drawingml/2006/table">
            <a:tbl>
              <a:tblPr/>
              <a:tblGrid>
                <a:gridCol w="121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Gene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sample 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gene 1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6,075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gene</a:t>
                      </a:r>
                      <a:r>
                        <a:rPr lang="en-US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295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...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...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0C5137-968E-3872-007E-F200A8337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689497"/>
              </p:ext>
            </p:extLst>
          </p:nvPr>
        </p:nvGraphicFramePr>
        <p:xfrm>
          <a:off x="6316662" y="853917"/>
          <a:ext cx="2577306" cy="16256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sample 2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sample 3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5,934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3,370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377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169 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...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...</a:t>
                      </a:r>
                    </a:p>
                  </a:txBody>
                  <a:tcPr marL="12700" marR="12700" marT="1270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2100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B9C5-ED86-8D79-18F1-E9F60F1CA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847FBC-06C8-F828-1269-B8A68AC098C7}"/>
              </a:ext>
            </a:extLst>
          </p:cNvPr>
          <p:cNvSpPr/>
          <p:nvPr/>
        </p:nvSpPr>
        <p:spPr>
          <a:xfrm>
            <a:off x="338901" y="1118734"/>
            <a:ext cx="5484832" cy="393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reads (</a:t>
            </a:r>
            <a:r>
              <a:rPr lang="en-US" sz="2000" dirty="0" err="1">
                <a:solidFill>
                  <a:schemeClr val="tx1"/>
                </a:solidFill>
              </a:rPr>
              <a:t>fastq</a:t>
            </a:r>
            <a:r>
              <a:rPr lang="en-US" sz="2000" dirty="0">
                <a:solidFill>
                  <a:schemeClr val="tx1"/>
                </a:solidFill>
              </a:rPr>
              <a:t> read data)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44D116-84C8-281B-F7FB-F7402ABC1AF1}"/>
              </a:ext>
            </a:extLst>
          </p:cNvPr>
          <p:cNvSpPr/>
          <p:nvPr/>
        </p:nvSpPr>
        <p:spPr>
          <a:xfrm>
            <a:off x="338901" y="1780545"/>
            <a:ext cx="5484832" cy="393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alignment (STAR, or others)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3901D1-41C6-63E9-4F5D-1096EC6FB2DE}"/>
              </a:ext>
            </a:extLst>
          </p:cNvPr>
          <p:cNvSpPr/>
          <p:nvPr/>
        </p:nvSpPr>
        <p:spPr>
          <a:xfrm>
            <a:off x="338901" y="2442356"/>
            <a:ext cx="5484832" cy="393700"/>
          </a:xfrm>
          <a:prstGeom prst="rect">
            <a:avLst/>
          </a:prstGeom>
          <a:solidFill>
            <a:srgbClr val="CCC1DA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read counts (HT-</a:t>
            </a:r>
            <a:r>
              <a:rPr lang="en-US" sz="2000" dirty="0" err="1">
                <a:solidFill>
                  <a:srgbClr val="000000"/>
                </a:solidFill>
              </a:rPr>
              <a:t>Seq</a:t>
            </a:r>
            <a:r>
              <a:rPr lang="en-US" sz="2000" dirty="0">
                <a:solidFill>
                  <a:srgbClr val="000000"/>
                </a:solidFill>
              </a:rPr>
              <a:t>, STAR)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C1E041-D0D7-7475-49D4-E3E1CE8295F2}"/>
              </a:ext>
            </a:extLst>
          </p:cNvPr>
          <p:cNvSpPr/>
          <p:nvPr/>
        </p:nvSpPr>
        <p:spPr>
          <a:xfrm>
            <a:off x="338901" y="3104167"/>
            <a:ext cx="5484832" cy="3937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statistical test (DESeq2, </a:t>
            </a:r>
            <a:r>
              <a:rPr lang="en-US" sz="2000" dirty="0" err="1">
                <a:solidFill>
                  <a:schemeClr val="tx1"/>
                </a:solidFill>
              </a:rPr>
              <a:t>edgeR</a:t>
            </a:r>
            <a:r>
              <a:rPr lang="en-US" sz="2000" dirty="0">
                <a:solidFill>
                  <a:schemeClr val="tx1"/>
                </a:solidFill>
              </a:rPr>
              <a:t>, or others)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CC1605-20D1-5507-76E7-D0838D11E4F8}"/>
              </a:ext>
            </a:extLst>
          </p:cNvPr>
          <p:cNvSpPr/>
          <p:nvPr/>
        </p:nvSpPr>
        <p:spPr>
          <a:xfrm>
            <a:off x="338901" y="3765978"/>
            <a:ext cx="5484832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q-values (FDR method)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55CC8A-1124-3F9E-A6DB-E84E90DBB73E}"/>
              </a:ext>
            </a:extLst>
          </p:cNvPr>
          <p:cNvSpPr/>
          <p:nvPr/>
        </p:nvSpPr>
        <p:spPr>
          <a:xfrm>
            <a:off x="338901" y="4427790"/>
            <a:ext cx="5484832" cy="393700"/>
          </a:xfrm>
          <a:prstGeom prst="rect">
            <a:avLst/>
          </a:prstGeom>
          <a:solidFill>
            <a:srgbClr val="D7E4BD"/>
          </a:solidFill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significance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093131-345A-BA99-D3EB-F48AC537F262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3081317" y="1512435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A92A50-0BFE-0A72-7660-E1F58F14655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081317" y="2174246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912EBE-D6E7-342D-B39E-0ADA4AA114A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081317" y="2836057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18E8C3-6583-9B88-C7DE-ACB0308F1331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3081317" y="3497868"/>
            <a:ext cx="0" cy="268111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78D4C5-663C-A09D-DAFE-889E221FC890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3081317" y="4159678"/>
            <a:ext cx="0" cy="268112"/>
          </a:xfrm>
          <a:prstGeom prst="straightConnector1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2968A327-F139-02D8-1672-467DEAD50BC0}"/>
              </a:ext>
            </a:extLst>
          </p:cNvPr>
          <p:cNvSpPr/>
          <p:nvPr/>
        </p:nvSpPr>
        <p:spPr>
          <a:xfrm>
            <a:off x="6044276" y="1274323"/>
            <a:ext cx="288988" cy="1505832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01623C-B097-3840-5824-9D25D7E22F8B}"/>
              </a:ext>
            </a:extLst>
          </p:cNvPr>
          <p:cNvSpPr txBox="1"/>
          <p:nvPr/>
        </p:nvSpPr>
        <p:spPr>
          <a:xfrm>
            <a:off x="6333265" y="1773154"/>
            <a:ext cx="2298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Bioinformatics</a:t>
            </a: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7A3B31E4-F225-4F53-EAAE-5E6E88E604D3}"/>
              </a:ext>
            </a:extLst>
          </p:cNvPr>
          <p:cNvSpPr/>
          <p:nvPr/>
        </p:nvSpPr>
        <p:spPr>
          <a:xfrm>
            <a:off x="6044276" y="3206343"/>
            <a:ext cx="288988" cy="1505832"/>
          </a:xfrm>
          <a:prstGeom prst="rightBrac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2BB415-30CD-5FC8-8648-850F82D53AE7}"/>
              </a:ext>
            </a:extLst>
          </p:cNvPr>
          <p:cNvSpPr txBox="1"/>
          <p:nvPr/>
        </p:nvSpPr>
        <p:spPr>
          <a:xfrm>
            <a:off x="6333265" y="3697569"/>
            <a:ext cx="2810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Statistical analysis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5762EE0E-4C61-4B3D-2BBD-FF972A360D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202092"/>
            <a:ext cx="8229600" cy="707875"/>
          </a:xfrm>
        </p:spPr>
        <p:txBody>
          <a:bodyPr>
            <a:noAutofit/>
          </a:bodyPr>
          <a:lstStyle/>
          <a:p>
            <a:pPr rtl="0" eaLnBrk="1" latinLnBrk="0" hangingPunct="1"/>
            <a:r>
              <a:rPr lang="en-US" sz="32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Bioinformatics and Statistics (</a:t>
            </a:r>
            <a:r>
              <a:rPr lang="en-US" sz="3200" dirty="0" err="1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Illumina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 data)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90F69-C6FB-7993-3A3B-67225A56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795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4659-5A68-846C-6C95-BB715EDE0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4381-8C92-4D4C-9C24-E3B78C28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CBD3E-73AD-E1F0-0C54-4F4139952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815" y="1282660"/>
            <a:ext cx="7136063" cy="2934229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RNA-seq procedure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Statistical test of differential expression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Multiple testing correction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RNA-seq data processing</a:t>
            </a:r>
          </a:p>
          <a:p>
            <a:pPr>
              <a:lnSpc>
                <a:spcPct val="120000"/>
              </a:lnSpc>
            </a:pPr>
            <a:r>
              <a:rPr lang="en-US" dirty="0"/>
              <a:t>Gene ontology (GO) enrichment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C1649-CF7C-0A2A-8460-59053EFA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628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571155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Gene ontology (GO)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427" y="1437534"/>
            <a:ext cx="4222827" cy="20579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9107" y="3611858"/>
            <a:ext cx="86457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Three domains, three roots</a:t>
            </a:r>
          </a:p>
          <a:p>
            <a:r>
              <a:rPr lang="en-US" sz="2000" dirty="0"/>
              <a:t>Node: GO term (e.g., cell growth, GO:0016049, biological process)</a:t>
            </a:r>
          </a:p>
          <a:p>
            <a:r>
              <a:rPr lang="en-US" sz="2000" dirty="0"/>
              <a:t>Edge: term-term connection, representing parent-child relationships</a:t>
            </a:r>
          </a:p>
          <a:p>
            <a:r>
              <a:rPr lang="en-US" sz="2000" dirty="0"/>
              <a:t>Each GO term can be traced back to a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944" y="3218525"/>
            <a:ext cx="17944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 err="1"/>
              <a:t>geneontology.org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22199" y="644574"/>
            <a:ext cx="87914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ontology is a representation of a body of knowledge, within a given domain. Ontologies usually consist of a set of terms with relations that operate between them.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60C56D-0FD1-7A77-A14F-0C0E8F7C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06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BAECD-D306-D34E-46E8-FFC1D3077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3D05-CE75-6C31-6CE0-2B91DF73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392"/>
            <a:ext cx="8229600" cy="734635"/>
          </a:xfrm>
        </p:spPr>
        <p:txBody>
          <a:bodyPr>
            <a:normAutofit/>
          </a:bodyPr>
          <a:lstStyle/>
          <a:p>
            <a:r>
              <a:rPr lang="en-US" sz="3200" dirty="0"/>
              <a:t>Gene ontology (GO)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AE097-B8D0-9F23-A26E-5011F3957DFD}"/>
              </a:ext>
            </a:extLst>
          </p:cNvPr>
          <p:cNvSpPr txBox="1"/>
          <p:nvPr/>
        </p:nvSpPr>
        <p:spPr>
          <a:xfrm>
            <a:off x="457200" y="1003301"/>
            <a:ext cx="83342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-apple-system"/>
              </a:rPr>
              <a:t>GO classifies functions into three aspects:</a:t>
            </a:r>
          </a:p>
          <a:p>
            <a:pPr algn="l"/>
            <a:endParaRPr lang="en-US" sz="24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l"/>
            <a:r>
              <a:rPr lang="en-US" sz="2400" b="1" i="0" dirty="0">
                <a:solidFill>
                  <a:schemeClr val="accent2">
                    <a:lumMod val="50000"/>
                  </a:schemeClr>
                </a:solidFill>
                <a:effectLst/>
                <a:latin typeface="-apple-system"/>
              </a:rPr>
              <a:t>MF: Molecular Function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-apple-system"/>
              </a:rPr>
              <a:t>molecular activities of gene products</a:t>
            </a:r>
          </a:p>
          <a:p>
            <a:pPr algn="l"/>
            <a:r>
              <a:rPr lang="en-US" sz="2400" b="1" i="0" dirty="0">
                <a:solidFill>
                  <a:schemeClr val="accent2">
                    <a:lumMod val="50000"/>
                  </a:schemeClr>
                </a:solidFill>
                <a:effectLst/>
                <a:latin typeface="-apple-system"/>
              </a:rPr>
              <a:t>CC: Cellular Component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-apple-system"/>
              </a:rPr>
              <a:t>where gene products are active</a:t>
            </a:r>
          </a:p>
          <a:p>
            <a:pPr algn="l"/>
            <a:r>
              <a:rPr lang="en-US" sz="2400" b="1" i="0" dirty="0">
                <a:solidFill>
                  <a:schemeClr val="accent2">
                    <a:lumMod val="50000"/>
                  </a:schemeClr>
                </a:solidFill>
                <a:effectLst/>
                <a:latin typeface="-apple-system"/>
              </a:rPr>
              <a:t>BP: Biological Process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-apple-system"/>
              </a:rPr>
              <a:t>pathways and larger processes made up of the activities of multiple gene products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84C9-53C3-E4CA-825E-CA51863F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6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92"/>
            <a:ext cx="8229600" cy="730927"/>
          </a:xfrm>
        </p:spPr>
        <p:txBody>
          <a:bodyPr>
            <a:normAutofit/>
          </a:bodyPr>
          <a:lstStyle/>
          <a:p>
            <a:r>
              <a:rPr lang="en-US" sz="3200" dirty="0"/>
              <a:t>GO enrichment</a:t>
            </a:r>
          </a:p>
        </p:txBody>
      </p:sp>
      <p:sp>
        <p:nvSpPr>
          <p:cNvPr id="5" name="Pie 4"/>
          <p:cNvSpPr/>
          <p:nvPr/>
        </p:nvSpPr>
        <p:spPr>
          <a:xfrm>
            <a:off x="1025950" y="1053253"/>
            <a:ext cx="2669754" cy="2523065"/>
          </a:xfrm>
          <a:prstGeom prst="pie">
            <a:avLst>
              <a:gd name="adj1" fmla="val 0"/>
              <a:gd name="adj2" fmla="val 17911617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Pie 7"/>
          <p:cNvSpPr/>
          <p:nvPr/>
        </p:nvSpPr>
        <p:spPr>
          <a:xfrm>
            <a:off x="1110617" y="1010921"/>
            <a:ext cx="2669754" cy="2523065"/>
          </a:xfrm>
          <a:prstGeom prst="pie">
            <a:avLst>
              <a:gd name="adj1" fmla="val 17869619"/>
              <a:gd name="adj2" fmla="val 21531985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Pie 11"/>
          <p:cNvSpPr/>
          <p:nvPr/>
        </p:nvSpPr>
        <p:spPr>
          <a:xfrm>
            <a:off x="5448297" y="1539368"/>
            <a:ext cx="1388637" cy="1312339"/>
          </a:xfrm>
          <a:prstGeom prst="pie">
            <a:avLst>
              <a:gd name="adj1" fmla="val 0"/>
              <a:gd name="adj2" fmla="val 12451217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Pie 12"/>
          <p:cNvSpPr/>
          <p:nvPr/>
        </p:nvSpPr>
        <p:spPr>
          <a:xfrm>
            <a:off x="5456764" y="1497033"/>
            <a:ext cx="1388637" cy="1312339"/>
          </a:xfrm>
          <a:prstGeom prst="pie">
            <a:avLst>
              <a:gd name="adj1" fmla="val 12473322"/>
              <a:gd name="adj2" fmla="val 21531985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47102" y="3632368"/>
            <a:ext cx="1493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All genes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103" y="2936691"/>
            <a:ext cx="16703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significant</a:t>
            </a:r>
          </a:p>
          <a:p>
            <a:r>
              <a:rPr lang="en-US" sz="2800" dirty="0"/>
              <a:t>genes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048" y="4290688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cell-division GO</a:t>
            </a:r>
            <a:r>
              <a:rPr lang="en-US" sz="2800" dirty="0"/>
              <a:t> enriched in the significant gene set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6576" y="836906"/>
            <a:ext cx="2256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 GO</a:t>
            </a:r>
          </a:p>
          <a:p>
            <a:pPr algn="ctr"/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(cell division)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F3B36-E614-5309-3AA8-5720B052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0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1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451" y="45253"/>
            <a:ext cx="8229600" cy="674314"/>
          </a:xfrm>
        </p:spPr>
        <p:txBody>
          <a:bodyPr>
            <a:normAutofit/>
          </a:bodyPr>
          <a:lstStyle/>
          <a:p>
            <a:r>
              <a:rPr lang="en-US" sz="3200" dirty="0"/>
              <a:t>dance party</a:t>
            </a:r>
          </a:p>
        </p:txBody>
      </p:sp>
      <p:sp>
        <p:nvSpPr>
          <p:cNvPr id="4" name="Pie 3"/>
          <p:cNvSpPr/>
          <p:nvPr/>
        </p:nvSpPr>
        <p:spPr>
          <a:xfrm>
            <a:off x="1572965" y="902425"/>
            <a:ext cx="2669754" cy="2523065"/>
          </a:xfrm>
          <a:prstGeom prst="pie">
            <a:avLst>
              <a:gd name="adj1" fmla="val 0"/>
              <a:gd name="adj2" fmla="val 17911617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Pie 4"/>
          <p:cNvSpPr/>
          <p:nvPr/>
        </p:nvSpPr>
        <p:spPr>
          <a:xfrm>
            <a:off x="1657632" y="860093"/>
            <a:ext cx="2669754" cy="2523065"/>
          </a:xfrm>
          <a:prstGeom prst="pie">
            <a:avLst>
              <a:gd name="adj1" fmla="val 17869619"/>
              <a:gd name="adj2" fmla="val 21531985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Pie 5"/>
          <p:cNvSpPr/>
          <p:nvPr/>
        </p:nvSpPr>
        <p:spPr>
          <a:xfrm>
            <a:off x="5476448" y="1421307"/>
            <a:ext cx="1388637" cy="1312339"/>
          </a:xfrm>
          <a:prstGeom prst="pie">
            <a:avLst>
              <a:gd name="adj1" fmla="val 0"/>
              <a:gd name="adj2" fmla="val 12451217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Pie 6"/>
          <p:cNvSpPr/>
          <p:nvPr/>
        </p:nvSpPr>
        <p:spPr>
          <a:xfrm>
            <a:off x="5484915" y="1378972"/>
            <a:ext cx="1388637" cy="1312339"/>
          </a:xfrm>
          <a:prstGeom prst="pie">
            <a:avLst>
              <a:gd name="adj1" fmla="val 12473322"/>
              <a:gd name="adj2" fmla="val 21531985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59821" y="3369973"/>
            <a:ext cx="22242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college students</a:t>
            </a:r>
          </a:p>
          <a:p>
            <a:pPr algn="ctr"/>
            <a:r>
              <a:rPr lang="en-US" sz="2400" dirty="0"/>
              <a:t>N=10,000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9557" y="2733647"/>
            <a:ext cx="23840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students who are in a dance party</a:t>
            </a:r>
          </a:p>
          <a:p>
            <a:pPr algn="ctr"/>
            <a:r>
              <a:rPr lang="en-US" sz="2400" dirty="0"/>
              <a:t>N=200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51" y="4263835"/>
            <a:ext cx="8477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Are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graduate students </a:t>
            </a:r>
            <a:r>
              <a:rPr lang="en-US" sz="2400" dirty="0"/>
              <a:t>over-represented (enriched) in the party?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895B6D-7A13-A793-B243-8A284AA98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891819-AD4C-4FFC-90DA-929FE4E22907}"/>
              </a:ext>
            </a:extLst>
          </p:cNvPr>
          <p:cNvSpPr txBox="1"/>
          <p:nvPr/>
        </p:nvSpPr>
        <p:spPr>
          <a:xfrm>
            <a:off x="4105433" y="893211"/>
            <a:ext cx="16774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graduate students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26996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EC6CE-E1DF-AB4A-CE9B-22AC9BC9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9CA9-9333-750E-1C07-480CF958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1051158"/>
          </a:xfrm>
        </p:spPr>
        <p:txBody>
          <a:bodyPr>
            <a:noAutofit/>
          </a:bodyPr>
          <a:lstStyle/>
          <a:p>
            <a:r>
              <a:rPr lang="en-US" sz="2800" dirty="0" err="1">
                <a:hlinkClick r:id="rId2"/>
              </a:rPr>
              <a:t>Clusterprofiler</a:t>
            </a:r>
            <a:br>
              <a:rPr lang="en-US" sz="2800" dirty="0"/>
            </a:br>
            <a:r>
              <a:rPr lang="en-US" sz="2800" dirty="0"/>
              <a:t>a POPULAR package for GO enrichment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D2438-B0F1-1C09-3890-71FF17F8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930DFC-8660-7177-F91B-6153B671F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26" y="1323803"/>
            <a:ext cx="5624669" cy="307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EA7FD7-9B52-B282-FAA0-CA2903BC628F}"/>
              </a:ext>
            </a:extLst>
          </p:cNvPr>
          <p:cNvSpPr txBox="1"/>
          <p:nvPr/>
        </p:nvSpPr>
        <p:spPr>
          <a:xfrm>
            <a:off x="1900485" y="4571999"/>
            <a:ext cx="4866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Wu et al, 2021, the Innovation </a:t>
            </a:r>
            <a:r>
              <a:rPr lang="en-US" sz="1200" b="0" i="0" u="none" strike="noStrike" dirty="0">
                <a:solidFill>
                  <a:srgbClr val="0272B1"/>
                </a:solidFill>
                <a:effectLst/>
                <a:latin typeface="+mj-lt"/>
                <a:hlinkClick r:id="rId4" tooltip="Persistent link using digital object identifier"/>
              </a:rPr>
              <a:t>https://doi.org/10.1016/j.xinn.2021.100141</a:t>
            </a: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61641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976"/>
            <a:ext cx="8229600" cy="614362"/>
          </a:xfrm>
        </p:spPr>
        <p:txBody>
          <a:bodyPr>
            <a:normAutofit/>
          </a:bodyPr>
          <a:lstStyle/>
          <a:p>
            <a:r>
              <a:rPr lang="en-US" sz="3200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1413"/>
            <a:ext cx="8229600" cy="3561774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chemeClr val="accent2">
                    <a:lumMod val="50000"/>
                  </a:schemeClr>
                </a:solidFill>
              </a:rPr>
              <a:t>Biological replication </a:t>
            </a:r>
            <a:r>
              <a:rPr lang="en-US" sz="2600" dirty="0"/>
              <a:t>rather than technical replication are typically needed for an RNA-seq experiment.</a:t>
            </a:r>
          </a:p>
          <a:p>
            <a:r>
              <a:rPr lang="en-US" sz="2600" b="1" dirty="0">
                <a:solidFill>
                  <a:schemeClr val="accent2">
                    <a:lumMod val="50000"/>
                  </a:schemeClr>
                </a:solidFill>
              </a:rPr>
              <a:t>Multiple test correction</a:t>
            </a:r>
            <a:r>
              <a:rPr lang="en-US" sz="2600" dirty="0"/>
              <a:t>: P-values need to be corrected to account for multiple tests. The FDR method is a reliable approach for the correction.</a:t>
            </a:r>
          </a:p>
          <a:p>
            <a:r>
              <a:rPr lang="en-US" sz="2600" dirty="0"/>
              <a:t>Many bioinformatics pipelines and statistical methods have been developed. Identify good pipelines and pay attention to the parameters used in the pipeline.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967AD-EF62-944A-5485-C18AED8B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97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77E1EC-D5F3-2B8F-15CE-C738C73B4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B29D-DB4F-7392-31AA-CD8F72B086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6759" y="78060"/>
            <a:ext cx="8229600" cy="67766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Approaches for quantification of gene expression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834BAC-6BDA-429A-2ED5-91686993C9E0}"/>
              </a:ext>
            </a:extLst>
          </p:cNvPr>
          <p:cNvCxnSpPr/>
          <p:nvPr/>
        </p:nvCxnSpPr>
        <p:spPr>
          <a:xfrm>
            <a:off x="440599" y="164807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84B54E-5372-E573-3114-E31227799591}"/>
              </a:ext>
            </a:extLst>
          </p:cNvPr>
          <p:cNvCxnSpPr/>
          <p:nvPr/>
        </p:nvCxnSpPr>
        <p:spPr>
          <a:xfrm>
            <a:off x="446852" y="15151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C73081-9E93-45C5-7E72-B8D154F7BDE7}"/>
              </a:ext>
            </a:extLst>
          </p:cNvPr>
          <p:cNvCxnSpPr/>
          <p:nvPr/>
        </p:nvCxnSpPr>
        <p:spPr>
          <a:xfrm>
            <a:off x="1055335" y="14001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0BEF29-A752-5BE2-F9F0-7FBB54B4FB51}"/>
              </a:ext>
            </a:extLst>
          </p:cNvPr>
          <p:cNvCxnSpPr/>
          <p:nvPr/>
        </p:nvCxnSpPr>
        <p:spPr>
          <a:xfrm>
            <a:off x="1288632" y="128080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A3F27A-727F-1669-264F-31F35098D537}"/>
              </a:ext>
            </a:extLst>
          </p:cNvPr>
          <p:cNvCxnSpPr/>
          <p:nvPr/>
        </p:nvCxnSpPr>
        <p:spPr>
          <a:xfrm>
            <a:off x="831513" y="128280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3F8806-2A9D-D58F-BD80-287B5755ADF3}"/>
              </a:ext>
            </a:extLst>
          </p:cNvPr>
          <p:cNvCxnSpPr/>
          <p:nvPr/>
        </p:nvCxnSpPr>
        <p:spPr>
          <a:xfrm>
            <a:off x="1599785" y="104113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4362248-C557-4F4B-8A81-64924C71C275}"/>
              </a:ext>
            </a:extLst>
          </p:cNvPr>
          <p:cNvCxnSpPr/>
          <p:nvPr/>
        </p:nvCxnSpPr>
        <p:spPr>
          <a:xfrm>
            <a:off x="495660" y="187921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24681E4-D6CD-5021-7131-C7415CB0849A}"/>
              </a:ext>
            </a:extLst>
          </p:cNvPr>
          <p:cNvCxnSpPr/>
          <p:nvPr/>
        </p:nvCxnSpPr>
        <p:spPr>
          <a:xfrm>
            <a:off x="1294885" y="114786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E14F56-1663-FB6A-221E-DDBF5FF3BEDD}"/>
              </a:ext>
            </a:extLst>
          </p:cNvPr>
          <p:cNvCxnSpPr/>
          <p:nvPr/>
        </p:nvCxnSpPr>
        <p:spPr>
          <a:xfrm>
            <a:off x="951102" y="166673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26A02E-268D-BA8D-3E3E-7082AB350E0C}"/>
              </a:ext>
            </a:extLst>
          </p:cNvPr>
          <p:cNvCxnSpPr/>
          <p:nvPr/>
        </p:nvCxnSpPr>
        <p:spPr>
          <a:xfrm>
            <a:off x="1683449" y="177609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972F31C-ADC2-8C8B-9F98-BB42D19D8645}"/>
              </a:ext>
            </a:extLst>
          </p:cNvPr>
          <p:cNvCxnSpPr/>
          <p:nvPr/>
        </p:nvCxnSpPr>
        <p:spPr>
          <a:xfrm>
            <a:off x="1512635" y="139584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2223BD3-3481-310A-469B-4F2FF8A0C3FF}"/>
              </a:ext>
            </a:extLst>
          </p:cNvPr>
          <p:cNvCxnSpPr/>
          <p:nvPr/>
        </p:nvCxnSpPr>
        <p:spPr>
          <a:xfrm>
            <a:off x="1665085" y="126270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2D4133-F444-8B94-52A3-06A6DD8F77A7}"/>
              </a:ext>
            </a:extLst>
          </p:cNvPr>
          <p:cNvCxnSpPr/>
          <p:nvPr/>
        </p:nvCxnSpPr>
        <p:spPr>
          <a:xfrm>
            <a:off x="683016" y="142646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4A2A1D5-8644-364F-4D97-BA9BB8CB798D}"/>
              </a:ext>
            </a:extLst>
          </p:cNvPr>
          <p:cNvCxnSpPr/>
          <p:nvPr/>
        </p:nvCxnSpPr>
        <p:spPr>
          <a:xfrm>
            <a:off x="683016" y="177100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84C8A9-2443-FD6D-FBA1-BB6D7D4FF192}"/>
              </a:ext>
            </a:extLst>
          </p:cNvPr>
          <p:cNvCxnSpPr/>
          <p:nvPr/>
        </p:nvCxnSpPr>
        <p:spPr>
          <a:xfrm>
            <a:off x="1288863" y="176192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7A3DCD9-4929-6024-E42F-2D407E9550E3}"/>
              </a:ext>
            </a:extLst>
          </p:cNvPr>
          <p:cNvCxnSpPr/>
          <p:nvPr/>
        </p:nvCxnSpPr>
        <p:spPr>
          <a:xfrm>
            <a:off x="1522160" y="165964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9A1A089-829F-68BD-B6D6-9E8AEA867416}"/>
              </a:ext>
            </a:extLst>
          </p:cNvPr>
          <p:cNvCxnSpPr/>
          <p:nvPr/>
        </p:nvCxnSpPr>
        <p:spPr>
          <a:xfrm>
            <a:off x="1136413" y="153726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0F46D10-A551-8FF0-2629-7285C271751F}"/>
              </a:ext>
            </a:extLst>
          </p:cNvPr>
          <p:cNvCxnSpPr/>
          <p:nvPr/>
        </p:nvCxnSpPr>
        <p:spPr>
          <a:xfrm>
            <a:off x="1528413" y="152670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469CF4F-179A-8092-10EB-3C795A2FDD2E}"/>
              </a:ext>
            </a:extLst>
          </p:cNvPr>
          <p:cNvCxnSpPr/>
          <p:nvPr/>
        </p:nvCxnSpPr>
        <p:spPr>
          <a:xfrm>
            <a:off x="542906" y="210158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A969751-35AC-C8A0-A030-6DA2C8943EA2}"/>
              </a:ext>
            </a:extLst>
          </p:cNvPr>
          <p:cNvCxnSpPr/>
          <p:nvPr/>
        </p:nvCxnSpPr>
        <p:spPr>
          <a:xfrm>
            <a:off x="545723" y="230813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3B2E270-A2DA-9E5B-D220-923777F22089}"/>
              </a:ext>
            </a:extLst>
          </p:cNvPr>
          <p:cNvCxnSpPr/>
          <p:nvPr/>
        </p:nvCxnSpPr>
        <p:spPr>
          <a:xfrm>
            <a:off x="1070492" y="209959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401AB9B-CB7B-11E5-F0FF-89CAA5D9CFF4}"/>
              </a:ext>
            </a:extLst>
          </p:cNvPr>
          <p:cNvCxnSpPr/>
          <p:nvPr/>
        </p:nvCxnSpPr>
        <p:spPr>
          <a:xfrm>
            <a:off x="1222942" y="244153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33FF167-E070-7F1D-B618-333B08557456}"/>
              </a:ext>
            </a:extLst>
          </p:cNvPr>
          <p:cNvCxnSpPr/>
          <p:nvPr/>
        </p:nvCxnSpPr>
        <p:spPr>
          <a:xfrm>
            <a:off x="1456239" y="233925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0634BD9-3F5B-30CB-E4CC-47127ADE1B79}"/>
              </a:ext>
            </a:extLst>
          </p:cNvPr>
          <p:cNvCxnSpPr/>
          <p:nvPr/>
        </p:nvCxnSpPr>
        <p:spPr>
          <a:xfrm>
            <a:off x="1070492" y="221688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A0A1448-2645-CB95-65B2-A8D08911F68D}"/>
              </a:ext>
            </a:extLst>
          </p:cNvPr>
          <p:cNvCxnSpPr/>
          <p:nvPr/>
        </p:nvCxnSpPr>
        <p:spPr>
          <a:xfrm>
            <a:off x="999120" y="234125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A0AC418-E41E-4F8E-BAC4-47B597D48BC1}"/>
              </a:ext>
            </a:extLst>
          </p:cNvPr>
          <p:cNvCxnSpPr/>
          <p:nvPr/>
        </p:nvCxnSpPr>
        <p:spPr>
          <a:xfrm>
            <a:off x="862026" y="198251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348CAAA-D31E-8607-84D7-62F78650F8A7}"/>
              </a:ext>
            </a:extLst>
          </p:cNvPr>
          <p:cNvCxnSpPr/>
          <p:nvPr/>
        </p:nvCxnSpPr>
        <p:spPr>
          <a:xfrm>
            <a:off x="1767392" y="209959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8650D39-FA4E-6EB1-F3B8-5714016DCE47}"/>
              </a:ext>
            </a:extLst>
          </p:cNvPr>
          <p:cNvCxnSpPr/>
          <p:nvPr/>
        </p:nvCxnSpPr>
        <p:spPr>
          <a:xfrm>
            <a:off x="1384867" y="201965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039C4D9-EBDD-35A4-FB5D-82BA776E2E7E}"/>
              </a:ext>
            </a:extLst>
          </p:cNvPr>
          <p:cNvCxnSpPr/>
          <p:nvPr/>
        </p:nvCxnSpPr>
        <p:spPr>
          <a:xfrm>
            <a:off x="1118709" y="186013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6FC9F6D-167C-D252-C6A9-389BB5F4225D}"/>
              </a:ext>
            </a:extLst>
          </p:cNvPr>
          <p:cNvCxnSpPr/>
          <p:nvPr/>
        </p:nvCxnSpPr>
        <p:spPr>
          <a:xfrm>
            <a:off x="1462492" y="220632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74259C7-7868-5BBC-71C0-5A0CD7F1D8A7}"/>
              </a:ext>
            </a:extLst>
          </p:cNvPr>
          <p:cNvCxnSpPr/>
          <p:nvPr/>
        </p:nvCxnSpPr>
        <p:spPr>
          <a:xfrm>
            <a:off x="1680242" y="243725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3D8FC05-5260-7640-E35A-F3EF1C71F4C7}"/>
              </a:ext>
            </a:extLst>
          </p:cNvPr>
          <p:cNvCxnSpPr/>
          <p:nvPr/>
        </p:nvCxnSpPr>
        <p:spPr>
          <a:xfrm>
            <a:off x="1832692" y="232115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304D701-07AB-8579-F567-2BC02A8FC98C}"/>
              </a:ext>
            </a:extLst>
          </p:cNvPr>
          <p:cNvCxnSpPr/>
          <p:nvPr/>
        </p:nvCxnSpPr>
        <p:spPr>
          <a:xfrm>
            <a:off x="850623" y="246787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2E06CFE-4E3F-D79D-4F4C-9DA5F17ED3E2}"/>
              </a:ext>
            </a:extLst>
          </p:cNvPr>
          <p:cNvCxnSpPr/>
          <p:nvPr/>
        </p:nvCxnSpPr>
        <p:spPr>
          <a:xfrm>
            <a:off x="1689767" y="267548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3E06247-A851-B2A8-4902-95DA828B9F00}"/>
              </a:ext>
            </a:extLst>
          </p:cNvPr>
          <p:cNvCxnSpPr/>
          <p:nvPr/>
        </p:nvCxnSpPr>
        <p:spPr>
          <a:xfrm>
            <a:off x="1304020" y="255310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E0B090C-C97A-FED5-FF29-36B623C360E3}"/>
              </a:ext>
            </a:extLst>
          </p:cNvPr>
          <p:cNvCxnSpPr/>
          <p:nvPr/>
        </p:nvCxnSpPr>
        <p:spPr>
          <a:xfrm>
            <a:off x="1696020" y="254254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22FC6C8-8F48-E6EF-4722-138E55450E78}"/>
              </a:ext>
            </a:extLst>
          </p:cNvPr>
          <p:cNvCxnSpPr/>
          <p:nvPr/>
        </p:nvCxnSpPr>
        <p:spPr>
          <a:xfrm>
            <a:off x="2225054" y="113485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62A2A4F-E97D-3128-BE73-3A6D14E37DB6}"/>
              </a:ext>
            </a:extLst>
          </p:cNvPr>
          <p:cNvCxnSpPr/>
          <p:nvPr/>
        </p:nvCxnSpPr>
        <p:spPr>
          <a:xfrm>
            <a:off x="2377504" y="151941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2F42228-2D3B-DA3C-A56B-CAE017D0D4F6}"/>
              </a:ext>
            </a:extLst>
          </p:cNvPr>
          <p:cNvCxnSpPr/>
          <p:nvPr/>
        </p:nvCxnSpPr>
        <p:spPr>
          <a:xfrm>
            <a:off x="2610801" y="139156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2668A8-ED09-84BF-E0BD-AA0E2B3D2E18}"/>
              </a:ext>
            </a:extLst>
          </p:cNvPr>
          <p:cNvCxnSpPr/>
          <p:nvPr/>
        </p:nvCxnSpPr>
        <p:spPr>
          <a:xfrm>
            <a:off x="2225054" y="125214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B0FB841-C915-5C40-5766-4ECFF903E498}"/>
              </a:ext>
            </a:extLst>
          </p:cNvPr>
          <p:cNvCxnSpPr/>
          <p:nvPr/>
        </p:nvCxnSpPr>
        <p:spPr>
          <a:xfrm>
            <a:off x="2153682" y="139356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5153FBB-1365-EC40-73BA-F53F31CDC932}"/>
              </a:ext>
            </a:extLst>
          </p:cNvPr>
          <p:cNvCxnSpPr/>
          <p:nvPr/>
        </p:nvCxnSpPr>
        <p:spPr>
          <a:xfrm>
            <a:off x="2512821" y="103257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3C61F20-ACDE-9FFC-1A31-B89032C58C87}"/>
              </a:ext>
            </a:extLst>
          </p:cNvPr>
          <p:cNvCxnSpPr/>
          <p:nvPr/>
        </p:nvCxnSpPr>
        <p:spPr>
          <a:xfrm>
            <a:off x="2921954" y="113485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CC7FDAE-AFA6-94BD-0D0C-8C12195761AB}"/>
              </a:ext>
            </a:extLst>
          </p:cNvPr>
          <p:cNvCxnSpPr/>
          <p:nvPr/>
        </p:nvCxnSpPr>
        <p:spPr>
          <a:xfrm>
            <a:off x="2647127" y="114786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2B36557-4BE6-6CB6-A853-BB5B39BD22B5}"/>
              </a:ext>
            </a:extLst>
          </p:cNvPr>
          <p:cNvCxnSpPr/>
          <p:nvPr/>
        </p:nvCxnSpPr>
        <p:spPr>
          <a:xfrm>
            <a:off x="2617054" y="124158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6D457D6-0DEC-E9FB-387C-EF87903B69A5}"/>
              </a:ext>
            </a:extLst>
          </p:cNvPr>
          <p:cNvCxnSpPr/>
          <p:nvPr/>
        </p:nvCxnSpPr>
        <p:spPr>
          <a:xfrm>
            <a:off x="2273271" y="176044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C8D8633-3991-7FB0-F067-60F27AA18EAA}"/>
              </a:ext>
            </a:extLst>
          </p:cNvPr>
          <p:cNvCxnSpPr/>
          <p:nvPr/>
        </p:nvCxnSpPr>
        <p:spPr>
          <a:xfrm>
            <a:off x="3220551" y="163751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91AFB35-B15C-40EE-6135-ACB24C762792}"/>
              </a:ext>
            </a:extLst>
          </p:cNvPr>
          <p:cNvCxnSpPr/>
          <p:nvPr/>
        </p:nvCxnSpPr>
        <p:spPr>
          <a:xfrm>
            <a:off x="2834804" y="15151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A487A77-E726-E834-4359-1B504AD25255}"/>
              </a:ext>
            </a:extLst>
          </p:cNvPr>
          <p:cNvCxnSpPr/>
          <p:nvPr/>
        </p:nvCxnSpPr>
        <p:spPr>
          <a:xfrm>
            <a:off x="3043825" y="137227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D102692-A1EC-7987-6D9F-0A4C95860614}"/>
              </a:ext>
            </a:extLst>
          </p:cNvPr>
          <p:cNvCxnSpPr/>
          <p:nvPr/>
        </p:nvCxnSpPr>
        <p:spPr>
          <a:xfrm>
            <a:off x="3158068" y="123912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207FA97-706F-8734-4420-CCFB8D6663FD}"/>
              </a:ext>
            </a:extLst>
          </p:cNvPr>
          <p:cNvCxnSpPr/>
          <p:nvPr/>
        </p:nvCxnSpPr>
        <p:spPr>
          <a:xfrm>
            <a:off x="3226804" y="150457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05A69E3-859E-D8B4-74C0-3B0E672C3CBF}"/>
              </a:ext>
            </a:extLst>
          </p:cNvPr>
          <p:cNvCxnSpPr/>
          <p:nvPr/>
        </p:nvCxnSpPr>
        <p:spPr>
          <a:xfrm>
            <a:off x="2611032" y="185564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8B69587-6725-EDDD-F97D-3FD7D75F757B}"/>
              </a:ext>
            </a:extLst>
          </p:cNvPr>
          <p:cNvCxnSpPr/>
          <p:nvPr/>
        </p:nvCxnSpPr>
        <p:spPr>
          <a:xfrm>
            <a:off x="2844329" y="175336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CF199CA-D47D-6268-815D-A4F414D04FEB}"/>
              </a:ext>
            </a:extLst>
          </p:cNvPr>
          <p:cNvCxnSpPr/>
          <p:nvPr/>
        </p:nvCxnSpPr>
        <p:spPr>
          <a:xfrm>
            <a:off x="2458582" y="163098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A856BB1-2DD8-0932-0500-C5731C6F7C77}"/>
              </a:ext>
            </a:extLst>
          </p:cNvPr>
          <p:cNvCxnSpPr/>
          <p:nvPr/>
        </p:nvCxnSpPr>
        <p:spPr>
          <a:xfrm>
            <a:off x="2003506" y="187921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C48F7AB-D60F-B407-73B4-1DFF28A9FDA9}"/>
              </a:ext>
            </a:extLst>
          </p:cNvPr>
          <p:cNvCxnSpPr/>
          <p:nvPr/>
        </p:nvCxnSpPr>
        <p:spPr>
          <a:xfrm>
            <a:off x="1625141" y="108777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545674D-539D-65FB-4CFB-0D0A8AF0CEEB}"/>
              </a:ext>
            </a:extLst>
          </p:cNvPr>
          <p:cNvCxnSpPr/>
          <p:nvPr/>
        </p:nvCxnSpPr>
        <p:spPr>
          <a:xfrm>
            <a:off x="1777591" y="144676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47F0901-B0A6-3CAA-6F73-533245D4B1CB}"/>
              </a:ext>
            </a:extLst>
          </p:cNvPr>
          <p:cNvCxnSpPr/>
          <p:nvPr/>
        </p:nvCxnSpPr>
        <p:spPr>
          <a:xfrm>
            <a:off x="2010888" y="132744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23C32A8-C8DF-B28D-F827-8156A25F7E1E}"/>
              </a:ext>
            </a:extLst>
          </p:cNvPr>
          <p:cNvCxnSpPr/>
          <p:nvPr/>
        </p:nvCxnSpPr>
        <p:spPr>
          <a:xfrm>
            <a:off x="2168839" y="20890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66D8A598-2FD6-CD75-162A-D01C89C97FF1}"/>
              </a:ext>
            </a:extLst>
          </p:cNvPr>
          <p:cNvCxnSpPr/>
          <p:nvPr/>
        </p:nvCxnSpPr>
        <p:spPr>
          <a:xfrm>
            <a:off x="1553769" y="132943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CEB2B84-7172-7D3F-2DD1-D8DF2D6E9FBC}"/>
              </a:ext>
            </a:extLst>
          </p:cNvPr>
          <p:cNvCxnSpPr/>
          <p:nvPr/>
        </p:nvCxnSpPr>
        <p:spPr>
          <a:xfrm>
            <a:off x="2322041" y="108777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B6042E5-EADB-CF40-E889-4010CF648B41}"/>
              </a:ext>
            </a:extLst>
          </p:cNvPr>
          <p:cNvCxnSpPr/>
          <p:nvPr/>
        </p:nvCxnSpPr>
        <p:spPr>
          <a:xfrm>
            <a:off x="1939516" y="100784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3038BD1-2FE5-AA8D-5D2F-9384FB76CCEF}"/>
              </a:ext>
            </a:extLst>
          </p:cNvPr>
          <p:cNvCxnSpPr/>
          <p:nvPr/>
        </p:nvCxnSpPr>
        <p:spPr>
          <a:xfrm>
            <a:off x="3275612" y="186865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943F5F3-0103-4CEB-7626-2C550E24B113}"/>
              </a:ext>
            </a:extLst>
          </p:cNvPr>
          <p:cNvCxnSpPr/>
          <p:nvPr/>
        </p:nvCxnSpPr>
        <p:spPr>
          <a:xfrm>
            <a:off x="2017141" y="119450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37444E8-6A94-7841-05F5-B5AFE11D4C1D}"/>
              </a:ext>
            </a:extLst>
          </p:cNvPr>
          <p:cNvCxnSpPr/>
          <p:nvPr/>
        </p:nvCxnSpPr>
        <p:spPr>
          <a:xfrm>
            <a:off x="2234891" y="144248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1417A92-4DBB-41FB-537E-151E94DF35EB}"/>
              </a:ext>
            </a:extLst>
          </p:cNvPr>
          <p:cNvCxnSpPr/>
          <p:nvPr/>
        </p:nvCxnSpPr>
        <p:spPr>
          <a:xfrm>
            <a:off x="2387341" y="130933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5852DC8-CCA5-49E9-40D1-036877B9D291}"/>
              </a:ext>
            </a:extLst>
          </p:cNvPr>
          <p:cNvCxnSpPr/>
          <p:nvPr/>
        </p:nvCxnSpPr>
        <p:spPr>
          <a:xfrm>
            <a:off x="3462968" y="141590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6CD2024-2D26-37FC-8013-593E6E133ACA}"/>
              </a:ext>
            </a:extLst>
          </p:cNvPr>
          <p:cNvCxnSpPr/>
          <p:nvPr/>
        </p:nvCxnSpPr>
        <p:spPr>
          <a:xfrm>
            <a:off x="3462968" y="176044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1E0BFAD-C5B9-4A2F-6B19-2E7EED34B2DE}"/>
              </a:ext>
            </a:extLst>
          </p:cNvPr>
          <p:cNvCxnSpPr/>
          <p:nvPr/>
        </p:nvCxnSpPr>
        <p:spPr>
          <a:xfrm>
            <a:off x="2392661" y="219330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6883EA3-9FD2-8DB6-B742-5F8791037255}"/>
              </a:ext>
            </a:extLst>
          </p:cNvPr>
          <p:cNvCxnSpPr/>
          <p:nvPr/>
        </p:nvCxnSpPr>
        <p:spPr>
          <a:xfrm>
            <a:off x="2545111" y="253525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7C808F9-6366-AB99-19C0-29F759E1FA2B}"/>
              </a:ext>
            </a:extLst>
          </p:cNvPr>
          <p:cNvCxnSpPr/>
          <p:nvPr/>
        </p:nvCxnSpPr>
        <p:spPr>
          <a:xfrm>
            <a:off x="2778408" y="243297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72EF162-CEDE-D799-305B-555A3A80DDC3}"/>
              </a:ext>
            </a:extLst>
          </p:cNvPr>
          <p:cNvCxnSpPr/>
          <p:nvPr/>
        </p:nvCxnSpPr>
        <p:spPr>
          <a:xfrm>
            <a:off x="2392661" y="231059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3E65F14-237A-0C52-8D33-2B32C9E79919}"/>
              </a:ext>
            </a:extLst>
          </p:cNvPr>
          <p:cNvCxnSpPr/>
          <p:nvPr/>
        </p:nvCxnSpPr>
        <p:spPr>
          <a:xfrm>
            <a:off x="2321289" y="243496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787AAFC-DF46-420E-6C93-D411ED3B90FC}"/>
              </a:ext>
            </a:extLst>
          </p:cNvPr>
          <p:cNvCxnSpPr/>
          <p:nvPr/>
        </p:nvCxnSpPr>
        <p:spPr>
          <a:xfrm>
            <a:off x="2680428" y="209102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4AEBF90-06AA-0E74-AE98-175E61EFCF9F}"/>
              </a:ext>
            </a:extLst>
          </p:cNvPr>
          <p:cNvCxnSpPr/>
          <p:nvPr/>
        </p:nvCxnSpPr>
        <p:spPr>
          <a:xfrm>
            <a:off x="3089561" y="219330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DFD819D-52AB-203E-9F29-7BF964CB0498}"/>
              </a:ext>
            </a:extLst>
          </p:cNvPr>
          <p:cNvCxnSpPr/>
          <p:nvPr/>
        </p:nvCxnSpPr>
        <p:spPr>
          <a:xfrm>
            <a:off x="3322858" y="209102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5116A94-9A5E-4841-0CB7-1DE495F4E817}"/>
              </a:ext>
            </a:extLst>
          </p:cNvPr>
          <p:cNvCxnSpPr/>
          <p:nvPr/>
        </p:nvCxnSpPr>
        <p:spPr>
          <a:xfrm>
            <a:off x="2937111" y="196864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C3068A5-BF22-250D-61DF-D59AEEACA531}"/>
              </a:ext>
            </a:extLst>
          </p:cNvPr>
          <p:cNvCxnSpPr/>
          <p:nvPr/>
        </p:nvCxnSpPr>
        <p:spPr>
          <a:xfrm>
            <a:off x="2784661" y="230003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777391B-76C2-AB4F-221D-C3B78ACF1910}"/>
              </a:ext>
            </a:extLst>
          </p:cNvPr>
          <p:cNvCxnSpPr/>
          <p:nvPr/>
        </p:nvCxnSpPr>
        <p:spPr>
          <a:xfrm>
            <a:off x="3002411" y="253096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484C1D8-609B-99E4-BCB5-AB3B77C5E448}"/>
              </a:ext>
            </a:extLst>
          </p:cNvPr>
          <p:cNvCxnSpPr/>
          <p:nvPr/>
        </p:nvCxnSpPr>
        <p:spPr>
          <a:xfrm>
            <a:off x="3211432" y="241368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C3B7055-8853-574D-5DAA-CA318B0D0A36}"/>
              </a:ext>
            </a:extLst>
          </p:cNvPr>
          <p:cNvCxnSpPr/>
          <p:nvPr/>
        </p:nvCxnSpPr>
        <p:spPr>
          <a:xfrm>
            <a:off x="3325675" y="229757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FE14962-F230-88C5-883E-AA55BC0928D4}"/>
              </a:ext>
            </a:extLst>
          </p:cNvPr>
          <p:cNvCxnSpPr/>
          <p:nvPr/>
        </p:nvCxnSpPr>
        <p:spPr>
          <a:xfrm>
            <a:off x="2626189" y="264682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8334E5C-F322-3AA1-0A56-9B6E83FB709C}"/>
              </a:ext>
            </a:extLst>
          </p:cNvPr>
          <p:cNvCxnSpPr/>
          <p:nvPr/>
        </p:nvCxnSpPr>
        <p:spPr>
          <a:xfrm>
            <a:off x="2137592" y="255310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FB2EE5C-3737-3489-2E7A-ABF8D7DD6F67}"/>
              </a:ext>
            </a:extLst>
          </p:cNvPr>
          <p:cNvCxnSpPr/>
          <p:nvPr/>
        </p:nvCxnSpPr>
        <p:spPr>
          <a:xfrm>
            <a:off x="3641978" y="197195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34ECF6E1-77C8-813B-A6C2-96412FD26DEE}"/>
              </a:ext>
            </a:extLst>
          </p:cNvPr>
          <p:cNvCxnSpPr/>
          <p:nvPr/>
        </p:nvCxnSpPr>
        <p:spPr>
          <a:xfrm>
            <a:off x="2395499" y="196864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A766EA7-E751-57E2-A074-34E72A8C47B8}"/>
              </a:ext>
            </a:extLst>
          </p:cNvPr>
          <p:cNvCxnSpPr/>
          <p:nvPr/>
        </p:nvCxnSpPr>
        <p:spPr>
          <a:xfrm>
            <a:off x="1925277" y="155181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CEDF02E-8755-C1BA-6D5C-1C9C81FBA718}"/>
              </a:ext>
            </a:extLst>
          </p:cNvPr>
          <p:cNvCxnSpPr/>
          <p:nvPr/>
        </p:nvCxnSpPr>
        <p:spPr>
          <a:xfrm>
            <a:off x="703279" y="159959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B05B415-C14E-1911-ADF5-DF5D34C2B413}"/>
              </a:ext>
            </a:extLst>
          </p:cNvPr>
          <p:cNvCxnSpPr/>
          <p:nvPr/>
        </p:nvCxnSpPr>
        <p:spPr>
          <a:xfrm>
            <a:off x="936576" y="148027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F45CF8F2-DFC9-6E4A-3842-6EB2D354BC6C}"/>
              </a:ext>
            </a:extLst>
          </p:cNvPr>
          <p:cNvCxnSpPr/>
          <p:nvPr/>
        </p:nvCxnSpPr>
        <p:spPr>
          <a:xfrm>
            <a:off x="479457" y="148226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6778ADB8-8405-86B8-DDFF-05EC7D2A5C9E}"/>
              </a:ext>
            </a:extLst>
          </p:cNvPr>
          <p:cNvCxnSpPr/>
          <p:nvPr/>
        </p:nvCxnSpPr>
        <p:spPr>
          <a:xfrm>
            <a:off x="1247729" y="124060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716A70D0-8071-B0FC-9C3C-347DB78C28D8}"/>
              </a:ext>
            </a:extLst>
          </p:cNvPr>
          <p:cNvCxnSpPr/>
          <p:nvPr/>
        </p:nvCxnSpPr>
        <p:spPr>
          <a:xfrm>
            <a:off x="942829" y="134733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760FEBC-0A66-EE1B-7749-E726D29F291A}"/>
              </a:ext>
            </a:extLst>
          </p:cNvPr>
          <p:cNvCxnSpPr/>
          <p:nvPr/>
        </p:nvCxnSpPr>
        <p:spPr>
          <a:xfrm>
            <a:off x="599046" y="186620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E027D27-DAFE-7A9D-B4AF-E9EA6AE23059}"/>
              </a:ext>
            </a:extLst>
          </p:cNvPr>
          <p:cNvCxnSpPr/>
          <p:nvPr/>
        </p:nvCxnSpPr>
        <p:spPr>
          <a:xfrm>
            <a:off x="1331393" y="197556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8EE8613E-8FFD-CD71-6D22-654609C93ED2}"/>
              </a:ext>
            </a:extLst>
          </p:cNvPr>
          <p:cNvCxnSpPr/>
          <p:nvPr/>
        </p:nvCxnSpPr>
        <p:spPr>
          <a:xfrm>
            <a:off x="1160579" y="159531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686CAADC-299C-6E75-7FCC-B42A92D91016}"/>
              </a:ext>
            </a:extLst>
          </p:cNvPr>
          <p:cNvCxnSpPr/>
          <p:nvPr/>
        </p:nvCxnSpPr>
        <p:spPr>
          <a:xfrm>
            <a:off x="1313029" y="146216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ED3C41A9-3B7D-B6A4-2328-A839E12D9E1D}"/>
              </a:ext>
            </a:extLst>
          </p:cNvPr>
          <p:cNvCxnSpPr/>
          <p:nvPr/>
        </p:nvCxnSpPr>
        <p:spPr>
          <a:xfrm>
            <a:off x="936807" y="196139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A549C6B2-2D44-3A10-F505-F868C3FB35F7}"/>
              </a:ext>
            </a:extLst>
          </p:cNvPr>
          <p:cNvCxnSpPr/>
          <p:nvPr/>
        </p:nvCxnSpPr>
        <p:spPr>
          <a:xfrm>
            <a:off x="1170104" y="185911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2BC291B2-F266-8364-D0F6-92397344B33F}"/>
              </a:ext>
            </a:extLst>
          </p:cNvPr>
          <p:cNvCxnSpPr/>
          <p:nvPr/>
        </p:nvCxnSpPr>
        <p:spPr>
          <a:xfrm>
            <a:off x="784357" y="173673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2868876C-3E8F-2CEE-346E-0401B85F774E}"/>
              </a:ext>
            </a:extLst>
          </p:cNvPr>
          <p:cNvCxnSpPr/>
          <p:nvPr/>
        </p:nvCxnSpPr>
        <p:spPr>
          <a:xfrm>
            <a:off x="1176357" y="1726175"/>
            <a:ext cx="304900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FCE0E31D-81E1-1AEE-974E-A763B4387C8C}"/>
              </a:ext>
            </a:extLst>
          </p:cNvPr>
          <p:cNvCxnSpPr/>
          <p:nvPr/>
        </p:nvCxnSpPr>
        <p:spPr>
          <a:xfrm>
            <a:off x="718436" y="229905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3EBFFDA-E6D9-328E-4891-90F4EB72F721}"/>
              </a:ext>
            </a:extLst>
          </p:cNvPr>
          <p:cNvCxnSpPr/>
          <p:nvPr/>
        </p:nvCxnSpPr>
        <p:spPr>
          <a:xfrm>
            <a:off x="1104183" y="253872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B5324B03-AF79-BB25-6F7A-B97D65459F04}"/>
              </a:ext>
            </a:extLst>
          </p:cNvPr>
          <p:cNvCxnSpPr/>
          <p:nvPr/>
        </p:nvCxnSpPr>
        <p:spPr>
          <a:xfrm>
            <a:off x="509970" y="218197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4CDD0EF2-FD97-9B3D-1FFC-616776DB2034}"/>
              </a:ext>
            </a:extLst>
          </p:cNvPr>
          <p:cNvCxnSpPr/>
          <p:nvPr/>
        </p:nvCxnSpPr>
        <p:spPr>
          <a:xfrm>
            <a:off x="1415336" y="229905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C8575AA5-BFF3-5680-42EF-3801B4EDA05C}"/>
              </a:ext>
            </a:extLst>
          </p:cNvPr>
          <p:cNvCxnSpPr/>
          <p:nvPr/>
        </p:nvCxnSpPr>
        <p:spPr>
          <a:xfrm>
            <a:off x="1032811" y="221912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2FE66D4-9C05-E04D-47C0-3891F3DE1886}"/>
              </a:ext>
            </a:extLst>
          </p:cNvPr>
          <p:cNvCxnSpPr/>
          <p:nvPr/>
        </p:nvCxnSpPr>
        <p:spPr>
          <a:xfrm>
            <a:off x="766653" y="205960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9430D948-BC02-04DA-48DC-9C9A22BD566A}"/>
              </a:ext>
            </a:extLst>
          </p:cNvPr>
          <p:cNvCxnSpPr/>
          <p:nvPr/>
        </p:nvCxnSpPr>
        <p:spPr>
          <a:xfrm>
            <a:off x="1110436" y="240578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D74D390C-C1DF-5330-F769-56F260B8FF5B}"/>
              </a:ext>
            </a:extLst>
          </p:cNvPr>
          <p:cNvCxnSpPr/>
          <p:nvPr/>
        </p:nvCxnSpPr>
        <p:spPr>
          <a:xfrm>
            <a:off x="1328186" y="263672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E3B856CC-31EE-B914-041F-D94C54183536}"/>
              </a:ext>
            </a:extLst>
          </p:cNvPr>
          <p:cNvCxnSpPr/>
          <p:nvPr/>
        </p:nvCxnSpPr>
        <p:spPr>
          <a:xfrm>
            <a:off x="1480636" y="252061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BCEFFA98-8AD0-A3D2-4E0A-623466857D8D}"/>
              </a:ext>
            </a:extLst>
          </p:cNvPr>
          <p:cNvCxnSpPr/>
          <p:nvPr/>
        </p:nvCxnSpPr>
        <p:spPr>
          <a:xfrm>
            <a:off x="1872998" y="133431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8B214AC3-AEE7-0180-4E95-AB7F5C1A6A96}"/>
              </a:ext>
            </a:extLst>
          </p:cNvPr>
          <p:cNvCxnSpPr/>
          <p:nvPr/>
        </p:nvCxnSpPr>
        <p:spPr>
          <a:xfrm>
            <a:off x="2025448" y="171887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C5B553B1-A168-844F-D3ED-D6E1FDC739F7}"/>
              </a:ext>
            </a:extLst>
          </p:cNvPr>
          <p:cNvCxnSpPr/>
          <p:nvPr/>
        </p:nvCxnSpPr>
        <p:spPr>
          <a:xfrm>
            <a:off x="2258745" y="15910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C815F20-7695-325D-B06A-81EA09CBBBC8}"/>
              </a:ext>
            </a:extLst>
          </p:cNvPr>
          <p:cNvCxnSpPr/>
          <p:nvPr/>
        </p:nvCxnSpPr>
        <p:spPr>
          <a:xfrm>
            <a:off x="1872998" y="145160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02A7E962-2818-784D-CBE8-A0E4FEEFD110}"/>
              </a:ext>
            </a:extLst>
          </p:cNvPr>
          <p:cNvCxnSpPr/>
          <p:nvPr/>
        </p:nvCxnSpPr>
        <p:spPr>
          <a:xfrm>
            <a:off x="1801626" y="159302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D25F932B-C3FB-0E08-9AED-82A9D5AB1D18}"/>
              </a:ext>
            </a:extLst>
          </p:cNvPr>
          <p:cNvCxnSpPr/>
          <p:nvPr/>
        </p:nvCxnSpPr>
        <p:spPr>
          <a:xfrm>
            <a:off x="2592565" y="201943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9A619E60-4A29-31F0-7FF0-C570E6CCA566}"/>
              </a:ext>
            </a:extLst>
          </p:cNvPr>
          <p:cNvCxnSpPr/>
          <p:nvPr/>
        </p:nvCxnSpPr>
        <p:spPr>
          <a:xfrm>
            <a:off x="2569898" y="133431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855C5AE5-9C42-2D6D-0BC0-B515F9316FF7}"/>
              </a:ext>
            </a:extLst>
          </p:cNvPr>
          <p:cNvCxnSpPr/>
          <p:nvPr/>
        </p:nvCxnSpPr>
        <p:spPr>
          <a:xfrm>
            <a:off x="2803195" y="123203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07525D0F-C230-0C98-311C-D03E622482E3}"/>
              </a:ext>
            </a:extLst>
          </p:cNvPr>
          <p:cNvCxnSpPr/>
          <p:nvPr/>
        </p:nvCxnSpPr>
        <p:spPr>
          <a:xfrm>
            <a:off x="2417448" y="110965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AF53AA2C-E191-8C82-6CFB-38D3411163D7}"/>
              </a:ext>
            </a:extLst>
          </p:cNvPr>
          <p:cNvCxnSpPr/>
          <p:nvPr/>
        </p:nvCxnSpPr>
        <p:spPr>
          <a:xfrm>
            <a:off x="2264998" y="144104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266CE825-25EA-8467-782C-93908494413D}"/>
              </a:ext>
            </a:extLst>
          </p:cNvPr>
          <p:cNvCxnSpPr/>
          <p:nvPr/>
        </p:nvCxnSpPr>
        <p:spPr>
          <a:xfrm>
            <a:off x="1921215" y="195991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EDE0944F-D7C7-D18C-11E3-6837F983D741}"/>
              </a:ext>
            </a:extLst>
          </p:cNvPr>
          <p:cNvCxnSpPr/>
          <p:nvPr/>
        </p:nvCxnSpPr>
        <p:spPr>
          <a:xfrm>
            <a:off x="2868495" y="183697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8E05F487-20B5-9273-D4EC-715F983ECA17}"/>
              </a:ext>
            </a:extLst>
          </p:cNvPr>
          <p:cNvCxnSpPr/>
          <p:nvPr/>
        </p:nvCxnSpPr>
        <p:spPr>
          <a:xfrm>
            <a:off x="2482748" y="171459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BE7435F2-69C3-7782-ECD0-05548B9434DD}"/>
              </a:ext>
            </a:extLst>
          </p:cNvPr>
          <p:cNvCxnSpPr/>
          <p:nvPr/>
        </p:nvCxnSpPr>
        <p:spPr>
          <a:xfrm>
            <a:off x="2691769" y="157173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7F229FA0-347C-B19A-CD4F-1EDA249539F9}"/>
              </a:ext>
            </a:extLst>
          </p:cNvPr>
          <p:cNvCxnSpPr/>
          <p:nvPr/>
        </p:nvCxnSpPr>
        <p:spPr>
          <a:xfrm>
            <a:off x="2806012" y="143859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13153A58-F08A-0FB8-E67C-26E192206681}"/>
              </a:ext>
            </a:extLst>
          </p:cNvPr>
          <p:cNvCxnSpPr/>
          <p:nvPr/>
        </p:nvCxnSpPr>
        <p:spPr>
          <a:xfrm>
            <a:off x="2874748" y="170403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FE2B5B36-A0E3-6B63-16F8-3D9CEE98F662}"/>
              </a:ext>
            </a:extLst>
          </p:cNvPr>
          <p:cNvCxnSpPr/>
          <p:nvPr/>
        </p:nvCxnSpPr>
        <p:spPr>
          <a:xfrm>
            <a:off x="2258976" y="205510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F29144F2-0FA7-F649-18C7-81EC2B761306}"/>
              </a:ext>
            </a:extLst>
          </p:cNvPr>
          <p:cNvCxnSpPr/>
          <p:nvPr/>
        </p:nvCxnSpPr>
        <p:spPr>
          <a:xfrm>
            <a:off x="2492273" y="195282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B6F3E7AB-32ED-7027-F700-889A84C1686A}"/>
              </a:ext>
            </a:extLst>
          </p:cNvPr>
          <p:cNvCxnSpPr/>
          <p:nvPr/>
        </p:nvCxnSpPr>
        <p:spPr>
          <a:xfrm>
            <a:off x="2106526" y="183044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6838D50E-C5D2-9765-54A8-90AFA947A79A}"/>
              </a:ext>
            </a:extLst>
          </p:cNvPr>
          <p:cNvCxnSpPr/>
          <p:nvPr/>
        </p:nvCxnSpPr>
        <p:spPr>
          <a:xfrm>
            <a:off x="1651450" y="207868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007FEAC9-313F-FEDB-7909-2C89D735FB0B}"/>
              </a:ext>
            </a:extLst>
          </p:cNvPr>
          <p:cNvCxnSpPr/>
          <p:nvPr/>
        </p:nvCxnSpPr>
        <p:spPr>
          <a:xfrm>
            <a:off x="3483231" y="158903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E1236181-1658-9416-6E8D-C17154DD6F1E}"/>
              </a:ext>
            </a:extLst>
          </p:cNvPr>
          <p:cNvCxnSpPr/>
          <p:nvPr/>
        </p:nvCxnSpPr>
        <p:spPr>
          <a:xfrm>
            <a:off x="1816783" y="228849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5AB60D8E-B0FC-8DA9-698C-0BFB77062704}"/>
              </a:ext>
            </a:extLst>
          </p:cNvPr>
          <p:cNvCxnSpPr/>
          <p:nvPr/>
        </p:nvCxnSpPr>
        <p:spPr>
          <a:xfrm>
            <a:off x="3259409" y="147170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CA7B40FA-0CF8-9003-0B22-C30F2078425A}"/>
              </a:ext>
            </a:extLst>
          </p:cNvPr>
          <p:cNvCxnSpPr/>
          <p:nvPr/>
        </p:nvCxnSpPr>
        <p:spPr>
          <a:xfrm>
            <a:off x="2339823" y="190275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32032DDF-13A8-1AF7-C321-08DDA8283111}"/>
              </a:ext>
            </a:extLst>
          </p:cNvPr>
          <p:cNvCxnSpPr/>
          <p:nvPr/>
        </p:nvCxnSpPr>
        <p:spPr>
          <a:xfrm>
            <a:off x="1587460" y="1207310"/>
            <a:ext cx="304900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47C5079B-20CA-F9B3-4785-BE47851B8F99}"/>
              </a:ext>
            </a:extLst>
          </p:cNvPr>
          <p:cNvCxnSpPr/>
          <p:nvPr/>
        </p:nvCxnSpPr>
        <p:spPr>
          <a:xfrm>
            <a:off x="2923556" y="206812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F1D5283-886C-BD71-85D6-1EF663DC45CF}"/>
              </a:ext>
            </a:extLst>
          </p:cNvPr>
          <p:cNvCxnSpPr/>
          <p:nvPr/>
        </p:nvCxnSpPr>
        <p:spPr>
          <a:xfrm>
            <a:off x="1677021" y="198251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477CB33A-81EF-8C32-59DC-8477F4D4BC34}"/>
              </a:ext>
            </a:extLst>
          </p:cNvPr>
          <p:cNvCxnSpPr/>
          <p:nvPr/>
        </p:nvCxnSpPr>
        <p:spPr>
          <a:xfrm>
            <a:off x="3378998" y="185564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3D17C75A-9F99-F157-1717-351A50BC6715}"/>
              </a:ext>
            </a:extLst>
          </p:cNvPr>
          <p:cNvCxnSpPr/>
          <p:nvPr/>
        </p:nvCxnSpPr>
        <p:spPr>
          <a:xfrm>
            <a:off x="2035285" y="150880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732FF8F9-D23B-9424-16A6-748E5795532C}"/>
              </a:ext>
            </a:extLst>
          </p:cNvPr>
          <p:cNvCxnSpPr/>
          <p:nvPr/>
        </p:nvCxnSpPr>
        <p:spPr>
          <a:xfrm>
            <a:off x="3110912" y="161537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220AE96F-6A1E-A13C-038E-723E5CA487E0}"/>
              </a:ext>
            </a:extLst>
          </p:cNvPr>
          <p:cNvCxnSpPr/>
          <p:nvPr/>
        </p:nvCxnSpPr>
        <p:spPr>
          <a:xfrm>
            <a:off x="3110912" y="195991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5A34844B-635B-5079-328C-BBA5E07BEE20}"/>
              </a:ext>
            </a:extLst>
          </p:cNvPr>
          <p:cNvCxnSpPr/>
          <p:nvPr/>
        </p:nvCxnSpPr>
        <p:spPr>
          <a:xfrm>
            <a:off x="2216203" y="271603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4159420A-4E05-4DF2-EE81-CD32F87C855A}"/>
              </a:ext>
            </a:extLst>
          </p:cNvPr>
          <p:cNvCxnSpPr/>
          <p:nvPr/>
        </p:nvCxnSpPr>
        <p:spPr>
          <a:xfrm>
            <a:off x="3564309" y="172617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213A19E-B4F0-27A7-4D7C-2DD70B79497F}"/>
              </a:ext>
            </a:extLst>
          </p:cNvPr>
          <p:cNvCxnSpPr/>
          <p:nvPr/>
        </p:nvCxnSpPr>
        <p:spPr>
          <a:xfrm>
            <a:off x="2040605" y="239277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DAFACC56-A805-DD33-6ACF-5F93E2E84227}"/>
              </a:ext>
            </a:extLst>
          </p:cNvPr>
          <p:cNvCxnSpPr/>
          <p:nvPr/>
        </p:nvCxnSpPr>
        <p:spPr>
          <a:xfrm>
            <a:off x="2426352" y="263243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DE4E0C55-D961-FC22-298E-F44A2FCEF509}"/>
              </a:ext>
            </a:extLst>
          </p:cNvPr>
          <p:cNvCxnSpPr/>
          <p:nvPr/>
        </p:nvCxnSpPr>
        <p:spPr>
          <a:xfrm>
            <a:off x="2040605" y="251005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74E11AEF-29E6-76B3-8A59-2AC47AB0AECF}"/>
              </a:ext>
            </a:extLst>
          </p:cNvPr>
          <p:cNvCxnSpPr/>
          <p:nvPr/>
        </p:nvCxnSpPr>
        <p:spPr>
          <a:xfrm>
            <a:off x="1969233" y="263443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9122D6A7-28E1-63E2-6B7F-B1E556D2B8AD}"/>
              </a:ext>
            </a:extLst>
          </p:cNvPr>
          <p:cNvCxnSpPr/>
          <p:nvPr/>
        </p:nvCxnSpPr>
        <p:spPr>
          <a:xfrm>
            <a:off x="2328372" y="229049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A9502232-A2F1-7CE2-0D38-4BFCFB61AD27}"/>
              </a:ext>
            </a:extLst>
          </p:cNvPr>
          <p:cNvCxnSpPr/>
          <p:nvPr/>
        </p:nvCxnSpPr>
        <p:spPr>
          <a:xfrm>
            <a:off x="2737505" y="239277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B040FD5F-AD5A-3A63-F0FC-DF682B34F37F}"/>
              </a:ext>
            </a:extLst>
          </p:cNvPr>
          <p:cNvCxnSpPr/>
          <p:nvPr/>
        </p:nvCxnSpPr>
        <p:spPr>
          <a:xfrm>
            <a:off x="2970802" y="229049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2FD5EFEE-C237-91A4-49AC-6F7DB0BCBCF5}"/>
              </a:ext>
            </a:extLst>
          </p:cNvPr>
          <p:cNvCxnSpPr/>
          <p:nvPr/>
        </p:nvCxnSpPr>
        <p:spPr>
          <a:xfrm>
            <a:off x="2585055" y="216811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216A2C8-57AC-55B0-4469-F55AAA2AE016}"/>
              </a:ext>
            </a:extLst>
          </p:cNvPr>
          <p:cNvCxnSpPr/>
          <p:nvPr/>
        </p:nvCxnSpPr>
        <p:spPr>
          <a:xfrm>
            <a:off x="2432605" y="249949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E4634CC3-B976-E453-2F07-0817EFD2A79D}"/>
              </a:ext>
            </a:extLst>
          </p:cNvPr>
          <p:cNvCxnSpPr/>
          <p:nvPr/>
        </p:nvCxnSpPr>
        <p:spPr>
          <a:xfrm>
            <a:off x="2859376" y="261314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A870E534-D4C3-7706-02EF-FFAE0484644D}"/>
              </a:ext>
            </a:extLst>
          </p:cNvPr>
          <p:cNvCxnSpPr/>
          <p:nvPr/>
        </p:nvCxnSpPr>
        <p:spPr>
          <a:xfrm>
            <a:off x="2973619" y="249704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4782C968-4DE4-F7A1-A298-DFDD5C43A29E}"/>
              </a:ext>
            </a:extLst>
          </p:cNvPr>
          <p:cNvCxnSpPr/>
          <p:nvPr/>
        </p:nvCxnSpPr>
        <p:spPr>
          <a:xfrm>
            <a:off x="3289922" y="217141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AC0B9C5A-5963-70FA-7350-34699BDAFEBF}"/>
              </a:ext>
            </a:extLst>
          </p:cNvPr>
          <p:cNvCxnSpPr/>
          <p:nvPr/>
        </p:nvCxnSpPr>
        <p:spPr>
          <a:xfrm>
            <a:off x="3546605" y="204904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CB19041F-FAD6-4B4C-F2AE-9AE1292C5491}"/>
              </a:ext>
            </a:extLst>
          </p:cNvPr>
          <p:cNvCxnSpPr/>
          <p:nvPr/>
        </p:nvCxnSpPr>
        <p:spPr>
          <a:xfrm>
            <a:off x="2043443" y="216811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A9554486-D54E-E845-5B6A-B8C6DD7030E4}"/>
              </a:ext>
            </a:extLst>
          </p:cNvPr>
          <p:cNvCxnSpPr/>
          <p:nvPr/>
        </p:nvCxnSpPr>
        <p:spPr>
          <a:xfrm>
            <a:off x="1573221" y="175128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09A0642C-04E2-95E4-3A0D-7885A1840B2C}"/>
              </a:ext>
            </a:extLst>
          </p:cNvPr>
          <p:cNvCxnSpPr/>
          <p:nvPr/>
        </p:nvCxnSpPr>
        <p:spPr>
          <a:xfrm>
            <a:off x="418370" y="17123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19D37384-D11B-6468-D26F-0059674F5FA2}"/>
              </a:ext>
            </a:extLst>
          </p:cNvPr>
          <p:cNvCxnSpPr/>
          <p:nvPr/>
        </p:nvCxnSpPr>
        <p:spPr>
          <a:xfrm>
            <a:off x="651667" y="159300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FA9E3781-1F99-316D-75CA-49556041D949}"/>
              </a:ext>
            </a:extLst>
          </p:cNvPr>
          <p:cNvCxnSpPr/>
          <p:nvPr/>
        </p:nvCxnSpPr>
        <p:spPr>
          <a:xfrm>
            <a:off x="962820" y="135333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1A2F6C6D-A20D-8843-C54E-8550B2763A0B}"/>
              </a:ext>
            </a:extLst>
          </p:cNvPr>
          <p:cNvCxnSpPr/>
          <p:nvPr/>
        </p:nvCxnSpPr>
        <p:spPr>
          <a:xfrm>
            <a:off x="657920" y="146006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E8249A04-5610-B65E-C6CD-C1D27B05F0DE}"/>
              </a:ext>
            </a:extLst>
          </p:cNvPr>
          <p:cNvCxnSpPr/>
          <p:nvPr/>
        </p:nvCxnSpPr>
        <p:spPr>
          <a:xfrm>
            <a:off x="1046484" y="208829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A5CC7D87-1307-C501-DCDC-764C9BE3FA65}"/>
              </a:ext>
            </a:extLst>
          </p:cNvPr>
          <p:cNvCxnSpPr/>
          <p:nvPr/>
        </p:nvCxnSpPr>
        <p:spPr>
          <a:xfrm>
            <a:off x="875670" y="170804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A278BBBB-AE88-9B1B-4856-F8FB92217BA1}"/>
              </a:ext>
            </a:extLst>
          </p:cNvPr>
          <p:cNvCxnSpPr/>
          <p:nvPr/>
        </p:nvCxnSpPr>
        <p:spPr>
          <a:xfrm>
            <a:off x="1028120" y="157490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666CD134-13F4-257E-6CA4-DF95C6F2032B}"/>
              </a:ext>
            </a:extLst>
          </p:cNvPr>
          <p:cNvCxnSpPr/>
          <p:nvPr/>
        </p:nvCxnSpPr>
        <p:spPr>
          <a:xfrm>
            <a:off x="651898" y="207412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058B41BB-CF35-827B-8DF7-1B442022C4DD}"/>
              </a:ext>
            </a:extLst>
          </p:cNvPr>
          <p:cNvCxnSpPr/>
          <p:nvPr/>
        </p:nvCxnSpPr>
        <p:spPr>
          <a:xfrm>
            <a:off x="885195" y="197184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17B1E0BE-5C3D-18D4-811D-984EFEADAF4C}"/>
              </a:ext>
            </a:extLst>
          </p:cNvPr>
          <p:cNvCxnSpPr/>
          <p:nvPr/>
        </p:nvCxnSpPr>
        <p:spPr>
          <a:xfrm>
            <a:off x="499448" y="184946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7B8E6E24-5F21-A9E1-C6CF-E74DD41EF2AC}"/>
              </a:ext>
            </a:extLst>
          </p:cNvPr>
          <p:cNvCxnSpPr/>
          <p:nvPr/>
        </p:nvCxnSpPr>
        <p:spPr>
          <a:xfrm>
            <a:off x="891448" y="183890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8D65307E-966E-C7F6-552E-C954781B5923}"/>
              </a:ext>
            </a:extLst>
          </p:cNvPr>
          <p:cNvCxnSpPr/>
          <p:nvPr/>
        </p:nvCxnSpPr>
        <p:spPr>
          <a:xfrm>
            <a:off x="1130427" y="241179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C723BC58-E3BD-BF38-0181-9A8E69C6295A}"/>
              </a:ext>
            </a:extLst>
          </p:cNvPr>
          <p:cNvCxnSpPr/>
          <p:nvPr/>
        </p:nvCxnSpPr>
        <p:spPr>
          <a:xfrm>
            <a:off x="747902" y="233185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E7A4A954-AF6A-CC4C-C2AD-895A80BEDC79}"/>
              </a:ext>
            </a:extLst>
          </p:cNvPr>
          <p:cNvCxnSpPr/>
          <p:nvPr/>
        </p:nvCxnSpPr>
        <p:spPr>
          <a:xfrm>
            <a:off x="481744" y="217233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C259B8FF-B54B-6454-3D41-5FC9E1A102F3}"/>
              </a:ext>
            </a:extLst>
          </p:cNvPr>
          <p:cNvCxnSpPr/>
          <p:nvPr/>
        </p:nvCxnSpPr>
        <p:spPr>
          <a:xfrm>
            <a:off x="825527" y="251852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B6E895C9-9DE6-8211-5763-8E13166D5E67}"/>
              </a:ext>
            </a:extLst>
          </p:cNvPr>
          <p:cNvCxnSpPr/>
          <p:nvPr/>
        </p:nvCxnSpPr>
        <p:spPr>
          <a:xfrm>
            <a:off x="1195727" y="263335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9B953CAD-919A-89D5-75CE-F70E79E78B57}"/>
              </a:ext>
            </a:extLst>
          </p:cNvPr>
          <p:cNvCxnSpPr/>
          <p:nvPr/>
        </p:nvCxnSpPr>
        <p:spPr>
          <a:xfrm>
            <a:off x="1588089" y="144705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7F4DB245-026A-0C8B-5A3C-1B91CAE2378B}"/>
              </a:ext>
            </a:extLst>
          </p:cNvPr>
          <p:cNvCxnSpPr/>
          <p:nvPr/>
        </p:nvCxnSpPr>
        <p:spPr>
          <a:xfrm>
            <a:off x="1740539" y="183161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E775376D-D7B1-3D76-B836-1FDCAA45BF83}"/>
              </a:ext>
            </a:extLst>
          </p:cNvPr>
          <p:cNvCxnSpPr/>
          <p:nvPr/>
        </p:nvCxnSpPr>
        <p:spPr>
          <a:xfrm>
            <a:off x="1973836" y="170376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4B2EF0AC-7A89-6312-2D81-47398DFDC4C7}"/>
              </a:ext>
            </a:extLst>
          </p:cNvPr>
          <p:cNvCxnSpPr/>
          <p:nvPr/>
        </p:nvCxnSpPr>
        <p:spPr>
          <a:xfrm>
            <a:off x="1588089" y="156434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71666793-13AA-54A3-69B5-854B36D22A03}"/>
              </a:ext>
            </a:extLst>
          </p:cNvPr>
          <p:cNvCxnSpPr/>
          <p:nvPr/>
        </p:nvCxnSpPr>
        <p:spPr>
          <a:xfrm>
            <a:off x="1479034" y="21212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D8056C6A-34A4-E209-8C8F-59A8E84B005A}"/>
              </a:ext>
            </a:extLst>
          </p:cNvPr>
          <p:cNvCxnSpPr/>
          <p:nvPr/>
        </p:nvCxnSpPr>
        <p:spPr>
          <a:xfrm>
            <a:off x="1875856" y="110347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D2F2CCB1-0E7C-9AB9-220E-93B0F83E16F5}"/>
              </a:ext>
            </a:extLst>
          </p:cNvPr>
          <p:cNvCxnSpPr/>
          <p:nvPr/>
        </p:nvCxnSpPr>
        <p:spPr>
          <a:xfrm>
            <a:off x="888370" y="217124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EE629977-E28A-D6E6-7F1D-393A88C8F71A}"/>
              </a:ext>
            </a:extLst>
          </p:cNvPr>
          <p:cNvCxnSpPr/>
          <p:nvPr/>
        </p:nvCxnSpPr>
        <p:spPr>
          <a:xfrm>
            <a:off x="2518286" y="134477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3679940E-D702-7A2B-AF7C-0E493246B816}"/>
              </a:ext>
            </a:extLst>
          </p:cNvPr>
          <p:cNvCxnSpPr/>
          <p:nvPr/>
        </p:nvCxnSpPr>
        <p:spPr>
          <a:xfrm>
            <a:off x="1980089" y="155378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86211CA2-85DD-2079-CDCB-C75237E9EE22}"/>
              </a:ext>
            </a:extLst>
          </p:cNvPr>
          <p:cNvCxnSpPr/>
          <p:nvPr/>
        </p:nvCxnSpPr>
        <p:spPr>
          <a:xfrm>
            <a:off x="1636306" y="207264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C8732194-7572-0A77-48AF-C1946219E870}"/>
              </a:ext>
            </a:extLst>
          </p:cNvPr>
          <p:cNvCxnSpPr/>
          <p:nvPr/>
        </p:nvCxnSpPr>
        <p:spPr>
          <a:xfrm>
            <a:off x="2583586" y="194971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F4253897-EDA9-B272-64A6-466C385E7F4C}"/>
              </a:ext>
            </a:extLst>
          </p:cNvPr>
          <p:cNvCxnSpPr/>
          <p:nvPr/>
        </p:nvCxnSpPr>
        <p:spPr>
          <a:xfrm>
            <a:off x="2197839" y="18273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A9C0E121-41AE-3067-3BC4-94C61719770A}"/>
              </a:ext>
            </a:extLst>
          </p:cNvPr>
          <p:cNvCxnSpPr/>
          <p:nvPr/>
        </p:nvCxnSpPr>
        <p:spPr>
          <a:xfrm>
            <a:off x="2406860" y="168447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A5B9450B-0285-7795-D851-C4C5802C7F0C}"/>
              </a:ext>
            </a:extLst>
          </p:cNvPr>
          <p:cNvCxnSpPr/>
          <p:nvPr/>
        </p:nvCxnSpPr>
        <p:spPr>
          <a:xfrm>
            <a:off x="2521103" y="1551324"/>
            <a:ext cx="304900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F007E1CA-4AC9-1DE5-ED7C-E0E88F36CD78}"/>
              </a:ext>
            </a:extLst>
          </p:cNvPr>
          <p:cNvCxnSpPr/>
          <p:nvPr/>
        </p:nvCxnSpPr>
        <p:spPr>
          <a:xfrm>
            <a:off x="2589839" y="181677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C43B41AF-BE9D-C3DD-9275-A156EF03505C}"/>
              </a:ext>
            </a:extLst>
          </p:cNvPr>
          <p:cNvCxnSpPr/>
          <p:nvPr/>
        </p:nvCxnSpPr>
        <p:spPr>
          <a:xfrm>
            <a:off x="1974067" y="216784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2D6DE9B4-FAEF-2836-5521-BE87E3AD7721}"/>
              </a:ext>
            </a:extLst>
          </p:cNvPr>
          <p:cNvCxnSpPr/>
          <p:nvPr/>
        </p:nvCxnSpPr>
        <p:spPr>
          <a:xfrm>
            <a:off x="2207364" y="206556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9DB65A27-C215-E23C-8075-42BFFFFE088E}"/>
              </a:ext>
            </a:extLst>
          </p:cNvPr>
          <p:cNvCxnSpPr/>
          <p:nvPr/>
        </p:nvCxnSpPr>
        <p:spPr>
          <a:xfrm>
            <a:off x="1821617" y="1943182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75F42BEB-8FCE-E1B9-1389-0458DA66B188}"/>
              </a:ext>
            </a:extLst>
          </p:cNvPr>
          <p:cNvCxnSpPr/>
          <p:nvPr/>
        </p:nvCxnSpPr>
        <p:spPr>
          <a:xfrm>
            <a:off x="1366541" y="2191418"/>
            <a:ext cx="304900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5AEA1963-028B-D0E1-1F84-DEF67E2D4016}"/>
              </a:ext>
            </a:extLst>
          </p:cNvPr>
          <p:cNvCxnSpPr/>
          <p:nvPr/>
        </p:nvCxnSpPr>
        <p:spPr>
          <a:xfrm>
            <a:off x="3045872" y="134277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4AB56388-8D3D-8623-1214-93BAD8A7A08E}"/>
              </a:ext>
            </a:extLst>
          </p:cNvPr>
          <p:cNvCxnSpPr/>
          <p:nvPr/>
        </p:nvCxnSpPr>
        <p:spPr>
          <a:xfrm>
            <a:off x="3198322" y="170177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88E2C08F-0A5F-BBB0-8E15-7F3093E35158}"/>
              </a:ext>
            </a:extLst>
          </p:cNvPr>
          <p:cNvCxnSpPr/>
          <p:nvPr/>
        </p:nvCxnSpPr>
        <p:spPr>
          <a:xfrm>
            <a:off x="3431619" y="158244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0B0CC23A-F5BD-67C4-9998-ED24498C48E9}"/>
              </a:ext>
            </a:extLst>
          </p:cNvPr>
          <p:cNvCxnSpPr/>
          <p:nvPr/>
        </p:nvCxnSpPr>
        <p:spPr>
          <a:xfrm>
            <a:off x="1531874" y="24012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36">
            <a:extLst>
              <a:ext uri="{FF2B5EF4-FFF2-40B4-BE49-F238E27FC236}">
                <a16:creationId xmlns:a16="http://schemas.microsoft.com/office/drawing/2014/main" id="{CA32B100-A6D0-AC44-F912-F281DFBF4C57}"/>
              </a:ext>
            </a:extLst>
          </p:cNvPr>
          <p:cNvCxnSpPr/>
          <p:nvPr/>
        </p:nvCxnSpPr>
        <p:spPr>
          <a:xfrm>
            <a:off x="2974500" y="158444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4666F9CA-C1DD-C6F8-C994-795B5E26FF31}"/>
              </a:ext>
            </a:extLst>
          </p:cNvPr>
          <p:cNvCxnSpPr/>
          <p:nvPr/>
        </p:nvCxnSpPr>
        <p:spPr>
          <a:xfrm>
            <a:off x="2837406" y="122570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B5A13506-0B1A-44E3-409D-BD5A60C5632F}"/>
              </a:ext>
            </a:extLst>
          </p:cNvPr>
          <p:cNvCxnSpPr/>
          <p:nvPr/>
        </p:nvCxnSpPr>
        <p:spPr>
          <a:xfrm>
            <a:off x="2638647" y="218085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06CC2303-B7B5-BE43-0D2D-7F01BC7FEF5D}"/>
              </a:ext>
            </a:extLst>
          </p:cNvPr>
          <p:cNvCxnSpPr/>
          <p:nvPr/>
        </p:nvCxnSpPr>
        <p:spPr>
          <a:xfrm>
            <a:off x="3399772" y="144950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39AA16AF-4B1B-83C8-6501-452E20D3660E}"/>
              </a:ext>
            </a:extLst>
          </p:cNvPr>
          <p:cNvCxnSpPr/>
          <p:nvPr/>
        </p:nvCxnSpPr>
        <p:spPr>
          <a:xfrm>
            <a:off x="3094089" y="196837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68828160-5C6C-413B-6D3B-E99310B50654}"/>
              </a:ext>
            </a:extLst>
          </p:cNvPr>
          <p:cNvCxnSpPr/>
          <p:nvPr/>
        </p:nvCxnSpPr>
        <p:spPr>
          <a:xfrm>
            <a:off x="3592122" y="169748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236BEEF8-92E0-423E-19DE-9E5B80233F52}"/>
              </a:ext>
            </a:extLst>
          </p:cNvPr>
          <p:cNvCxnSpPr/>
          <p:nvPr/>
        </p:nvCxnSpPr>
        <p:spPr>
          <a:xfrm>
            <a:off x="2826003" y="172810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2A182E2B-1F62-4195-5A6A-87A5E8004C6A}"/>
              </a:ext>
            </a:extLst>
          </p:cNvPr>
          <p:cNvCxnSpPr/>
          <p:nvPr/>
        </p:nvCxnSpPr>
        <p:spPr>
          <a:xfrm>
            <a:off x="2826003" y="207264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FB416C12-56C5-9342-C21E-030DEA657FC5}"/>
              </a:ext>
            </a:extLst>
          </p:cNvPr>
          <p:cNvCxnSpPr/>
          <p:nvPr/>
        </p:nvCxnSpPr>
        <p:spPr>
          <a:xfrm>
            <a:off x="3431850" y="206356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26DF2EE9-DE53-346D-70EA-D8E8C9ED37BE}"/>
              </a:ext>
            </a:extLst>
          </p:cNvPr>
          <p:cNvCxnSpPr/>
          <p:nvPr/>
        </p:nvCxnSpPr>
        <p:spPr>
          <a:xfrm>
            <a:off x="3665147" y="1961288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07F730D2-39D0-D4B9-0F2A-40ABC3E6A3CB}"/>
              </a:ext>
            </a:extLst>
          </p:cNvPr>
          <p:cNvCxnSpPr/>
          <p:nvPr/>
        </p:nvCxnSpPr>
        <p:spPr>
          <a:xfrm>
            <a:off x="3279400" y="1838909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E1E26E09-27A0-42F3-8A6B-6785076CD1F7}"/>
              </a:ext>
            </a:extLst>
          </p:cNvPr>
          <p:cNvCxnSpPr/>
          <p:nvPr/>
        </p:nvCxnSpPr>
        <p:spPr>
          <a:xfrm>
            <a:off x="1755696" y="250550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50462B84-87C5-58F8-662E-42718C8DFD9B}"/>
              </a:ext>
            </a:extLst>
          </p:cNvPr>
          <p:cNvCxnSpPr/>
          <p:nvPr/>
        </p:nvCxnSpPr>
        <p:spPr>
          <a:xfrm>
            <a:off x="1755696" y="262279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6B01A32C-1AD8-47FF-3FB9-D94F1AE6B42B}"/>
              </a:ext>
            </a:extLst>
          </p:cNvPr>
          <p:cNvCxnSpPr/>
          <p:nvPr/>
        </p:nvCxnSpPr>
        <p:spPr>
          <a:xfrm>
            <a:off x="2043463" y="240322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11BFDEC6-5179-A7E2-EF67-8D9FA95C694C}"/>
              </a:ext>
            </a:extLst>
          </p:cNvPr>
          <p:cNvCxnSpPr/>
          <p:nvPr/>
        </p:nvCxnSpPr>
        <p:spPr>
          <a:xfrm>
            <a:off x="2452596" y="2505504"/>
            <a:ext cx="304900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AC5878BE-7DE8-26D4-25C7-A62686843087}"/>
              </a:ext>
            </a:extLst>
          </p:cNvPr>
          <p:cNvCxnSpPr/>
          <p:nvPr/>
        </p:nvCxnSpPr>
        <p:spPr>
          <a:xfrm>
            <a:off x="2685893" y="2403225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EA0148CD-A44E-BCA4-8DD8-E7446E781547}"/>
              </a:ext>
            </a:extLst>
          </p:cNvPr>
          <p:cNvCxnSpPr/>
          <p:nvPr/>
        </p:nvCxnSpPr>
        <p:spPr>
          <a:xfrm>
            <a:off x="2300146" y="228084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11716CE-4332-C170-2512-2BFB363C4393}"/>
              </a:ext>
            </a:extLst>
          </p:cNvPr>
          <p:cNvCxnSpPr/>
          <p:nvPr/>
        </p:nvCxnSpPr>
        <p:spPr>
          <a:xfrm>
            <a:off x="2147696" y="261223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CCBE266C-1CA8-DC45-282D-84D9889D7608}"/>
              </a:ext>
            </a:extLst>
          </p:cNvPr>
          <p:cNvCxnSpPr/>
          <p:nvPr/>
        </p:nvCxnSpPr>
        <p:spPr>
          <a:xfrm>
            <a:off x="2688710" y="260977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AD011427-8A3F-1AA3-0133-8973B4659D25}"/>
              </a:ext>
            </a:extLst>
          </p:cNvPr>
          <p:cNvCxnSpPr/>
          <p:nvPr/>
        </p:nvCxnSpPr>
        <p:spPr>
          <a:xfrm>
            <a:off x="3213479" y="2401231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4087C7FF-CE7A-0594-62A5-F9D48E10430B}"/>
              </a:ext>
            </a:extLst>
          </p:cNvPr>
          <p:cNvCxnSpPr/>
          <p:nvPr/>
        </p:nvCxnSpPr>
        <p:spPr>
          <a:xfrm>
            <a:off x="3213479" y="2518520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0635D823-C19B-320F-C3D2-CB8810879163}"/>
              </a:ext>
            </a:extLst>
          </p:cNvPr>
          <p:cNvCxnSpPr/>
          <p:nvPr/>
        </p:nvCxnSpPr>
        <p:spPr>
          <a:xfrm>
            <a:off x="3005013" y="2284153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0A9427EC-5B91-3FA1-1CE8-D7806DC64C32}"/>
              </a:ext>
            </a:extLst>
          </p:cNvPr>
          <p:cNvCxnSpPr/>
          <p:nvPr/>
        </p:nvCxnSpPr>
        <p:spPr>
          <a:xfrm>
            <a:off x="3261696" y="2161774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82F4F8BA-FCE8-52F8-5F6A-C6A84D8EE141}"/>
              </a:ext>
            </a:extLst>
          </p:cNvPr>
          <p:cNvCxnSpPr/>
          <p:nvPr/>
        </p:nvCxnSpPr>
        <p:spPr>
          <a:xfrm>
            <a:off x="1758534" y="2280846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23CD9ADF-9472-43F4-DE28-0EDD418B68CB}"/>
              </a:ext>
            </a:extLst>
          </p:cNvPr>
          <p:cNvCxnSpPr/>
          <p:nvPr/>
        </p:nvCxnSpPr>
        <p:spPr>
          <a:xfrm>
            <a:off x="1288312" y="1864017"/>
            <a:ext cx="304900" cy="0"/>
          </a:xfrm>
          <a:prstGeom prst="line">
            <a:avLst/>
          </a:prstGeom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Oval 496">
            <a:extLst>
              <a:ext uri="{FF2B5EF4-FFF2-40B4-BE49-F238E27FC236}">
                <a16:creationId xmlns:a16="http://schemas.microsoft.com/office/drawing/2014/main" id="{2C3FA6D7-65CA-3A09-D94D-9DDDCF16121A}"/>
              </a:ext>
            </a:extLst>
          </p:cNvPr>
          <p:cNvSpPr/>
          <p:nvPr/>
        </p:nvSpPr>
        <p:spPr>
          <a:xfrm>
            <a:off x="219810" y="920804"/>
            <a:ext cx="3898900" cy="190628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9E346E54-9C81-057F-9DD3-2E0C31ED5257}"/>
              </a:ext>
            </a:extLst>
          </p:cNvPr>
          <p:cNvSpPr txBox="1"/>
          <p:nvPr/>
        </p:nvSpPr>
        <p:spPr>
          <a:xfrm>
            <a:off x="431034" y="3024975"/>
            <a:ext cx="1680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Northern blot</a:t>
            </a:r>
          </a:p>
        </p:txBody>
      </p: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DA62C606-EAF8-7165-87D6-95445A9E925A}"/>
              </a:ext>
            </a:extLst>
          </p:cNvPr>
          <p:cNvGrpSpPr/>
          <p:nvPr/>
        </p:nvGrpSpPr>
        <p:grpSpPr>
          <a:xfrm>
            <a:off x="951102" y="3566160"/>
            <a:ext cx="772203" cy="1254680"/>
            <a:chOff x="1116306" y="3867929"/>
            <a:chExt cx="785041" cy="1679232"/>
          </a:xfrm>
        </p:grpSpPr>
        <p:pic>
          <p:nvPicPr>
            <p:cNvPr id="502" name="Picture 501" descr="Screen Shot 2015-04-22 at 2.45.25 PM.png">
              <a:extLst>
                <a:ext uri="{FF2B5EF4-FFF2-40B4-BE49-F238E27FC236}">
                  <a16:creationId xmlns:a16="http://schemas.microsoft.com/office/drawing/2014/main" id="{528FEC3A-C4BC-315A-5EB6-08BACC55B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6306" y="3867929"/>
              <a:ext cx="785041" cy="1679232"/>
            </a:xfrm>
            <a:prstGeom prst="rect">
              <a:avLst/>
            </a:prstGeom>
          </p:spPr>
        </p:pic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36C4CB7A-7701-9CD3-89FC-A2FA6740BFB8}"/>
                </a:ext>
              </a:extLst>
            </p:cNvPr>
            <p:cNvSpPr txBox="1"/>
            <p:nvPr/>
          </p:nvSpPr>
          <p:spPr>
            <a:xfrm>
              <a:off x="1167486" y="5256876"/>
              <a:ext cx="6629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 err="1"/>
                <a:t>biochemj.org</a:t>
              </a:r>
              <a:endParaRPr lang="en-US" sz="1000" dirty="0"/>
            </a:p>
          </p:txBody>
        </p:sp>
      </p:grpSp>
      <p:sp>
        <p:nvSpPr>
          <p:cNvPr id="505" name="TextBox 504">
            <a:extLst>
              <a:ext uri="{FF2B5EF4-FFF2-40B4-BE49-F238E27FC236}">
                <a16:creationId xmlns:a16="http://schemas.microsoft.com/office/drawing/2014/main" id="{4C4C3909-CC09-6033-5A75-004891C18E49}"/>
              </a:ext>
            </a:extLst>
          </p:cNvPr>
          <p:cNvSpPr txBox="1"/>
          <p:nvPr/>
        </p:nvSpPr>
        <p:spPr>
          <a:xfrm>
            <a:off x="4381456" y="991268"/>
            <a:ext cx="439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can we measure the accumulative level of transcripts of </a:t>
            </a:r>
            <a:r>
              <a:rPr lang="en-US" sz="2400" b="1" dirty="0">
                <a:solidFill>
                  <a:srgbClr val="FF0000"/>
                </a:solidFill>
              </a:rPr>
              <a:t>a given gene </a:t>
            </a:r>
            <a:r>
              <a:rPr lang="en-US" sz="2400" dirty="0"/>
              <a:t>in millions/billions of transcripts?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BCBB83D4-861E-1F2A-640B-72FCE669D685}"/>
              </a:ext>
            </a:extLst>
          </p:cNvPr>
          <p:cNvSpPr txBox="1"/>
          <p:nvPr/>
        </p:nvSpPr>
        <p:spPr>
          <a:xfrm>
            <a:off x="2748518" y="2963420"/>
            <a:ext cx="1247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/>
              <a:t>qRT</a:t>
            </a:r>
            <a:r>
              <a:rPr lang="en-US" sz="2400" dirty="0"/>
              <a:t>-PCR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8719DCA0-1C80-B961-3F6C-D3B20F631495}"/>
              </a:ext>
            </a:extLst>
          </p:cNvPr>
          <p:cNvSpPr txBox="1"/>
          <p:nvPr/>
        </p:nvSpPr>
        <p:spPr>
          <a:xfrm>
            <a:off x="4782145" y="2963420"/>
            <a:ext cx="1556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microarray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FBEDFAFA-CE02-E024-3F41-034383A792BD}"/>
              </a:ext>
            </a:extLst>
          </p:cNvPr>
          <p:cNvSpPr txBox="1"/>
          <p:nvPr/>
        </p:nvSpPr>
        <p:spPr>
          <a:xfrm>
            <a:off x="6789375" y="3626993"/>
            <a:ext cx="20085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8000"/>
                </a:solidFill>
              </a:rPr>
              <a:t>RNA-seq</a:t>
            </a: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E7918385-1C6A-23E7-D97A-30F160B3A160}"/>
              </a:ext>
            </a:extLst>
          </p:cNvPr>
          <p:cNvGrpSpPr/>
          <p:nvPr/>
        </p:nvGrpSpPr>
        <p:grpSpPr>
          <a:xfrm>
            <a:off x="5034398" y="3650112"/>
            <a:ext cx="1045479" cy="1297959"/>
            <a:chOff x="4734630" y="4616822"/>
            <a:chExt cx="1810995" cy="2248343"/>
          </a:xfrm>
        </p:grpSpPr>
        <p:pic>
          <p:nvPicPr>
            <p:cNvPr id="506" name="Picture 505" descr="Screen Shot 2015-04-22 at 2.51.14 PM.png">
              <a:extLst>
                <a:ext uri="{FF2B5EF4-FFF2-40B4-BE49-F238E27FC236}">
                  <a16:creationId xmlns:a16="http://schemas.microsoft.com/office/drawing/2014/main" id="{AF6C5F40-6B58-CF99-74B9-2C42E764E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5362" y="4616822"/>
              <a:ext cx="1413619" cy="1968499"/>
            </a:xfrm>
            <a:prstGeom prst="rect">
              <a:avLst/>
            </a:prstGeom>
          </p:spPr>
        </p:pic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589A11F8-E778-B0CB-DAE6-00847FD5658D}"/>
                </a:ext>
              </a:extLst>
            </p:cNvPr>
            <p:cNvSpPr txBox="1"/>
            <p:nvPr/>
          </p:nvSpPr>
          <p:spPr>
            <a:xfrm>
              <a:off x="4734630" y="6491970"/>
              <a:ext cx="1810995" cy="373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/>
                <a:t>csmbio.csm.jmu.edu</a:t>
              </a:r>
              <a:endParaRPr lang="en-US" sz="800" dirty="0"/>
            </a:p>
          </p:txBody>
        </p:sp>
      </p:grpSp>
      <p:pic>
        <p:nvPicPr>
          <p:cNvPr id="511" name="Picture 510" descr="Screen Shot 2015-04-22 at 2.55.20 PM.png">
            <a:extLst>
              <a:ext uri="{FF2B5EF4-FFF2-40B4-BE49-F238E27FC236}">
                <a16:creationId xmlns:a16="http://schemas.microsoft.com/office/drawing/2014/main" id="{A590843C-D279-C882-B24A-5A9B8B6F0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721" y="3573147"/>
            <a:ext cx="1009807" cy="1281164"/>
          </a:xfrm>
          <a:prstGeom prst="rect">
            <a:avLst/>
          </a:prstGeom>
        </p:spPr>
      </p:pic>
      <p:sp>
        <p:nvSpPr>
          <p:cNvPr id="512" name="Rectangle 511">
            <a:extLst>
              <a:ext uri="{FF2B5EF4-FFF2-40B4-BE49-F238E27FC236}">
                <a16:creationId xmlns:a16="http://schemas.microsoft.com/office/drawing/2014/main" id="{EBF99C34-F04A-2CF1-19A2-272BB073B37D}"/>
              </a:ext>
            </a:extLst>
          </p:cNvPr>
          <p:cNvSpPr/>
          <p:nvPr/>
        </p:nvSpPr>
        <p:spPr>
          <a:xfrm>
            <a:off x="2865041" y="4545924"/>
            <a:ext cx="9797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 err="1"/>
              <a:t>quantabio.com</a:t>
            </a:r>
            <a:endParaRPr lang="en-US" sz="1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20EF1B-F1FD-42FD-D13D-522F2EEF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324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726C4A-8D65-0CBE-1E35-91F34BE6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70D7-9A89-3454-E492-E4F74BC41E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1" y="115795"/>
            <a:ext cx="8148635" cy="49106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Rationale of RNA-seq (mRNA sequencing)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69D3E4-61AA-FEA7-42B4-422D4BC7E769}"/>
              </a:ext>
            </a:extLst>
          </p:cNvPr>
          <p:cNvGrpSpPr/>
          <p:nvPr/>
        </p:nvGrpSpPr>
        <p:grpSpPr>
          <a:xfrm>
            <a:off x="5612809" y="1249241"/>
            <a:ext cx="1535110" cy="1023983"/>
            <a:chOff x="5696478" y="1479995"/>
            <a:chExt cx="3898900" cy="1906282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063A317-DF5F-9B4D-A1C5-B0C9DE7AE73E}"/>
                </a:ext>
              </a:extLst>
            </p:cNvPr>
            <p:cNvCxnSpPr/>
            <p:nvPr/>
          </p:nvCxnSpPr>
          <p:spPr>
            <a:xfrm>
              <a:off x="7008542" y="2960422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784058A1-B803-4D1F-1C28-8F30951DDF2B}"/>
                </a:ext>
              </a:extLst>
            </p:cNvPr>
            <p:cNvCxnSpPr/>
            <p:nvPr/>
          </p:nvCxnSpPr>
          <p:spPr>
            <a:xfrm>
              <a:off x="6504788" y="2149854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4DCC63CB-31EE-8F7D-DBFD-C04A43A89064}"/>
                </a:ext>
              </a:extLst>
            </p:cNvPr>
            <p:cNvCxnSpPr/>
            <p:nvPr/>
          </p:nvCxnSpPr>
          <p:spPr>
            <a:xfrm>
              <a:off x="6368115" y="2413862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8EDA93C7-0A1C-9668-B9FE-B6A9CC7201EC}"/>
                </a:ext>
              </a:extLst>
            </p:cNvPr>
            <p:cNvCxnSpPr/>
            <p:nvPr/>
          </p:nvCxnSpPr>
          <p:spPr>
            <a:xfrm>
              <a:off x="7064757" y="2139293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6FB9B735-C85C-751A-D303-7BC83AEBCCEC}"/>
                </a:ext>
              </a:extLst>
            </p:cNvPr>
            <p:cNvCxnSpPr/>
            <p:nvPr/>
          </p:nvCxnSpPr>
          <p:spPr>
            <a:xfrm>
              <a:off x="6365037" y="2746201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47905B8-4560-43A2-C3E0-7DE2740DD74B}"/>
                </a:ext>
              </a:extLst>
            </p:cNvPr>
            <p:cNvCxnSpPr/>
            <p:nvPr/>
          </p:nvCxnSpPr>
          <p:spPr>
            <a:xfrm>
              <a:off x="8373665" y="2755812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1484D00E-C6BB-B8D6-B3A5-BF78D910A161}"/>
                </a:ext>
              </a:extLst>
            </p:cNvPr>
            <p:cNvCxnSpPr/>
            <p:nvPr/>
          </p:nvCxnSpPr>
          <p:spPr>
            <a:xfrm>
              <a:off x="7493552" y="2855799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6DE9739-6627-142B-F0FB-619B8F3A189C}"/>
                </a:ext>
              </a:extLst>
            </p:cNvPr>
            <p:cNvCxnSpPr/>
            <p:nvPr/>
          </p:nvCxnSpPr>
          <p:spPr>
            <a:xfrm>
              <a:off x="7684033" y="2577464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5B94C4-F446-60C2-FE74-6C70D6FFEE73}"/>
                </a:ext>
              </a:extLst>
            </p:cNvPr>
            <p:cNvCxnSpPr/>
            <p:nvPr/>
          </p:nvCxnSpPr>
          <p:spPr>
            <a:xfrm>
              <a:off x="5917267" y="220726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49A0092-609D-127C-BDEC-5A8BABC53D8D}"/>
                </a:ext>
              </a:extLst>
            </p:cNvPr>
            <p:cNvCxnSpPr/>
            <p:nvPr/>
          </p:nvCxnSpPr>
          <p:spPr>
            <a:xfrm>
              <a:off x="5923520" y="20743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9E64F26-968C-87F3-4027-32B7349A3A04}"/>
                </a:ext>
              </a:extLst>
            </p:cNvPr>
            <p:cNvCxnSpPr/>
            <p:nvPr/>
          </p:nvCxnSpPr>
          <p:spPr>
            <a:xfrm>
              <a:off x="6532003" y="19593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2752E53-D778-B1AB-7165-43476658A4AE}"/>
                </a:ext>
              </a:extLst>
            </p:cNvPr>
            <p:cNvCxnSpPr/>
            <p:nvPr/>
          </p:nvCxnSpPr>
          <p:spPr>
            <a:xfrm>
              <a:off x="6765300" y="183999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FB83F45-5EB3-156E-1E42-A38A884DE8A0}"/>
                </a:ext>
              </a:extLst>
            </p:cNvPr>
            <p:cNvCxnSpPr/>
            <p:nvPr/>
          </p:nvCxnSpPr>
          <p:spPr>
            <a:xfrm>
              <a:off x="6308181" y="184199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FF1666E-14DA-FA26-23F9-84035FEA72E6}"/>
                </a:ext>
              </a:extLst>
            </p:cNvPr>
            <p:cNvCxnSpPr/>
            <p:nvPr/>
          </p:nvCxnSpPr>
          <p:spPr>
            <a:xfrm>
              <a:off x="7076453" y="160032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C0CC32A-39AD-E48F-AAA9-9624A91CE1B6}"/>
                </a:ext>
              </a:extLst>
            </p:cNvPr>
            <p:cNvCxnSpPr/>
            <p:nvPr/>
          </p:nvCxnSpPr>
          <p:spPr>
            <a:xfrm>
              <a:off x="5972328" y="243840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E49F684-D270-DEE7-685F-1E4B813A6B86}"/>
                </a:ext>
              </a:extLst>
            </p:cNvPr>
            <p:cNvCxnSpPr/>
            <p:nvPr/>
          </p:nvCxnSpPr>
          <p:spPr>
            <a:xfrm>
              <a:off x="6771553" y="17070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10AFCCC-D2F5-58E2-976E-69456AED79DF}"/>
                </a:ext>
              </a:extLst>
            </p:cNvPr>
            <p:cNvCxnSpPr/>
            <p:nvPr/>
          </p:nvCxnSpPr>
          <p:spPr>
            <a:xfrm>
              <a:off x="6427770" y="22259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6DA3B57-62AA-7529-F7CF-29E45C5B1209}"/>
                </a:ext>
              </a:extLst>
            </p:cNvPr>
            <p:cNvCxnSpPr/>
            <p:nvPr/>
          </p:nvCxnSpPr>
          <p:spPr>
            <a:xfrm>
              <a:off x="7160117" y="23352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398B84B-4BD4-2296-3997-2AD6C4154DE3}"/>
                </a:ext>
              </a:extLst>
            </p:cNvPr>
            <p:cNvCxnSpPr/>
            <p:nvPr/>
          </p:nvCxnSpPr>
          <p:spPr>
            <a:xfrm>
              <a:off x="6989303" y="195504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FA4F895-AA72-A6C7-6D23-F7C153AB1CA6}"/>
                </a:ext>
              </a:extLst>
            </p:cNvPr>
            <p:cNvCxnSpPr/>
            <p:nvPr/>
          </p:nvCxnSpPr>
          <p:spPr>
            <a:xfrm>
              <a:off x="7141753" y="182189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DA91CE1-8A7F-B6A9-65A1-055F605B083D}"/>
                </a:ext>
              </a:extLst>
            </p:cNvPr>
            <p:cNvCxnSpPr/>
            <p:nvPr/>
          </p:nvCxnSpPr>
          <p:spPr>
            <a:xfrm>
              <a:off x="6159684" y="19856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2DF6C4-F872-2452-4837-87047A946B74}"/>
                </a:ext>
              </a:extLst>
            </p:cNvPr>
            <p:cNvCxnSpPr/>
            <p:nvPr/>
          </p:nvCxnSpPr>
          <p:spPr>
            <a:xfrm>
              <a:off x="6159684" y="23301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BC4EFB4-882C-A2E2-155B-BFA3101773C8}"/>
                </a:ext>
              </a:extLst>
            </p:cNvPr>
            <p:cNvCxnSpPr/>
            <p:nvPr/>
          </p:nvCxnSpPr>
          <p:spPr>
            <a:xfrm>
              <a:off x="6765531" y="232111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008F9D0-E160-EF42-7788-54EEFC3A615E}"/>
                </a:ext>
              </a:extLst>
            </p:cNvPr>
            <p:cNvCxnSpPr/>
            <p:nvPr/>
          </p:nvCxnSpPr>
          <p:spPr>
            <a:xfrm>
              <a:off x="6998828" y="221883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B8CAE7D-DFAF-CAD5-9FD1-A7B0528F64C3}"/>
                </a:ext>
              </a:extLst>
            </p:cNvPr>
            <p:cNvCxnSpPr/>
            <p:nvPr/>
          </p:nvCxnSpPr>
          <p:spPr>
            <a:xfrm>
              <a:off x="6613081" y="209646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B5EAB1-3666-B6A3-2E2D-3EB425CA362C}"/>
                </a:ext>
              </a:extLst>
            </p:cNvPr>
            <p:cNvCxnSpPr/>
            <p:nvPr/>
          </p:nvCxnSpPr>
          <p:spPr>
            <a:xfrm>
              <a:off x="7005081" y="208590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C69D28B-81D8-CD77-6E8B-EFD03FD98693}"/>
                </a:ext>
              </a:extLst>
            </p:cNvPr>
            <p:cNvCxnSpPr/>
            <p:nvPr/>
          </p:nvCxnSpPr>
          <p:spPr>
            <a:xfrm>
              <a:off x="6019574" y="266077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DBE67C5-29D0-01D9-78B9-237D3043E378}"/>
                </a:ext>
              </a:extLst>
            </p:cNvPr>
            <p:cNvCxnSpPr/>
            <p:nvPr/>
          </p:nvCxnSpPr>
          <p:spPr>
            <a:xfrm>
              <a:off x="6022391" y="286732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21ABB0-1AB4-C7B4-03EB-BE61F7964131}"/>
                </a:ext>
              </a:extLst>
            </p:cNvPr>
            <p:cNvCxnSpPr/>
            <p:nvPr/>
          </p:nvCxnSpPr>
          <p:spPr>
            <a:xfrm>
              <a:off x="6547160" y="265878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A761429-3B63-58EB-3337-E2CEFC07EB20}"/>
                </a:ext>
              </a:extLst>
            </p:cNvPr>
            <p:cNvCxnSpPr/>
            <p:nvPr/>
          </p:nvCxnSpPr>
          <p:spPr>
            <a:xfrm>
              <a:off x="6699610" y="300072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8E0929D-2489-097E-A282-89EB1864BE87}"/>
                </a:ext>
              </a:extLst>
            </p:cNvPr>
            <p:cNvCxnSpPr/>
            <p:nvPr/>
          </p:nvCxnSpPr>
          <p:spPr>
            <a:xfrm>
              <a:off x="6932907" y="289845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0F15B6-5B6A-79EC-5E2B-7798ADC24537}"/>
                </a:ext>
              </a:extLst>
            </p:cNvPr>
            <p:cNvCxnSpPr/>
            <p:nvPr/>
          </p:nvCxnSpPr>
          <p:spPr>
            <a:xfrm>
              <a:off x="6547160" y="27760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F16902-BB3A-73DD-B9C4-EB41E283D1FA}"/>
                </a:ext>
              </a:extLst>
            </p:cNvPr>
            <p:cNvCxnSpPr/>
            <p:nvPr/>
          </p:nvCxnSpPr>
          <p:spPr>
            <a:xfrm>
              <a:off x="6475788" y="290044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BA6DF6-7055-1DEA-5B9C-2CEB98DD818A}"/>
                </a:ext>
              </a:extLst>
            </p:cNvPr>
            <p:cNvCxnSpPr/>
            <p:nvPr/>
          </p:nvCxnSpPr>
          <p:spPr>
            <a:xfrm>
              <a:off x="6338694" y="25417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8CC80CA-EB04-CABA-160A-6CCE01889E74}"/>
                </a:ext>
              </a:extLst>
            </p:cNvPr>
            <p:cNvCxnSpPr/>
            <p:nvPr/>
          </p:nvCxnSpPr>
          <p:spPr>
            <a:xfrm>
              <a:off x="7244060" y="265878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DD183FB-686F-DDA0-466F-69E0B0D10A0A}"/>
                </a:ext>
              </a:extLst>
            </p:cNvPr>
            <p:cNvCxnSpPr/>
            <p:nvPr/>
          </p:nvCxnSpPr>
          <p:spPr>
            <a:xfrm>
              <a:off x="6861535" y="257885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74E8517-EADF-F41A-8594-C4F801F5A1F2}"/>
                </a:ext>
              </a:extLst>
            </p:cNvPr>
            <p:cNvCxnSpPr/>
            <p:nvPr/>
          </p:nvCxnSpPr>
          <p:spPr>
            <a:xfrm>
              <a:off x="6595377" y="24193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883C106-7C7A-F467-0E96-5F8C1353F814}"/>
                </a:ext>
              </a:extLst>
            </p:cNvPr>
            <p:cNvCxnSpPr/>
            <p:nvPr/>
          </p:nvCxnSpPr>
          <p:spPr>
            <a:xfrm>
              <a:off x="6939160" y="276551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876CA79-400A-EB92-8ECE-E37188E9391E}"/>
                </a:ext>
              </a:extLst>
            </p:cNvPr>
            <p:cNvCxnSpPr/>
            <p:nvPr/>
          </p:nvCxnSpPr>
          <p:spPr>
            <a:xfrm>
              <a:off x="7156910" y="299644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3C0AE2C-C3B1-9835-F2AC-471E35F28A1F}"/>
                </a:ext>
              </a:extLst>
            </p:cNvPr>
            <p:cNvCxnSpPr/>
            <p:nvPr/>
          </p:nvCxnSpPr>
          <p:spPr>
            <a:xfrm>
              <a:off x="7309360" y="288034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BE80BF-D032-69CF-BAF9-448DD053C2DE}"/>
                </a:ext>
              </a:extLst>
            </p:cNvPr>
            <p:cNvCxnSpPr/>
            <p:nvPr/>
          </p:nvCxnSpPr>
          <p:spPr>
            <a:xfrm>
              <a:off x="6327291" y="30270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4B2984F-D2AF-1483-42AF-8204642E5693}"/>
                </a:ext>
              </a:extLst>
            </p:cNvPr>
            <p:cNvCxnSpPr/>
            <p:nvPr/>
          </p:nvCxnSpPr>
          <p:spPr>
            <a:xfrm>
              <a:off x="7166435" y="323467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2B2EA62-3D54-774D-85A3-7F177AC0646B}"/>
                </a:ext>
              </a:extLst>
            </p:cNvPr>
            <p:cNvCxnSpPr/>
            <p:nvPr/>
          </p:nvCxnSpPr>
          <p:spPr>
            <a:xfrm>
              <a:off x="6780688" y="31122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F83BBE3-9DCA-3476-0647-9317D1576642}"/>
                </a:ext>
              </a:extLst>
            </p:cNvPr>
            <p:cNvCxnSpPr/>
            <p:nvPr/>
          </p:nvCxnSpPr>
          <p:spPr>
            <a:xfrm>
              <a:off x="7172688" y="310173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DFC25CD-1FB0-E711-DD0B-69DCFCBE2F4B}"/>
                </a:ext>
              </a:extLst>
            </p:cNvPr>
            <p:cNvCxnSpPr/>
            <p:nvPr/>
          </p:nvCxnSpPr>
          <p:spPr>
            <a:xfrm>
              <a:off x="7701722" y="169404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49BCB-2CAE-2C20-100C-F75E8B7A02F2}"/>
                </a:ext>
              </a:extLst>
            </p:cNvPr>
            <p:cNvCxnSpPr/>
            <p:nvPr/>
          </p:nvCxnSpPr>
          <p:spPr>
            <a:xfrm>
              <a:off x="7854172" y="20786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AA488BF-15D4-A0DA-0406-7D55A51F5A58}"/>
                </a:ext>
              </a:extLst>
            </p:cNvPr>
            <p:cNvCxnSpPr/>
            <p:nvPr/>
          </p:nvCxnSpPr>
          <p:spPr>
            <a:xfrm>
              <a:off x="8087469" y="195075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711F1DA-A6E1-38C0-4BC9-3A88B7718B0A}"/>
                </a:ext>
              </a:extLst>
            </p:cNvPr>
            <p:cNvCxnSpPr/>
            <p:nvPr/>
          </p:nvCxnSpPr>
          <p:spPr>
            <a:xfrm>
              <a:off x="7701722" y="18113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FC100D6-DB90-6D3B-769D-108E638E2F8A}"/>
                </a:ext>
              </a:extLst>
            </p:cNvPr>
            <p:cNvCxnSpPr/>
            <p:nvPr/>
          </p:nvCxnSpPr>
          <p:spPr>
            <a:xfrm>
              <a:off x="7888699" y="1952751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942F544-0A14-5B46-9B5C-EEB32C496043}"/>
                </a:ext>
              </a:extLst>
            </p:cNvPr>
            <p:cNvCxnSpPr/>
            <p:nvPr/>
          </p:nvCxnSpPr>
          <p:spPr>
            <a:xfrm>
              <a:off x="7989489" y="159176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FCDF050-112C-9D64-0CCC-C3DD00CE935C}"/>
                </a:ext>
              </a:extLst>
            </p:cNvPr>
            <p:cNvCxnSpPr/>
            <p:nvPr/>
          </p:nvCxnSpPr>
          <p:spPr>
            <a:xfrm>
              <a:off x="8398622" y="169404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75464AB-1DC5-7AAB-3B77-14F5E98E0212}"/>
                </a:ext>
              </a:extLst>
            </p:cNvPr>
            <p:cNvCxnSpPr/>
            <p:nvPr/>
          </p:nvCxnSpPr>
          <p:spPr>
            <a:xfrm>
              <a:off x="8123795" y="17070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11BD304-4501-76AD-DB80-9E066B01E952}"/>
                </a:ext>
              </a:extLst>
            </p:cNvPr>
            <p:cNvCxnSpPr/>
            <p:nvPr/>
          </p:nvCxnSpPr>
          <p:spPr>
            <a:xfrm>
              <a:off x="8093722" y="18007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0A0CA63-A94D-8D22-CBB1-8E4EBD8A2010}"/>
                </a:ext>
              </a:extLst>
            </p:cNvPr>
            <p:cNvCxnSpPr/>
            <p:nvPr/>
          </p:nvCxnSpPr>
          <p:spPr>
            <a:xfrm>
              <a:off x="7749939" y="231963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2504EAC-2BB5-BB61-F8C9-022703186A72}"/>
                </a:ext>
              </a:extLst>
            </p:cNvPr>
            <p:cNvCxnSpPr/>
            <p:nvPr/>
          </p:nvCxnSpPr>
          <p:spPr>
            <a:xfrm>
              <a:off x="8697219" y="219670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A9AB8D7-B73B-2A3B-38A2-C9B5CA312346}"/>
                </a:ext>
              </a:extLst>
            </p:cNvPr>
            <p:cNvCxnSpPr/>
            <p:nvPr/>
          </p:nvCxnSpPr>
          <p:spPr>
            <a:xfrm>
              <a:off x="8311472" y="20743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7125B88-1634-D28F-9EF4-78041F0B48AF}"/>
                </a:ext>
              </a:extLst>
            </p:cNvPr>
            <p:cNvCxnSpPr/>
            <p:nvPr/>
          </p:nvCxnSpPr>
          <p:spPr>
            <a:xfrm>
              <a:off x="8520493" y="193146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8208462-F770-4BFF-6ADA-8FFD895DCEF2}"/>
                </a:ext>
              </a:extLst>
            </p:cNvPr>
            <p:cNvCxnSpPr/>
            <p:nvPr/>
          </p:nvCxnSpPr>
          <p:spPr>
            <a:xfrm>
              <a:off x="8634736" y="1798315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E8C41F3-54E1-6126-AB32-2E7F7E88BF6A}"/>
                </a:ext>
              </a:extLst>
            </p:cNvPr>
            <p:cNvCxnSpPr/>
            <p:nvPr/>
          </p:nvCxnSpPr>
          <p:spPr>
            <a:xfrm>
              <a:off x="8703472" y="206376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2E272DB-CC07-B9F9-F1C1-DC0CB5C34801}"/>
                </a:ext>
              </a:extLst>
            </p:cNvPr>
            <p:cNvCxnSpPr/>
            <p:nvPr/>
          </p:nvCxnSpPr>
          <p:spPr>
            <a:xfrm>
              <a:off x="8087700" y="24148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F9C0518-A981-641D-5CC2-37608B71EA9B}"/>
                </a:ext>
              </a:extLst>
            </p:cNvPr>
            <p:cNvCxnSpPr/>
            <p:nvPr/>
          </p:nvCxnSpPr>
          <p:spPr>
            <a:xfrm>
              <a:off x="8320997" y="231255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7363DBB-60C9-65DD-02A7-3E5697AE5744}"/>
                </a:ext>
              </a:extLst>
            </p:cNvPr>
            <p:cNvCxnSpPr/>
            <p:nvPr/>
          </p:nvCxnSpPr>
          <p:spPr>
            <a:xfrm>
              <a:off x="7935250" y="219017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30F119F-8D23-885D-613F-1998979A2E53}"/>
                </a:ext>
              </a:extLst>
            </p:cNvPr>
            <p:cNvCxnSpPr/>
            <p:nvPr/>
          </p:nvCxnSpPr>
          <p:spPr>
            <a:xfrm>
              <a:off x="7480174" y="243840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1A71639-506D-47F4-5441-8069B2A37313}"/>
                </a:ext>
              </a:extLst>
            </p:cNvPr>
            <p:cNvCxnSpPr/>
            <p:nvPr/>
          </p:nvCxnSpPr>
          <p:spPr>
            <a:xfrm>
              <a:off x="7101809" y="164696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35C4A93-AE7F-68C5-9E2C-6B10A62BD5C2}"/>
                </a:ext>
              </a:extLst>
            </p:cNvPr>
            <p:cNvCxnSpPr/>
            <p:nvPr/>
          </p:nvCxnSpPr>
          <p:spPr>
            <a:xfrm>
              <a:off x="7254259" y="200596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7CEECD0-6172-4F04-0ECB-5B26300DEDE3}"/>
                </a:ext>
              </a:extLst>
            </p:cNvPr>
            <p:cNvCxnSpPr/>
            <p:nvPr/>
          </p:nvCxnSpPr>
          <p:spPr>
            <a:xfrm>
              <a:off x="7487556" y="188663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B94D587-D3DC-8C2E-F1F7-FEDC72881740}"/>
                </a:ext>
              </a:extLst>
            </p:cNvPr>
            <p:cNvCxnSpPr/>
            <p:nvPr/>
          </p:nvCxnSpPr>
          <p:spPr>
            <a:xfrm>
              <a:off x="7645507" y="26482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42355B0-8443-CE30-784A-8946EF889FE5}"/>
                </a:ext>
              </a:extLst>
            </p:cNvPr>
            <p:cNvCxnSpPr/>
            <p:nvPr/>
          </p:nvCxnSpPr>
          <p:spPr>
            <a:xfrm>
              <a:off x="7030437" y="188863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F4239DE-C786-5DC6-6FAE-375392D0F40F}"/>
                </a:ext>
              </a:extLst>
            </p:cNvPr>
            <p:cNvCxnSpPr/>
            <p:nvPr/>
          </p:nvCxnSpPr>
          <p:spPr>
            <a:xfrm>
              <a:off x="7798709" y="164696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48E6384-7182-7416-DBEB-3943DF536136}"/>
                </a:ext>
              </a:extLst>
            </p:cNvPr>
            <p:cNvCxnSpPr/>
            <p:nvPr/>
          </p:nvCxnSpPr>
          <p:spPr>
            <a:xfrm>
              <a:off x="7416184" y="156703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59ED1A4-1471-CA73-AC06-35E9E22CFCC0}"/>
                </a:ext>
              </a:extLst>
            </p:cNvPr>
            <p:cNvCxnSpPr/>
            <p:nvPr/>
          </p:nvCxnSpPr>
          <p:spPr>
            <a:xfrm>
              <a:off x="8752280" y="242784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071D57-1B02-5245-A6A7-A80C71BC80F8}"/>
                </a:ext>
              </a:extLst>
            </p:cNvPr>
            <p:cNvCxnSpPr/>
            <p:nvPr/>
          </p:nvCxnSpPr>
          <p:spPr>
            <a:xfrm>
              <a:off x="7493809" y="17536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4868207-563C-EA78-3017-4A81B0EA3B13}"/>
                </a:ext>
              </a:extLst>
            </p:cNvPr>
            <p:cNvCxnSpPr/>
            <p:nvPr/>
          </p:nvCxnSpPr>
          <p:spPr>
            <a:xfrm>
              <a:off x="7711559" y="200167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D3DC7BC-A1F6-325E-4C26-CC215DD6316E}"/>
                </a:ext>
              </a:extLst>
            </p:cNvPr>
            <p:cNvCxnSpPr/>
            <p:nvPr/>
          </p:nvCxnSpPr>
          <p:spPr>
            <a:xfrm>
              <a:off x="7864009" y="1868529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FCB8BC8-67DA-B5F3-484C-F4D9C25388C1}"/>
                </a:ext>
              </a:extLst>
            </p:cNvPr>
            <p:cNvCxnSpPr/>
            <p:nvPr/>
          </p:nvCxnSpPr>
          <p:spPr>
            <a:xfrm>
              <a:off x="8939636" y="19750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DBA2326-AE32-FE97-FFAD-66EE6417842F}"/>
                </a:ext>
              </a:extLst>
            </p:cNvPr>
            <p:cNvCxnSpPr/>
            <p:nvPr/>
          </p:nvCxnSpPr>
          <p:spPr>
            <a:xfrm>
              <a:off x="8939636" y="231963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3D62385-D616-6CC9-887B-6A3587E6DF46}"/>
                </a:ext>
              </a:extLst>
            </p:cNvPr>
            <p:cNvCxnSpPr/>
            <p:nvPr/>
          </p:nvCxnSpPr>
          <p:spPr>
            <a:xfrm>
              <a:off x="7869329" y="275249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FE8E047-A7AC-9592-0E0E-99D389D32DD8}"/>
                </a:ext>
              </a:extLst>
            </p:cNvPr>
            <p:cNvCxnSpPr/>
            <p:nvPr/>
          </p:nvCxnSpPr>
          <p:spPr>
            <a:xfrm>
              <a:off x="8021779" y="309444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F6985DB-56F8-C99B-09C7-324710BA5918}"/>
                </a:ext>
              </a:extLst>
            </p:cNvPr>
            <p:cNvCxnSpPr/>
            <p:nvPr/>
          </p:nvCxnSpPr>
          <p:spPr>
            <a:xfrm>
              <a:off x="8255076" y="299216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6786B23-CD47-1EE0-5809-A7A414973B20}"/>
                </a:ext>
              </a:extLst>
            </p:cNvPr>
            <p:cNvCxnSpPr/>
            <p:nvPr/>
          </p:nvCxnSpPr>
          <p:spPr>
            <a:xfrm>
              <a:off x="7869329" y="286978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97375F9-0D6D-6F9E-8076-C83058597635}"/>
                </a:ext>
              </a:extLst>
            </p:cNvPr>
            <p:cNvCxnSpPr/>
            <p:nvPr/>
          </p:nvCxnSpPr>
          <p:spPr>
            <a:xfrm>
              <a:off x="7797957" y="29941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17C3757-BD5C-D1D7-4CBE-555F244FF25D}"/>
                </a:ext>
              </a:extLst>
            </p:cNvPr>
            <p:cNvCxnSpPr/>
            <p:nvPr/>
          </p:nvCxnSpPr>
          <p:spPr>
            <a:xfrm>
              <a:off x="8157096" y="265021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54B8380-4D52-EEAD-464A-5926583E9E2D}"/>
                </a:ext>
              </a:extLst>
            </p:cNvPr>
            <p:cNvCxnSpPr/>
            <p:nvPr/>
          </p:nvCxnSpPr>
          <p:spPr>
            <a:xfrm>
              <a:off x="8566229" y="275249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312D512-D5AD-C2ED-BFC6-6641929B4919}"/>
                </a:ext>
              </a:extLst>
            </p:cNvPr>
            <p:cNvCxnSpPr/>
            <p:nvPr/>
          </p:nvCxnSpPr>
          <p:spPr>
            <a:xfrm>
              <a:off x="8799526" y="265021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01361F3-2002-E725-007C-19F51583CF4B}"/>
                </a:ext>
              </a:extLst>
            </p:cNvPr>
            <p:cNvCxnSpPr/>
            <p:nvPr/>
          </p:nvCxnSpPr>
          <p:spPr>
            <a:xfrm>
              <a:off x="8413779" y="252783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B1CD2DD-AB4C-058B-1A47-C92C35E1F2FB}"/>
                </a:ext>
              </a:extLst>
            </p:cNvPr>
            <p:cNvCxnSpPr/>
            <p:nvPr/>
          </p:nvCxnSpPr>
          <p:spPr>
            <a:xfrm>
              <a:off x="8261329" y="285922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C691C95-A327-2E49-C95B-F98A20B99F2D}"/>
                </a:ext>
              </a:extLst>
            </p:cNvPr>
            <p:cNvCxnSpPr/>
            <p:nvPr/>
          </p:nvCxnSpPr>
          <p:spPr>
            <a:xfrm>
              <a:off x="8479079" y="309016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0814B01-069D-E6C9-FE28-1283CD53E7F2}"/>
                </a:ext>
              </a:extLst>
            </p:cNvPr>
            <p:cNvCxnSpPr/>
            <p:nvPr/>
          </p:nvCxnSpPr>
          <p:spPr>
            <a:xfrm>
              <a:off x="8688100" y="29728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872AF7D-2AD6-11F6-592A-971850EAFF03}"/>
                </a:ext>
              </a:extLst>
            </p:cNvPr>
            <p:cNvCxnSpPr/>
            <p:nvPr/>
          </p:nvCxnSpPr>
          <p:spPr>
            <a:xfrm>
              <a:off x="8802343" y="285676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3D1D14A-F740-D014-DCAC-9CAC3443DED4}"/>
                </a:ext>
              </a:extLst>
            </p:cNvPr>
            <p:cNvCxnSpPr/>
            <p:nvPr/>
          </p:nvCxnSpPr>
          <p:spPr>
            <a:xfrm>
              <a:off x="8102857" y="320601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87DFE19-20F9-ECF5-30A1-33D868EC4665}"/>
                </a:ext>
              </a:extLst>
            </p:cNvPr>
            <p:cNvCxnSpPr/>
            <p:nvPr/>
          </p:nvCxnSpPr>
          <p:spPr>
            <a:xfrm>
              <a:off x="7614260" y="31122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B45DFAB-187A-9E0D-F0FA-24264BD641CF}"/>
                </a:ext>
              </a:extLst>
            </p:cNvPr>
            <p:cNvCxnSpPr/>
            <p:nvPr/>
          </p:nvCxnSpPr>
          <p:spPr>
            <a:xfrm>
              <a:off x="9118646" y="253114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D39EC25-CE8E-9646-7C36-80CE89FA73D4}"/>
                </a:ext>
              </a:extLst>
            </p:cNvPr>
            <p:cNvCxnSpPr/>
            <p:nvPr/>
          </p:nvCxnSpPr>
          <p:spPr>
            <a:xfrm>
              <a:off x="7872167" y="252783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98EDD14-8E56-510F-1FD3-CEAA3CFC50F5}"/>
                </a:ext>
              </a:extLst>
            </p:cNvPr>
            <p:cNvCxnSpPr/>
            <p:nvPr/>
          </p:nvCxnSpPr>
          <p:spPr>
            <a:xfrm>
              <a:off x="7401945" y="211100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CDC0368-FCEB-E736-FCF1-6A142D3AFE1C}"/>
                </a:ext>
              </a:extLst>
            </p:cNvPr>
            <p:cNvCxnSpPr/>
            <p:nvPr/>
          </p:nvCxnSpPr>
          <p:spPr>
            <a:xfrm>
              <a:off x="6179947" y="215878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E644A12-2506-F0B1-F225-2E4506B1E59F}"/>
                </a:ext>
              </a:extLst>
            </p:cNvPr>
            <p:cNvCxnSpPr/>
            <p:nvPr/>
          </p:nvCxnSpPr>
          <p:spPr>
            <a:xfrm>
              <a:off x="6413244" y="203946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833FE70-4463-C1CA-6B1A-0FD7779EA586}"/>
                </a:ext>
              </a:extLst>
            </p:cNvPr>
            <p:cNvCxnSpPr/>
            <p:nvPr/>
          </p:nvCxnSpPr>
          <p:spPr>
            <a:xfrm>
              <a:off x="5956125" y="20414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0959B19-EF01-1A60-67A6-A9A033BDE1DE}"/>
                </a:ext>
              </a:extLst>
            </p:cNvPr>
            <p:cNvCxnSpPr/>
            <p:nvPr/>
          </p:nvCxnSpPr>
          <p:spPr>
            <a:xfrm>
              <a:off x="6724397" y="179979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08EEDCE-7535-93DB-C772-3276A2585C7C}"/>
                </a:ext>
              </a:extLst>
            </p:cNvPr>
            <p:cNvCxnSpPr/>
            <p:nvPr/>
          </p:nvCxnSpPr>
          <p:spPr>
            <a:xfrm>
              <a:off x="6419497" y="190652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A7F9623-35D4-3F0F-A5BE-458634A5CDED}"/>
                </a:ext>
              </a:extLst>
            </p:cNvPr>
            <p:cNvCxnSpPr/>
            <p:nvPr/>
          </p:nvCxnSpPr>
          <p:spPr>
            <a:xfrm>
              <a:off x="6075714" y="242539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915734E-B460-E3F8-2AB8-14ED8833D8B0}"/>
                </a:ext>
              </a:extLst>
            </p:cNvPr>
            <p:cNvCxnSpPr/>
            <p:nvPr/>
          </p:nvCxnSpPr>
          <p:spPr>
            <a:xfrm>
              <a:off x="6808061" y="253475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238A28B-6D13-221A-A149-D0039F5AAE61}"/>
                </a:ext>
              </a:extLst>
            </p:cNvPr>
            <p:cNvCxnSpPr/>
            <p:nvPr/>
          </p:nvCxnSpPr>
          <p:spPr>
            <a:xfrm>
              <a:off x="6637247" y="215450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AD81D7D7-57C0-07E1-CAE5-8164481D6B0F}"/>
                </a:ext>
              </a:extLst>
            </p:cNvPr>
            <p:cNvCxnSpPr/>
            <p:nvPr/>
          </p:nvCxnSpPr>
          <p:spPr>
            <a:xfrm>
              <a:off x="6789697" y="202135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7DA0FEE-C740-3043-322F-A4AB38C9A8A1}"/>
                </a:ext>
              </a:extLst>
            </p:cNvPr>
            <p:cNvCxnSpPr/>
            <p:nvPr/>
          </p:nvCxnSpPr>
          <p:spPr>
            <a:xfrm>
              <a:off x="6413475" y="252058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013D614-750F-2181-D96D-073FB68CAB55}"/>
                </a:ext>
              </a:extLst>
            </p:cNvPr>
            <p:cNvCxnSpPr/>
            <p:nvPr/>
          </p:nvCxnSpPr>
          <p:spPr>
            <a:xfrm>
              <a:off x="6646772" y="241830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D858DDE-EE4D-DC4E-612A-49893120A260}"/>
                </a:ext>
              </a:extLst>
            </p:cNvPr>
            <p:cNvCxnSpPr/>
            <p:nvPr/>
          </p:nvCxnSpPr>
          <p:spPr>
            <a:xfrm>
              <a:off x="6261025" y="229592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52AFF45-8034-BDB9-59E1-68B4EAD34CCD}"/>
                </a:ext>
              </a:extLst>
            </p:cNvPr>
            <p:cNvCxnSpPr/>
            <p:nvPr/>
          </p:nvCxnSpPr>
          <p:spPr>
            <a:xfrm>
              <a:off x="6653025" y="2285366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95FBE80-9AD5-CE8E-DBE7-CDACCB5DF1AE}"/>
                </a:ext>
              </a:extLst>
            </p:cNvPr>
            <p:cNvCxnSpPr/>
            <p:nvPr/>
          </p:nvCxnSpPr>
          <p:spPr>
            <a:xfrm>
              <a:off x="6195104" y="285824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E9CE346-B095-745B-EBE3-4DC8D2B4D015}"/>
                </a:ext>
              </a:extLst>
            </p:cNvPr>
            <p:cNvCxnSpPr/>
            <p:nvPr/>
          </p:nvCxnSpPr>
          <p:spPr>
            <a:xfrm>
              <a:off x="6580851" y="309791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B2EAD5E-65DF-CABA-6509-060FE7283D84}"/>
                </a:ext>
              </a:extLst>
            </p:cNvPr>
            <p:cNvCxnSpPr/>
            <p:nvPr/>
          </p:nvCxnSpPr>
          <p:spPr>
            <a:xfrm>
              <a:off x="5986638" y="274117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524EAF9-6E13-BE47-BABD-C099941E3F53}"/>
                </a:ext>
              </a:extLst>
            </p:cNvPr>
            <p:cNvCxnSpPr/>
            <p:nvPr/>
          </p:nvCxnSpPr>
          <p:spPr>
            <a:xfrm>
              <a:off x="6892004" y="285824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050B0E3-95E7-8429-9A1E-975007FABD7E}"/>
                </a:ext>
              </a:extLst>
            </p:cNvPr>
            <p:cNvCxnSpPr/>
            <p:nvPr/>
          </p:nvCxnSpPr>
          <p:spPr>
            <a:xfrm>
              <a:off x="6509479" y="277831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903D7E7-5A80-9261-A68E-DBF6744690EC}"/>
                </a:ext>
              </a:extLst>
            </p:cNvPr>
            <p:cNvCxnSpPr/>
            <p:nvPr/>
          </p:nvCxnSpPr>
          <p:spPr>
            <a:xfrm>
              <a:off x="6243321" y="261879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F504831-6640-F924-140C-B6395F67171A}"/>
                </a:ext>
              </a:extLst>
            </p:cNvPr>
            <p:cNvCxnSpPr/>
            <p:nvPr/>
          </p:nvCxnSpPr>
          <p:spPr>
            <a:xfrm>
              <a:off x="6587104" y="296497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999144-9511-75AE-4864-A6F69B630C22}"/>
                </a:ext>
              </a:extLst>
            </p:cNvPr>
            <p:cNvCxnSpPr/>
            <p:nvPr/>
          </p:nvCxnSpPr>
          <p:spPr>
            <a:xfrm>
              <a:off x="6804854" y="319591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A4F1C11-88F5-D3D8-1006-BC221048ACE4}"/>
                </a:ext>
              </a:extLst>
            </p:cNvPr>
            <p:cNvCxnSpPr/>
            <p:nvPr/>
          </p:nvCxnSpPr>
          <p:spPr>
            <a:xfrm>
              <a:off x="6957304" y="307981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7EB1D0B-A0AD-1D22-9F81-47EBB0D534D1}"/>
                </a:ext>
              </a:extLst>
            </p:cNvPr>
            <p:cNvCxnSpPr/>
            <p:nvPr/>
          </p:nvCxnSpPr>
          <p:spPr>
            <a:xfrm>
              <a:off x="7349666" y="189350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677B805-CC07-7970-6A62-A214C6CE67CD}"/>
                </a:ext>
              </a:extLst>
            </p:cNvPr>
            <p:cNvCxnSpPr/>
            <p:nvPr/>
          </p:nvCxnSpPr>
          <p:spPr>
            <a:xfrm>
              <a:off x="7502116" y="227807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6C3664A0-53C4-BA51-D83F-0C411C6D5934}"/>
                </a:ext>
              </a:extLst>
            </p:cNvPr>
            <p:cNvCxnSpPr/>
            <p:nvPr/>
          </p:nvCxnSpPr>
          <p:spPr>
            <a:xfrm>
              <a:off x="7735413" y="21502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85E5735-560F-F064-628A-15D991FE0051}"/>
                </a:ext>
              </a:extLst>
            </p:cNvPr>
            <p:cNvCxnSpPr/>
            <p:nvPr/>
          </p:nvCxnSpPr>
          <p:spPr>
            <a:xfrm>
              <a:off x="7349666" y="201079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2A2F919-7585-9FEA-4D3F-9EAF325AECF3}"/>
                </a:ext>
              </a:extLst>
            </p:cNvPr>
            <p:cNvCxnSpPr/>
            <p:nvPr/>
          </p:nvCxnSpPr>
          <p:spPr>
            <a:xfrm>
              <a:off x="7278294" y="215221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B4965C1-08E4-53C9-FDD2-D9591284ED5D}"/>
                </a:ext>
              </a:extLst>
            </p:cNvPr>
            <p:cNvCxnSpPr/>
            <p:nvPr/>
          </p:nvCxnSpPr>
          <p:spPr>
            <a:xfrm>
              <a:off x="8069233" y="257862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3121EF-7C57-C51A-5876-E8FD4B44ACDD}"/>
                </a:ext>
              </a:extLst>
            </p:cNvPr>
            <p:cNvCxnSpPr/>
            <p:nvPr/>
          </p:nvCxnSpPr>
          <p:spPr>
            <a:xfrm>
              <a:off x="8046566" y="189350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473F92B-E8C6-61F5-72CE-F08658B08F40}"/>
                </a:ext>
              </a:extLst>
            </p:cNvPr>
            <p:cNvCxnSpPr/>
            <p:nvPr/>
          </p:nvCxnSpPr>
          <p:spPr>
            <a:xfrm>
              <a:off x="8279863" y="179122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EDF7814-3C4A-2BD8-4451-BD69F69490DF}"/>
                </a:ext>
              </a:extLst>
            </p:cNvPr>
            <p:cNvCxnSpPr/>
            <p:nvPr/>
          </p:nvCxnSpPr>
          <p:spPr>
            <a:xfrm>
              <a:off x="7894116" y="166885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8B9BC09-56D0-2B5C-ECBF-AA6F01F22DEE}"/>
                </a:ext>
              </a:extLst>
            </p:cNvPr>
            <p:cNvCxnSpPr/>
            <p:nvPr/>
          </p:nvCxnSpPr>
          <p:spPr>
            <a:xfrm>
              <a:off x="7741666" y="200023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AF5927C-D67B-A74F-C88B-F2AFC4811686}"/>
                </a:ext>
              </a:extLst>
            </p:cNvPr>
            <p:cNvCxnSpPr/>
            <p:nvPr/>
          </p:nvCxnSpPr>
          <p:spPr>
            <a:xfrm>
              <a:off x="7397883" y="25191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E6653D9-CB17-FA61-5987-EC1F245EF26E}"/>
                </a:ext>
              </a:extLst>
            </p:cNvPr>
            <p:cNvCxnSpPr/>
            <p:nvPr/>
          </p:nvCxnSpPr>
          <p:spPr>
            <a:xfrm>
              <a:off x="8345163" y="239616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34161F8-890E-E151-7E20-89DBEC9E0D71}"/>
                </a:ext>
              </a:extLst>
            </p:cNvPr>
            <p:cNvCxnSpPr/>
            <p:nvPr/>
          </p:nvCxnSpPr>
          <p:spPr>
            <a:xfrm>
              <a:off x="7959416" y="227378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A4D10E8-E520-3F19-08E4-9DEAC1EC523B}"/>
                </a:ext>
              </a:extLst>
            </p:cNvPr>
            <p:cNvCxnSpPr/>
            <p:nvPr/>
          </p:nvCxnSpPr>
          <p:spPr>
            <a:xfrm>
              <a:off x="8168437" y="213093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F627C69-5F09-68F6-702E-A9C6506CD794}"/>
                </a:ext>
              </a:extLst>
            </p:cNvPr>
            <p:cNvCxnSpPr/>
            <p:nvPr/>
          </p:nvCxnSpPr>
          <p:spPr>
            <a:xfrm>
              <a:off x="8282680" y="199778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92E0966-F9A5-D2CC-B7F0-058331E47FDB}"/>
                </a:ext>
              </a:extLst>
            </p:cNvPr>
            <p:cNvCxnSpPr/>
            <p:nvPr/>
          </p:nvCxnSpPr>
          <p:spPr>
            <a:xfrm>
              <a:off x="8351416" y="226322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6CCB67A-4017-FD2B-3838-A8B6E601F51F}"/>
                </a:ext>
              </a:extLst>
            </p:cNvPr>
            <p:cNvCxnSpPr/>
            <p:nvPr/>
          </p:nvCxnSpPr>
          <p:spPr>
            <a:xfrm>
              <a:off x="7735644" y="261429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9BFB858-59AA-18B9-04DD-E96D332FDF59}"/>
                </a:ext>
              </a:extLst>
            </p:cNvPr>
            <p:cNvCxnSpPr/>
            <p:nvPr/>
          </p:nvCxnSpPr>
          <p:spPr>
            <a:xfrm>
              <a:off x="7968941" y="251201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1AE631D-982E-A7C4-EBA4-4DCA8DB5671F}"/>
                </a:ext>
              </a:extLst>
            </p:cNvPr>
            <p:cNvCxnSpPr/>
            <p:nvPr/>
          </p:nvCxnSpPr>
          <p:spPr>
            <a:xfrm>
              <a:off x="7583194" y="238963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2935FA7-40B7-6413-376B-C60843F18AFF}"/>
                </a:ext>
              </a:extLst>
            </p:cNvPr>
            <p:cNvCxnSpPr/>
            <p:nvPr/>
          </p:nvCxnSpPr>
          <p:spPr>
            <a:xfrm>
              <a:off x="7128118" y="263787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2916147-102D-DB14-A653-63046443496D}"/>
                </a:ext>
              </a:extLst>
            </p:cNvPr>
            <p:cNvCxnSpPr/>
            <p:nvPr/>
          </p:nvCxnSpPr>
          <p:spPr>
            <a:xfrm>
              <a:off x="8959899" y="214822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0E295B2-A92D-01AB-CBE5-A482D43E6936}"/>
                </a:ext>
              </a:extLst>
            </p:cNvPr>
            <p:cNvCxnSpPr/>
            <p:nvPr/>
          </p:nvCxnSpPr>
          <p:spPr>
            <a:xfrm>
              <a:off x="7293451" y="284768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82F021-B3BC-BBDE-DF77-7285A2AD12C9}"/>
                </a:ext>
              </a:extLst>
            </p:cNvPr>
            <p:cNvCxnSpPr/>
            <p:nvPr/>
          </p:nvCxnSpPr>
          <p:spPr>
            <a:xfrm>
              <a:off x="8736077" y="20308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86B9484-F1E1-0B22-DA02-B6DEDF947DE8}"/>
                </a:ext>
              </a:extLst>
            </p:cNvPr>
            <p:cNvCxnSpPr/>
            <p:nvPr/>
          </p:nvCxnSpPr>
          <p:spPr>
            <a:xfrm>
              <a:off x="7816491" y="246194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D141E8E-7340-5BC8-F9AF-2F1973203352}"/>
                </a:ext>
              </a:extLst>
            </p:cNvPr>
            <p:cNvCxnSpPr/>
            <p:nvPr/>
          </p:nvCxnSpPr>
          <p:spPr>
            <a:xfrm>
              <a:off x="7064128" y="1766501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ED7E21A-EDA1-A660-76C4-5F096BD6695B}"/>
                </a:ext>
              </a:extLst>
            </p:cNvPr>
            <p:cNvCxnSpPr/>
            <p:nvPr/>
          </p:nvCxnSpPr>
          <p:spPr>
            <a:xfrm>
              <a:off x="8400224" y="262731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2E42ED8-6201-E9FD-D5A0-793C0C93DA6F}"/>
                </a:ext>
              </a:extLst>
            </p:cNvPr>
            <p:cNvCxnSpPr/>
            <p:nvPr/>
          </p:nvCxnSpPr>
          <p:spPr>
            <a:xfrm>
              <a:off x="7153689" y="25417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DF4FDEA-9ACF-2B4C-670F-A1018C781383}"/>
                </a:ext>
              </a:extLst>
            </p:cNvPr>
            <p:cNvCxnSpPr/>
            <p:nvPr/>
          </p:nvCxnSpPr>
          <p:spPr>
            <a:xfrm>
              <a:off x="8855666" y="24148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1BDA021-EF19-5DBB-ACC5-B2789D02BF57}"/>
                </a:ext>
              </a:extLst>
            </p:cNvPr>
            <p:cNvCxnSpPr/>
            <p:nvPr/>
          </p:nvCxnSpPr>
          <p:spPr>
            <a:xfrm>
              <a:off x="7770303" y="2067994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DF9DE43-1FF3-1A8E-67C9-A6458939FC5D}"/>
                </a:ext>
              </a:extLst>
            </p:cNvPr>
            <p:cNvCxnSpPr/>
            <p:nvPr/>
          </p:nvCxnSpPr>
          <p:spPr>
            <a:xfrm>
              <a:off x="8587580" y="217456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823EA936-1057-1E29-8CC6-CEB67898B25E}"/>
                </a:ext>
              </a:extLst>
            </p:cNvPr>
            <p:cNvCxnSpPr/>
            <p:nvPr/>
          </p:nvCxnSpPr>
          <p:spPr>
            <a:xfrm>
              <a:off x="8587580" y="25191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7B21D71-B134-54FD-AAF8-B15847203338}"/>
                </a:ext>
              </a:extLst>
            </p:cNvPr>
            <p:cNvCxnSpPr/>
            <p:nvPr/>
          </p:nvCxnSpPr>
          <p:spPr>
            <a:xfrm>
              <a:off x="7692871" y="327522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F6DE06F-742B-8D04-27FA-44D345B4CAA9}"/>
                </a:ext>
              </a:extLst>
            </p:cNvPr>
            <p:cNvCxnSpPr/>
            <p:nvPr/>
          </p:nvCxnSpPr>
          <p:spPr>
            <a:xfrm>
              <a:off x="9040977" y="228536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CF39D5A-CD0F-F530-3C17-748977EEDAD7}"/>
                </a:ext>
              </a:extLst>
            </p:cNvPr>
            <p:cNvCxnSpPr/>
            <p:nvPr/>
          </p:nvCxnSpPr>
          <p:spPr>
            <a:xfrm>
              <a:off x="7517273" y="295196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64537EC4-70B0-AB1C-F268-D031675E4C75}"/>
                </a:ext>
              </a:extLst>
            </p:cNvPr>
            <p:cNvCxnSpPr/>
            <p:nvPr/>
          </p:nvCxnSpPr>
          <p:spPr>
            <a:xfrm>
              <a:off x="7903020" y="319162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B1DA6D94-E9F5-A156-149D-7F89F2457C54}"/>
                </a:ext>
              </a:extLst>
            </p:cNvPr>
            <p:cNvCxnSpPr/>
            <p:nvPr/>
          </p:nvCxnSpPr>
          <p:spPr>
            <a:xfrm>
              <a:off x="7517273" y="306925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0774E29-759C-21DE-E5C6-10C620EC1E09}"/>
                </a:ext>
              </a:extLst>
            </p:cNvPr>
            <p:cNvCxnSpPr/>
            <p:nvPr/>
          </p:nvCxnSpPr>
          <p:spPr>
            <a:xfrm>
              <a:off x="7445901" y="319362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6D58FBA-A053-1945-0AC4-2250574030CF}"/>
                </a:ext>
              </a:extLst>
            </p:cNvPr>
            <p:cNvCxnSpPr/>
            <p:nvPr/>
          </p:nvCxnSpPr>
          <p:spPr>
            <a:xfrm>
              <a:off x="7805040" y="284968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552B526-CA74-4D38-3FC5-92752D8B1B78}"/>
                </a:ext>
              </a:extLst>
            </p:cNvPr>
            <p:cNvCxnSpPr/>
            <p:nvPr/>
          </p:nvCxnSpPr>
          <p:spPr>
            <a:xfrm>
              <a:off x="8214173" y="295196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CB17AEB-6DE0-7321-BBC6-486059D608A0}"/>
                </a:ext>
              </a:extLst>
            </p:cNvPr>
            <p:cNvCxnSpPr/>
            <p:nvPr/>
          </p:nvCxnSpPr>
          <p:spPr>
            <a:xfrm>
              <a:off x="8447470" y="284968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9B637228-0F07-6D4B-43D4-609607E79E60}"/>
                </a:ext>
              </a:extLst>
            </p:cNvPr>
            <p:cNvCxnSpPr/>
            <p:nvPr/>
          </p:nvCxnSpPr>
          <p:spPr>
            <a:xfrm>
              <a:off x="8061723" y="272730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66DDAA2F-DDC2-0EC6-6D55-A1452B547170}"/>
                </a:ext>
              </a:extLst>
            </p:cNvPr>
            <p:cNvCxnSpPr/>
            <p:nvPr/>
          </p:nvCxnSpPr>
          <p:spPr>
            <a:xfrm>
              <a:off x="7909273" y="305869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5D00A41-5D73-FB59-76C5-8E3B143B8A05}"/>
                </a:ext>
              </a:extLst>
            </p:cNvPr>
            <p:cNvCxnSpPr/>
            <p:nvPr/>
          </p:nvCxnSpPr>
          <p:spPr>
            <a:xfrm>
              <a:off x="8336044" y="317233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388DC3A-A3D6-11C1-3014-7BFD12A95233}"/>
                </a:ext>
              </a:extLst>
            </p:cNvPr>
            <p:cNvCxnSpPr/>
            <p:nvPr/>
          </p:nvCxnSpPr>
          <p:spPr>
            <a:xfrm>
              <a:off x="8450287" y="3056234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3A304AAA-E07B-A990-898C-F83CCD7E0EE0}"/>
                </a:ext>
              </a:extLst>
            </p:cNvPr>
            <p:cNvCxnSpPr/>
            <p:nvPr/>
          </p:nvCxnSpPr>
          <p:spPr>
            <a:xfrm>
              <a:off x="8766590" y="273061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4EFF931F-3D4C-242B-0F43-A8361B6D311F}"/>
                </a:ext>
              </a:extLst>
            </p:cNvPr>
            <p:cNvCxnSpPr/>
            <p:nvPr/>
          </p:nvCxnSpPr>
          <p:spPr>
            <a:xfrm>
              <a:off x="9023273" y="26082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8974BABB-B65C-4CE7-A2EF-4B633FFACDD1}"/>
                </a:ext>
              </a:extLst>
            </p:cNvPr>
            <p:cNvCxnSpPr/>
            <p:nvPr/>
          </p:nvCxnSpPr>
          <p:spPr>
            <a:xfrm>
              <a:off x="7520111" y="272730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12812D4-F033-7285-6044-D3BD32795222}"/>
                </a:ext>
              </a:extLst>
            </p:cNvPr>
            <p:cNvCxnSpPr/>
            <p:nvPr/>
          </p:nvCxnSpPr>
          <p:spPr>
            <a:xfrm>
              <a:off x="7049889" y="231047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30E277E-9849-1B87-099B-5E3E3E1805FE}"/>
                </a:ext>
              </a:extLst>
            </p:cNvPr>
            <p:cNvCxnSpPr/>
            <p:nvPr/>
          </p:nvCxnSpPr>
          <p:spPr>
            <a:xfrm>
              <a:off x="5895038" y="22715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7833CF8-6EAC-11CB-CEC5-4DD44C51C05B}"/>
                </a:ext>
              </a:extLst>
            </p:cNvPr>
            <p:cNvCxnSpPr/>
            <p:nvPr/>
          </p:nvCxnSpPr>
          <p:spPr>
            <a:xfrm>
              <a:off x="6128335" y="215219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1E7DFB2-50FE-0D23-E406-4141ABEFA720}"/>
                </a:ext>
              </a:extLst>
            </p:cNvPr>
            <p:cNvCxnSpPr/>
            <p:nvPr/>
          </p:nvCxnSpPr>
          <p:spPr>
            <a:xfrm>
              <a:off x="6439488" y="1912529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1AA2BE62-A957-5BF5-44A3-64147CE45244}"/>
                </a:ext>
              </a:extLst>
            </p:cNvPr>
            <p:cNvCxnSpPr/>
            <p:nvPr/>
          </p:nvCxnSpPr>
          <p:spPr>
            <a:xfrm>
              <a:off x="6091580" y="194044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8531F88F-5843-4D67-7884-9629F92675ED}"/>
                </a:ext>
              </a:extLst>
            </p:cNvPr>
            <p:cNvCxnSpPr/>
            <p:nvPr/>
          </p:nvCxnSpPr>
          <p:spPr>
            <a:xfrm>
              <a:off x="6523152" y="2647489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9E5A6E0E-F6FE-431C-E441-CF5D23CD87F6}"/>
                </a:ext>
              </a:extLst>
            </p:cNvPr>
            <p:cNvCxnSpPr/>
            <p:nvPr/>
          </p:nvCxnSpPr>
          <p:spPr>
            <a:xfrm>
              <a:off x="6352338" y="226724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C7C61EB-C4C4-4380-F935-0391435738D5}"/>
                </a:ext>
              </a:extLst>
            </p:cNvPr>
            <p:cNvCxnSpPr/>
            <p:nvPr/>
          </p:nvCxnSpPr>
          <p:spPr>
            <a:xfrm>
              <a:off x="5849007" y="25860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39B80F69-8100-6C2C-466D-856DC3AC6BA8}"/>
                </a:ext>
              </a:extLst>
            </p:cNvPr>
            <p:cNvCxnSpPr/>
            <p:nvPr/>
          </p:nvCxnSpPr>
          <p:spPr>
            <a:xfrm>
              <a:off x="6361863" y="253103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410B8E01-074F-2729-0D0C-EBBA4CDE9D7A}"/>
                </a:ext>
              </a:extLst>
            </p:cNvPr>
            <p:cNvCxnSpPr/>
            <p:nvPr/>
          </p:nvCxnSpPr>
          <p:spPr>
            <a:xfrm>
              <a:off x="5976116" y="2408660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554D83F6-12C2-0FC5-E9C4-30B8978A8EE6}"/>
                </a:ext>
              </a:extLst>
            </p:cNvPr>
            <p:cNvCxnSpPr/>
            <p:nvPr/>
          </p:nvCxnSpPr>
          <p:spPr>
            <a:xfrm>
              <a:off x="6607095" y="2970982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10B4BD53-FD1E-AD25-2D00-4BACCD3F18A1}"/>
                </a:ext>
              </a:extLst>
            </p:cNvPr>
            <p:cNvCxnSpPr/>
            <p:nvPr/>
          </p:nvCxnSpPr>
          <p:spPr>
            <a:xfrm>
              <a:off x="6224570" y="289105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6261B5C-1024-9EEB-01A6-937CBAEC05AA}"/>
                </a:ext>
              </a:extLst>
            </p:cNvPr>
            <p:cNvCxnSpPr/>
            <p:nvPr/>
          </p:nvCxnSpPr>
          <p:spPr>
            <a:xfrm>
              <a:off x="5958412" y="27315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B4895C2F-12AA-221C-F10E-68B9C9CBBAE6}"/>
                </a:ext>
              </a:extLst>
            </p:cNvPr>
            <p:cNvCxnSpPr/>
            <p:nvPr/>
          </p:nvCxnSpPr>
          <p:spPr>
            <a:xfrm>
              <a:off x="6302195" y="307771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D51E254-2187-D854-5D12-D42A0FE0AA9D}"/>
                </a:ext>
              </a:extLst>
            </p:cNvPr>
            <p:cNvCxnSpPr/>
            <p:nvPr/>
          </p:nvCxnSpPr>
          <p:spPr>
            <a:xfrm>
              <a:off x="6672395" y="319254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929EBD7-091F-69B6-925A-C80017F29E66}"/>
                </a:ext>
              </a:extLst>
            </p:cNvPr>
            <p:cNvCxnSpPr/>
            <p:nvPr/>
          </p:nvCxnSpPr>
          <p:spPr>
            <a:xfrm>
              <a:off x="7064757" y="200624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A900763A-2063-8981-61B3-00D0F9390F6A}"/>
                </a:ext>
              </a:extLst>
            </p:cNvPr>
            <p:cNvCxnSpPr/>
            <p:nvPr/>
          </p:nvCxnSpPr>
          <p:spPr>
            <a:xfrm>
              <a:off x="7217207" y="23908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0CAE5622-3386-94B9-205A-9C4ECE66073F}"/>
                </a:ext>
              </a:extLst>
            </p:cNvPr>
            <p:cNvCxnSpPr/>
            <p:nvPr/>
          </p:nvCxnSpPr>
          <p:spPr>
            <a:xfrm>
              <a:off x="7450504" y="2262956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1BBFF46-D86E-17D2-C6A6-03267E92A5EF}"/>
                </a:ext>
              </a:extLst>
            </p:cNvPr>
            <p:cNvCxnSpPr/>
            <p:nvPr/>
          </p:nvCxnSpPr>
          <p:spPr>
            <a:xfrm>
              <a:off x="6955702" y="26804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8DA86369-5B29-DAB4-56F8-DD6E83FD22D1}"/>
                </a:ext>
              </a:extLst>
            </p:cNvPr>
            <p:cNvCxnSpPr/>
            <p:nvPr/>
          </p:nvCxnSpPr>
          <p:spPr>
            <a:xfrm>
              <a:off x="7352524" y="166266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E9A05F1E-E034-D070-4A2C-6FEE4C67A399}"/>
                </a:ext>
              </a:extLst>
            </p:cNvPr>
            <p:cNvCxnSpPr/>
            <p:nvPr/>
          </p:nvCxnSpPr>
          <p:spPr>
            <a:xfrm>
              <a:off x="7994954" y="190396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43391CFC-8A70-6BE8-18FB-5F3EB58EF0E2}"/>
                </a:ext>
              </a:extLst>
            </p:cNvPr>
            <p:cNvCxnSpPr/>
            <p:nvPr/>
          </p:nvCxnSpPr>
          <p:spPr>
            <a:xfrm>
              <a:off x="7456757" y="21129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10A4CC7F-E455-F043-38FA-504D056A92AB}"/>
                </a:ext>
              </a:extLst>
            </p:cNvPr>
            <p:cNvCxnSpPr/>
            <p:nvPr/>
          </p:nvCxnSpPr>
          <p:spPr>
            <a:xfrm>
              <a:off x="7112974" y="2631838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7E35FD77-D8E3-A0AB-E607-97C66C4C4329}"/>
                </a:ext>
              </a:extLst>
            </p:cNvPr>
            <p:cNvCxnSpPr/>
            <p:nvPr/>
          </p:nvCxnSpPr>
          <p:spPr>
            <a:xfrm>
              <a:off x="8060254" y="250890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6A08E207-7573-21F3-A426-A68FF42198B5}"/>
                </a:ext>
              </a:extLst>
            </p:cNvPr>
            <p:cNvCxnSpPr/>
            <p:nvPr/>
          </p:nvCxnSpPr>
          <p:spPr>
            <a:xfrm>
              <a:off x="7674507" y="23865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A519AEDA-E4C1-37CC-C821-2A271797AF50}"/>
                </a:ext>
              </a:extLst>
            </p:cNvPr>
            <p:cNvCxnSpPr/>
            <p:nvPr/>
          </p:nvCxnSpPr>
          <p:spPr>
            <a:xfrm>
              <a:off x="7883528" y="224366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6565C31-C1C6-948F-E3DE-632902E17F89}"/>
                </a:ext>
              </a:extLst>
            </p:cNvPr>
            <p:cNvCxnSpPr/>
            <p:nvPr/>
          </p:nvCxnSpPr>
          <p:spPr>
            <a:xfrm>
              <a:off x="7997771" y="2110515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8D5B89D-BB29-7B77-77DC-A7B223CDD9C6}"/>
                </a:ext>
              </a:extLst>
            </p:cNvPr>
            <p:cNvCxnSpPr/>
            <p:nvPr/>
          </p:nvCxnSpPr>
          <p:spPr>
            <a:xfrm>
              <a:off x="8066507" y="2375962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4E7D9D29-77BC-6D6F-5F03-ADB4E0B14EAE}"/>
                </a:ext>
              </a:extLst>
            </p:cNvPr>
            <p:cNvCxnSpPr/>
            <p:nvPr/>
          </p:nvCxnSpPr>
          <p:spPr>
            <a:xfrm>
              <a:off x="7450735" y="27270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78FF2A11-546E-A13D-4EBA-D69A4441D67E}"/>
                </a:ext>
              </a:extLst>
            </p:cNvPr>
            <p:cNvCxnSpPr/>
            <p:nvPr/>
          </p:nvCxnSpPr>
          <p:spPr>
            <a:xfrm>
              <a:off x="7298285" y="2502373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215D642E-42C1-E142-4087-411123CCFA25}"/>
                </a:ext>
              </a:extLst>
            </p:cNvPr>
            <p:cNvCxnSpPr/>
            <p:nvPr/>
          </p:nvCxnSpPr>
          <p:spPr>
            <a:xfrm>
              <a:off x="6843209" y="275060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708F00C3-A860-97E6-30CC-E59598BBE214}"/>
                </a:ext>
              </a:extLst>
            </p:cNvPr>
            <p:cNvCxnSpPr/>
            <p:nvPr/>
          </p:nvCxnSpPr>
          <p:spPr>
            <a:xfrm>
              <a:off x="8522540" y="190196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BD298B7A-832C-F1DF-0406-3A143A46B695}"/>
                </a:ext>
              </a:extLst>
            </p:cNvPr>
            <p:cNvCxnSpPr/>
            <p:nvPr/>
          </p:nvCxnSpPr>
          <p:spPr>
            <a:xfrm>
              <a:off x="8674990" y="226096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EFF68C43-146A-5F3D-3615-502FD8176735}"/>
                </a:ext>
              </a:extLst>
            </p:cNvPr>
            <p:cNvCxnSpPr/>
            <p:nvPr/>
          </p:nvCxnSpPr>
          <p:spPr>
            <a:xfrm>
              <a:off x="8908287" y="214163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3A8C5134-B06A-4054-BA63-30595BDFF9F2}"/>
                </a:ext>
              </a:extLst>
            </p:cNvPr>
            <p:cNvCxnSpPr/>
            <p:nvPr/>
          </p:nvCxnSpPr>
          <p:spPr>
            <a:xfrm>
              <a:off x="8451168" y="2143632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8F67BBCF-DE12-63A3-1874-75F054C99AB2}"/>
                </a:ext>
              </a:extLst>
            </p:cNvPr>
            <p:cNvCxnSpPr/>
            <p:nvPr/>
          </p:nvCxnSpPr>
          <p:spPr>
            <a:xfrm>
              <a:off x="8572423" y="1784892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94178D64-901A-8B66-66D1-40335012277E}"/>
                </a:ext>
              </a:extLst>
            </p:cNvPr>
            <p:cNvCxnSpPr/>
            <p:nvPr/>
          </p:nvCxnSpPr>
          <p:spPr>
            <a:xfrm>
              <a:off x="8876440" y="2008698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B1700A2F-3D41-CC4F-54F2-FB4B140D86A3}"/>
                </a:ext>
              </a:extLst>
            </p:cNvPr>
            <p:cNvCxnSpPr/>
            <p:nvPr/>
          </p:nvCxnSpPr>
          <p:spPr>
            <a:xfrm>
              <a:off x="8570757" y="25275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CB14653-6007-2821-7C55-607208EBF982}"/>
                </a:ext>
              </a:extLst>
            </p:cNvPr>
            <p:cNvCxnSpPr/>
            <p:nvPr/>
          </p:nvCxnSpPr>
          <p:spPr>
            <a:xfrm>
              <a:off x="9068790" y="225668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7F80F5CF-6851-EAB2-792E-E7E01EA5EECC}"/>
                </a:ext>
              </a:extLst>
            </p:cNvPr>
            <p:cNvCxnSpPr/>
            <p:nvPr/>
          </p:nvCxnSpPr>
          <p:spPr>
            <a:xfrm>
              <a:off x="8302671" y="2287298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9BE3E0C3-5334-1E55-DDB3-B0D11A53C4F3}"/>
                </a:ext>
              </a:extLst>
            </p:cNvPr>
            <p:cNvCxnSpPr/>
            <p:nvPr/>
          </p:nvCxnSpPr>
          <p:spPr>
            <a:xfrm>
              <a:off x="8302671" y="2631838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906D56F-5BB5-D6C0-55B6-6C90742722C3}"/>
                </a:ext>
              </a:extLst>
            </p:cNvPr>
            <p:cNvCxnSpPr/>
            <p:nvPr/>
          </p:nvCxnSpPr>
          <p:spPr>
            <a:xfrm>
              <a:off x="8994536" y="262275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8CBBFCD-2D4C-C08C-C293-0883AD39E440}"/>
                </a:ext>
              </a:extLst>
            </p:cNvPr>
            <p:cNvCxnSpPr/>
            <p:nvPr/>
          </p:nvCxnSpPr>
          <p:spPr>
            <a:xfrm>
              <a:off x="9141815" y="2520479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A58881E-7749-49EF-6298-A7395A83F592}"/>
                </a:ext>
              </a:extLst>
            </p:cNvPr>
            <p:cNvCxnSpPr/>
            <p:nvPr/>
          </p:nvCxnSpPr>
          <p:spPr>
            <a:xfrm>
              <a:off x="8756068" y="2398100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037DF97D-7BDC-4F6B-B29E-B06CA9356223}"/>
                </a:ext>
              </a:extLst>
            </p:cNvPr>
            <p:cNvCxnSpPr/>
            <p:nvPr/>
          </p:nvCxnSpPr>
          <p:spPr>
            <a:xfrm>
              <a:off x="7232364" y="306469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EF7F56BF-CE14-1AB4-9839-A3441068D323}"/>
                </a:ext>
              </a:extLst>
            </p:cNvPr>
            <p:cNvCxnSpPr/>
            <p:nvPr/>
          </p:nvCxnSpPr>
          <p:spPr>
            <a:xfrm>
              <a:off x="7232364" y="3181984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E1B7838D-A8AD-0413-DE74-2F3054B056A6}"/>
                </a:ext>
              </a:extLst>
            </p:cNvPr>
            <p:cNvCxnSpPr/>
            <p:nvPr/>
          </p:nvCxnSpPr>
          <p:spPr>
            <a:xfrm>
              <a:off x="7520131" y="2962416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B779219-9BD4-857F-689B-DCA43E7E8B35}"/>
                </a:ext>
              </a:extLst>
            </p:cNvPr>
            <p:cNvCxnSpPr/>
            <p:nvPr/>
          </p:nvCxnSpPr>
          <p:spPr>
            <a:xfrm>
              <a:off x="7929264" y="3064695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0E4D07ED-8427-5A61-1AFA-AB34D078F2F5}"/>
                </a:ext>
              </a:extLst>
            </p:cNvPr>
            <p:cNvCxnSpPr/>
            <p:nvPr/>
          </p:nvCxnSpPr>
          <p:spPr>
            <a:xfrm>
              <a:off x="8162561" y="296241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8939356-2AA3-9B92-2B0C-C08FDA3163BD}"/>
                </a:ext>
              </a:extLst>
            </p:cNvPr>
            <p:cNvCxnSpPr/>
            <p:nvPr/>
          </p:nvCxnSpPr>
          <p:spPr>
            <a:xfrm>
              <a:off x="7776814" y="284003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1A0407E4-3DDD-9921-747F-B5021F0CE740}"/>
                </a:ext>
              </a:extLst>
            </p:cNvPr>
            <p:cNvCxnSpPr/>
            <p:nvPr/>
          </p:nvCxnSpPr>
          <p:spPr>
            <a:xfrm>
              <a:off x="7624364" y="317142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8C580ECA-353C-B518-46B3-D67A08574AFA}"/>
                </a:ext>
              </a:extLst>
            </p:cNvPr>
            <p:cNvCxnSpPr/>
            <p:nvPr/>
          </p:nvCxnSpPr>
          <p:spPr>
            <a:xfrm>
              <a:off x="8165378" y="316896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47524DB5-DCE6-67E7-EF70-60F98BB61C06}"/>
                </a:ext>
              </a:extLst>
            </p:cNvPr>
            <p:cNvCxnSpPr/>
            <p:nvPr/>
          </p:nvCxnSpPr>
          <p:spPr>
            <a:xfrm>
              <a:off x="8690147" y="29604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DFB54CC8-F8AE-6C96-5B60-AA89A1126AD1}"/>
                </a:ext>
              </a:extLst>
            </p:cNvPr>
            <p:cNvCxnSpPr/>
            <p:nvPr/>
          </p:nvCxnSpPr>
          <p:spPr>
            <a:xfrm>
              <a:off x="8690147" y="307771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76783CBA-F652-BFD0-1CB8-13091E118200}"/>
                </a:ext>
              </a:extLst>
            </p:cNvPr>
            <p:cNvCxnSpPr/>
            <p:nvPr/>
          </p:nvCxnSpPr>
          <p:spPr>
            <a:xfrm>
              <a:off x="8740031" y="2843344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1683D02E-C96B-D3D6-7984-3D8A7B4B3469}"/>
                </a:ext>
              </a:extLst>
            </p:cNvPr>
            <p:cNvCxnSpPr/>
            <p:nvPr/>
          </p:nvCxnSpPr>
          <p:spPr>
            <a:xfrm>
              <a:off x="9060934" y="272096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04F1BF-1BA2-804E-A803-81D580B58808}"/>
                </a:ext>
              </a:extLst>
            </p:cNvPr>
            <p:cNvCxnSpPr/>
            <p:nvPr/>
          </p:nvCxnSpPr>
          <p:spPr>
            <a:xfrm>
              <a:off x="6764980" y="242320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267B265C-A31C-7017-F531-0FB073B4ECF9}"/>
                </a:ext>
              </a:extLst>
            </p:cNvPr>
            <p:cNvSpPr/>
            <p:nvPr/>
          </p:nvSpPr>
          <p:spPr>
            <a:xfrm>
              <a:off x="5696478" y="1479995"/>
              <a:ext cx="3898900" cy="1906282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24EC75B-6ECC-577B-9635-C649E44446B2}"/>
              </a:ext>
            </a:extLst>
          </p:cNvPr>
          <p:cNvGrpSpPr/>
          <p:nvPr/>
        </p:nvGrpSpPr>
        <p:grpSpPr>
          <a:xfrm>
            <a:off x="7279509" y="1249241"/>
            <a:ext cx="1535110" cy="1023983"/>
            <a:chOff x="5483568" y="3926862"/>
            <a:chExt cx="3898900" cy="1906282"/>
          </a:xfrm>
        </p:grpSpPr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D7847076-1AF1-5DB4-AF84-6348132DC90E}"/>
                </a:ext>
              </a:extLst>
            </p:cNvPr>
            <p:cNvCxnSpPr/>
            <p:nvPr/>
          </p:nvCxnSpPr>
          <p:spPr>
            <a:xfrm>
              <a:off x="6851218" y="4213368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A484D1A9-3352-0AD7-8F20-6E81CA07E6AD}"/>
                </a:ext>
              </a:extLst>
            </p:cNvPr>
            <p:cNvCxnSpPr/>
            <p:nvPr/>
          </p:nvCxnSpPr>
          <p:spPr>
            <a:xfrm>
              <a:off x="6440115" y="4732233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4B97E260-86EF-E812-1F1A-4B2993D514B8}"/>
                </a:ext>
              </a:extLst>
            </p:cNvPr>
            <p:cNvCxnSpPr/>
            <p:nvPr/>
          </p:nvCxnSpPr>
          <p:spPr>
            <a:xfrm>
              <a:off x="7853597" y="4822829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844FB1BE-4187-75B6-C22B-1C0A44FEBA6E}"/>
                </a:ext>
              </a:extLst>
            </p:cNvPr>
            <p:cNvCxnSpPr/>
            <p:nvPr/>
          </p:nvCxnSpPr>
          <p:spPr>
            <a:xfrm>
              <a:off x="5704357" y="465412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5C149CE2-C988-805E-AC0B-C5DBCFBBAE71}"/>
                </a:ext>
              </a:extLst>
            </p:cNvPr>
            <p:cNvCxnSpPr/>
            <p:nvPr/>
          </p:nvCxnSpPr>
          <p:spPr>
            <a:xfrm>
              <a:off x="5710610" y="45211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08E2A279-7290-2D35-C5C8-F7F410FB8258}"/>
                </a:ext>
              </a:extLst>
            </p:cNvPr>
            <p:cNvCxnSpPr/>
            <p:nvPr/>
          </p:nvCxnSpPr>
          <p:spPr>
            <a:xfrm>
              <a:off x="6319093" y="44061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AEA035F0-9772-936C-E2FB-7B69DB5C3852}"/>
                </a:ext>
              </a:extLst>
            </p:cNvPr>
            <p:cNvCxnSpPr/>
            <p:nvPr/>
          </p:nvCxnSpPr>
          <p:spPr>
            <a:xfrm>
              <a:off x="6552390" y="428686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D25D0094-2933-F6F8-FE2C-F3BF59446DBB}"/>
                </a:ext>
              </a:extLst>
            </p:cNvPr>
            <p:cNvCxnSpPr/>
            <p:nvPr/>
          </p:nvCxnSpPr>
          <p:spPr>
            <a:xfrm>
              <a:off x="6095271" y="428885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DE0298E1-0F5B-BDDD-6538-9BA6D945C0EA}"/>
                </a:ext>
              </a:extLst>
            </p:cNvPr>
            <p:cNvCxnSpPr/>
            <p:nvPr/>
          </p:nvCxnSpPr>
          <p:spPr>
            <a:xfrm>
              <a:off x="6863543" y="40471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EF7CE4B-A5E8-EDD6-F90C-C1157E6E4FEF}"/>
                </a:ext>
              </a:extLst>
            </p:cNvPr>
            <p:cNvCxnSpPr/>
            <p:nvPr/>
          </p:nvCxnSpPr>
          <p:spPr>
            <a:xfrm>
              <a:off x="5759418" y="488527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0D25F234-6C65-ABB4-F205-6E5E65A2D623}"/>
                </a:ext>
              </a:extLst>
            </p:cNvPr>
            <p:cNvCxnSpPr/>
            <p:nvPr/>
          </p:nvCxnSpPr>
          <p:spPr>
            <a:xfrm>
              <a:off x="6558643" y="41539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BC96B15D-C989-3F73-AECF-843DCC311315}"/>
                </a:ext>
              </a:extLst>
            </p:cNvPr>
            <p:cNvCxnSpPr/>
            <p:nvPr/>
          </p:nvCxnSpPr>
          <p:spPr>
            <a:xfrm>
              <a:off x="6214860" y="467279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C64C8C8F-76EA-9CE9-9751-5E8518DADC57}"/>
                </a:ext>
              </a:extLst>
            </p:cNvPr>
            <p:cNvCxnSpPr/>
            <p:nvPr/>
          </p:nvCxnSpPr>
          <p:spPr>
            <a:xfrm>
              <a:off x="6947207" y="478215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22BE7F9D-652E-9415-9A8E-6C138BEF6B35}"/>
                </a:ext>
              </a:extLst>
            </p:cNvPr>
            <p:cNvCxnSpPr/>
            <p:nvPr/>
          </p:nvCxnSpPr>
          <p:spPr>
            <a:xfrm>
              <a:off x="6776393" y="440190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05F5C22E-9561-222F-15C5-E3D9A4660606}"/>
                </a:ext>
              </a:extLst>
            </p:cNvPr>
            <p:cNvCxnSpPr/>
            <p:nvPr/>
          </p:nvCxnSpPr>
          <p:spPr>
            <a:xfrm>
              <a:off x="6928843" y="42687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6FFC7202-848F-DDC2-79A6-2969DA505AE3}"/>
                </a:ext>
              </a:extLst>
            </p:cNvPr>
            <p:cNvCxnSpPr/>
            <p:nvPr/>
          </p:nvCxnSpPr>
          <p:spPr>
            <a:xfrm>
              <a:off x="5946774" y="44325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21F6AF7C-DDED-4CF8-735E-55E9EA1C1161}"/>
                </a:ext>
              </a:extLst>
            </p:cNvPr>
            <p:cNvCxnSpPr/>
            <p:nvPr/>
          </p:nvCxnSpPr>
          <p:spPr>
            <a:xfrm>
              <a:off x="5946774" y="47770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A91FF818-F7BF-A4EF-D8B7-916540BFD7A2}"/>
                </a:ext>
              </a:extLst>
            </p:cNvPr>
            <p:cNvCxnSpPr/>
            <p:nvPr/>
          </p:nvCxnSpPr>
          <p:spPr>
            <a:xfrm>
              <a:off x="6552621" y="476798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36E3E8F5-028F-8461-2848-A34DEFA0DA3E}"/>
                </a:ext>
              </a:extLst>
            </p:cNvPr>
            <p:cNvCxnSpPr/>
            <p:nvPr/>
          </p:nvCxnSpPr>
          <p:spPr>
            <a:xfrm>
              <a:off x="6785918" y="466570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F73A664E-22BD-6E19-076D-E349FCF32AA1}"/>
                </a:ext>
              </a:extLst>
            </p:cNvPr>
            <p:cNvCxnSpPr/>
            <p:nvPr/>
          </p:nvCxnSpPr>
          <p:spPr>
            <a:xfrm>
              <a:off x="6400171" y="454332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DA1DAB5B-C9C1-D5B9-8859-8130B75E69B0}"/>
                </a:ext>
              </a:extLst>
            </p:cNvPr>
            <p:cNvCxnSpPr/>
            <p:nvPr/>
          </p:nvCxnSpPr>
          <p:spPr>
            <a:xfrm>
              <a:off x="6792171" y="453276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B89304D2-BFEC-1BF4-7AB3-68010A7705C9}"/>
                </a:ext>
              </a:extLst>
            </p:cNvPr>
            <p:cNvCxnSpPr/>
            <p:nvPr/>
          </p:nvCxnSpPr>
          <p:spPr>
            <a:xfrm>
              <a:off x="5806664" y="510764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2F4DEEE5-A862-7A93-0C13-448CDAA9643C}"/>
                </a:ext>
              </a:extLst>
            </p:cNvPr>
            <p:cNvCxnSpPr/>
            <p:nvPr/>
          </p:nvCxnSpPr>
          <p:spPr>
            <a:xfrm>
              <a:off x="5809481" y="531419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A1950491-9201-A3B6-17C0-D8952371D142}"/>
                </a:ext>
              </a:extLst>
            </p:cNvPr>
            <p:cNvCxnSpPr/>
            <p:nvPr/>
          </p:nvCxnSpPr>
          <p:spPr>
            <a:xfrm>
              <a:off x="6334250" y="510564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D7AD8C1-0F8A-55AC-06BA-F829AABD4A1C}"/>
                </a:ext>
              </a:extLst>
            </p:cNvPr>
            <p:cNvCxnSpPr/>
            <p:nvPr/>
          </p:nvCxnSpPr>
          <p:spPr>
            <a:xfrm>
              <a:off x="6486700" y="54475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F00BD0A-3634-4AA5-38CC-0D2D70C3EC84}"/>
                </a:ext>
              </a:extLst>
            </p:cNvPr>
            <p:cNvCxnSpPr/>
            <p:nvPr/>
          </p:nvCxnSpPr>
          <p:spPr>
            <a:xfrm>
              <a:off x="6719997" y="534531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6DA9D501-69BD-BB11-2CD3-188B4C5CF463}"/>
                </a:ext>
              </a:extLst>
            </p:cNvPr>
            <p:cNvCxnSpPr/>
            <p:nvPr/>
          </p:nvCxnSpPr>
          <p:spPr>
            <a:xfrm>
              <a:off x="6334250" y="522293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3361A077-CC45-FB8F-D750-ED750AF493EA}"/>
                </a:ext>
              </a:extLst>
            </p:cNvPr>
            <p:cNvCxnSpPr/>
            <p:nvPr/>
          </p:nvCxnSpPr>
          <p:spPr>
            <a:xfrm>
              <a:off x="6262878" y="534731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B8D7443C-5884-4849-72D5-F7BA45475779}"/>
                </a:ext>
              </a:extLst>
            </p:cNvPr>
            <p:cNvCxnSpPr/>
            <p:nvPr/>
          </p:nvCxnSpPr>
          <p:spPr>
            <a:xfrm>
              <a:off x="6125784" y="49885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4DA37BE5-7FE1-9EA7-723D-C67623D010BF}"/>
                </a:ext>
              </a:extLst>
            </p:cNvPr>
            <p:cNvCxnSpPr/>
            <p:nvPr/>
          </p:nvCxnSpPr>
          <p:spPr>
            <a:xfrm>
              <a:off x="7031150" y="510564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83AA617-1DB2-4AC3-3D76-454A19DA3C8E}"/>
                </a:ext>
              </a:extLst>
            </p:cNvPr>
            <p:cNvCxnSpPr/>
            <p:nvPr/>
          </p:nvCxnSpPr>
          <p:spPr>
            <a:xfrm>
              <a:off x="6648625" y="502571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027677DB-AF5D-2F80-657E-CFFB1B3B278E}"/>
                </a:ext>
              </a:extLst>
            </p:cNvPr>
            <p:cNvCxnSpPr/>
            <p:nvPr/>
          </p:nvCxnSpPr>
          <p:spPr>
            <a:xfrm>
              <a:off x="6382467" y="486619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16789C18-EC63-0A2F-BD94-2E637EB26FD3}"/>
                </a:ext>
              </a:extLst>
            </p:cNvPr>
            <p:cNvCxnSpPr/>
            <p:nvPr/>
          </p:nvCxnSpPr>
          <p:spPr>
            <a:xfrm>
              <a:off x="6726250" y="521237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48BA9172-2C5E-9519-1F1E-37FF7E2502EE}"/>
                </a:ext>
              </a:extLst>
            </p:cNvPr>
            <p:cNvCxnSpPr/>
            <p:nvPr/>
          </p:nvCxnSpPr>
          <p:spPr>
            <a:xfrm>
              <a:off x="6944000" y="544331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78CFCF76-289A-1D39-AB56-1CA4854E8382}"/>
                </a:ext>
              </a:extLst>
            </p:cNvPr>
            <p:cNvCxnSpPr/>
            <p:nvPr/>
          </p:nvCxnSpPr>
          <p:spPr>
            <a:xfrm>
              <a:off x="7096450" y="532721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B61F426F-B892-EEF8-45C2-9817F76CD98C}"/>
                </a:ext>
              </a:extLst>
            </p:cNvPr>
            <p:cNvCxnSpPr/>
            <p:nvPr/>
          </p:nvCxnSpPr>
          <p:spPr>
            <a:xfrm>
              <a:off x="6114381" y="547393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C50C5B5A-204C-882F-0B7A-C79E1AD6BAD3}"/>
                </a:ext>
              </a:extLst>
            </p:cNvPr>
            <p:cNvCxnSpPr/>
            <p:nvPr/>
          </p:nvCxnSpPr>
          <p:spPr>
            <a:xfrm>
              <a:off x="6953525" y="568154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5F12DF0-FA1B-A5F1-05EB-090BFC6A853E}"/>
                </a:ext>
              </a:extLst>
            </p:cNvPr>
            <p:cNvCxnSpPr/>
            <p:nvPr/>
          </p:nvCxnSpPr>
          <p:spPr>
            <a:xfrm>
              <a:off x="6567778" y="55591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43655CF2-20AC-1BA7-7C21-90B7754FC9D6}"/>
                </a:ext>
              </a:extLst>
            </p:cNvPr>
            <p:cNvCxnSpPr/>
            <p:nvPr/>
          </p:nvCxnSpPr>
          <p:spPr>
            <a:xfrm>
              <a:off x="6959778" y="554860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4FFE8ED7-6F29-CE25-C7B3-4FF55D4B9201}"/>
                </a:ext>
              </a:extLst>
            </p:cNvPr>
            <p:cNvCxnSpPr/>
            <p:nvPr/>
          </p:nvCxnSpPr>
          <p:spPr>
            <a:xfrm>
              <a:off x="7488812" y="414090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64F074D-19C4-B349-D32D-441CCD8FC9D1}"/>
                </a:ext>
              </a:extLst>
            </p:cNvPr>
            <p:cNvCxnSpPr/>
            <p:nvPr/>
          </p:nvCxnSpPr>
          <p:spPr>
            <a:xfrm>
              <a:off x="7641262" y="45254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C7FF58D-A2C2-E498-063C-05D5E0D7E15B}"/>
                </a:ext>
              </a:extLst>
            </p:cNvPr>
            <p:cNvCxnSpPr/>
            <p:nvPr/>
          </p:nvCxnSpPr>
          <p:spPr>
            <a:xfrm>
              <a:off x="7874559" y="439762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A67FFB91-ED0E-362B-9C96-B2B226B61F6F}"/>
                </a:ext>
              </a:extLst>
            </p:cNvPr>
            <p:cNvCxnSpPr/>
            <p:nvPr/>
          </p:nvCxnSpPr>
          <p:spPr>
            <a:xfrm>
              <a:off x="7488812" y="42581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8F576266-5C24-FC18-0DF6-98EFF2B2B54E}"/>
                </a:ext>
              </a:extLst>
            </p:cNvPr>
            <p:cNvCxnSpPr/>
            <p:nvPr/>
          </p:nvCxnSpPr>
          <p:spPr>
            <a:xfrm>
              <a:off x="7417440" y="439961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0EDEF823-F159-55BF-2B13-95BF9F744A0C}"/>
                </a:ext>
              </a:extLst>
            </p:cNvPr>
            <p:cNvCxnSpPr/>
            <p:nvPr/>
          </p:nvCxnSpPr>
          <p:spPr>
            <a:xfrm>
              <a:off x="7776579" y="403863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81A44218-C80B-994A-96DD-1EC6D699FCDE}"/>
                </a:ext>
              </a:extLst>
            </p:cNvPr>
            <p:cNvCxnSpPr/>
            <p:nvPr/>
          </p:nvCxnSpPr>
          <p:spPr>
            <a:xfrm>
              <a:off x="8185712" y="414090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8C05018C-BB52-A2F1-F74E-52BAB06EB608}"/>
                </a:ext>
              </a:extLst>
            </p:cNvPr>
            <p:cNvCxnSpPr/>
            <p:nvPr/>
          </p:nvCxnSpPr>
          <p:spPr>
            <a:xfrm>
              <a:off x="7910885" y="41539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2E7BF206-99EA-91E0-4911-35DDBBF0F4C3}"/>
                </a:ext>
              </a:extLst>
            </p:cNvPr>
            <p:cNvCxnSpPr/>
            <p:nvPr/>
          </p:nvCxnSpPr>
          <p:spPr>
            <a:xfrm>
              <a:off x="7880812" y="424763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95B4B3FD-78FD-A8F7-204B-8AF61A5EA477}"/>
                </a:ext>
              </a:extLst>
            </p:cNvPr>
            <p:cNvCxnSpPr/>
            <p:nvPr/>
          </p:nvCxnSpPr>
          <p:spPr>
            <a:xfrm>
              <a:off x="7537029" y="476650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F09D7B97-EB6F-6054-735E-F996735B2A2A}"/>
                </a:ext>
              </a:extLst>
            </p:cNvPr>
            <p:cNvCxnSpPr/>
            <p:nvPr/>
          </p:nvCxnSpPr>
          <p:spPr>
            <a:xfrm>
              <a:off x="8484309" y="464356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BC066308-C460-F9EF-F80E-1161F8BEFA84}"/>
                </a:ext>
              </a:extLst>
            </p:cNvPr>
            <p:cNvCxnSpPr/>
            <p:nvPr/>
          </p:nvCxnSpPr>
          <p:spPr>
            <a:xfrm>
              <a:off x="8098562" y="45211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34E43F51-64AE-2DE3-8FEC-2218E217CBB2}"/>
                </a:ext>
              </a:extLst>
            </p:cNvPr>
            <p:cNvCxnSpPr/>
            <p:nvPr/>
          </p:nvCxnSpPr>
          <p:spPr>
            <a:xfrm>
              <a:off x="8307583" y="43783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129ECD6B-C36B-A25D-C7B0-66AB36085B95}"/>
                </a:ext>
              </a:extLst>
            </p:cNvPr>
            <p:cNvCxnSpPr/>
            <p:nvPr/>
          </p:nvCxnSpPr>
          <p:spPr>
            <a:xfrm>
              <a:off x="8421826" y="424518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7130DF74-2544-6D6E-04CC-251D655159E1}"/>
                </a:ext>
              </a:extLst>
            </p:cNvPr>
            <p:cNvCxnSpPr/>
            <p:nvPr/>
          </p:nvCxnSpPr>
          <p:spPr>
            <a:xfrm>
              <a:off x="8490562" y="451062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3849049C-6A85-0705-B52A-F1D9CF4CBAC4}"/>
                </a:ext>
              </a:extLst>
            </p:cNvPr>
            <p:cNvCxnSpPr/>
            <p:nvPr/>
          </p:nvCxnSpPr>
          <p:spPr>
            <a:xfrm>
              <a:off x="7874790" y="48616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3ABF3E9D-D6C5-BA04-A2EC-B5EFC9E07C20}"/>
                </a:ext>
              </a:extLst>
            </p:cNvPr>
            <p:cNvCxnSpPr/>
            <p:nvPr/>
          </p:nvCxnSpPr>
          <p:spPr>
            <a:xfrm>
              <a:off x="8108087" y="475941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1A1F29F2-0AB0-1B09-4097-122D5C2AF6EC}"/>
                </a:ext>
              </a:extLst>
            </p:cNvPr>
            <p:cNvCxnSpPr/>
            <p:nvPr/>
          </p:nvCxnSpPr>
          <p:spPr>
            <a:xfrm>
              <a:off x="7722340" y="463704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F1A24312-77BE-87DA-2857-425504FED59B}"/>
                </a:ext>
              </a:extLst>
            </p:cNvPr>
            <p:cNvCxnSpPr/>
            <p:nvPr/>
          </p:nvCxnSpPr>
          <p:spPr>
            <a:xfrm>
              <a:off x="7267264" y="488527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D01ED57C-8B7C-71D7-E671-AB6E533A8638}"/>
                </a:ext>
              </a:extLst>
            </p:cNvPr>
            <p:cNvCxnSpPr/>
            <p:nvPr/>
          </p:nvCxnSpPr>
          <p:spPr>
            <a:xfrm>
              <a:off x="6888899" y="409383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E2388BE7-4730-210E-7CE5-0FC99331EC2D}"/>
                </a:ext>
              </a:extLst>
            </p:cNvPr>
            <p:cNvCxnSpPr/>
            <p:nvPr/>
          </p:nvCxnSpPr>
          <p:spPr>
            <a:xfrm>
              <a:off x="7041349" y="445282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3719E4E8-1AC6-9C47-69C1-F0AC07E8165B}"/>
                </a:ext>
              </a:extLst>
            </p:cNvPr>
            <p:cNvCxnSpPr/>
            <p:nvPr/>
          </p:nvCxnSpPr>
          <p:spPr>
            <a:xfrm>
              <a:off x="7274646" y="433350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1674464E-4F26-F735-D3D6-297FC333DC97}"/>
                </a:ext>
              </a:extLst>
            </p:cNvPr>
            <p:cNvCxnSpPr/>
            <p:nvPr/>
          </p:nvCxnSpPr>
          <p:spPr>
            <a:xfrm>
              <a:off x="7432597" y="50950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048BB338-0476-18F4-87C8-8F1D3E452023}"/>
                </a:ext>
              </a:extLst>
            </p:cNvPr>
            <p:cNvCxnSpPr/>
            <p:nvPr/>
          </p:nvCxnSpPr>
          <p:spPr>
            <a:xfrm>
              <a:off x="6817527" y="433549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05513ECB-55E2-665F-0A6F-D8A2E3AA92CB}"/>
                </a:ext>
              </a:extLst>
            </p:cNvPr>
            <p:cNvCxnSpPr/>
            <p:nvPr/>
          </p:nvCxnSpPr>
          <p:spPr>
            <a:xfrm>
              <a:off x="7585799" y="409383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6E417BC9-361A-B2F4-3E6B-14277149C9DD}"/>
                </a:ext>
              </a:extLst>
            </p:cNvPr>
            <p:cNvCxnSpPr/>
            <p:nvPr/>
          </p:nvCxnSpPr>
          <p:spPr>
            <a:xfrm>
              <a:off x="7203274" y="401390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955D929A-3DCD-9816-F942-CC7FCE426E36}"/>
                </a:ext>
              </a:extLst>
            </p:cNvPr>
            <p:cNvCxnSpPr/>
            <p:nvPr/>
          </p:nvCxnSpPr>
          <p:spPr>
            <a:xfrm>
              <a:off x="8539370" y="487471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4E673E75-89F3-89D4-54E0-FC143E49274D}"/>
                </a:ext>
              </a:extLst>
            </p:cNvPr>
            <p:cNvCxnSpPr/>
            <p:nvPr/>
          </p:nvCxnSpPr>
          <p:spPr>
            <a:xfrm>
              <a:off x="7280899" y="420056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A7EC4D1E-08A0-7F61-FEEE-13638BD805A0}"/>
                </a:ext>
              </a:extLst>
            </p:cNvPr>
            <p:cNvCxnSpPr/>
            <p:nvPr/>
          </p:nvCxnSpPr>
          <p:spPr>
            <a:xfrm>
              <a:off x="7498649" y="444854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93593643-7E5C-F7E5-1A06-A17C02E9B625}"/>
                </a:ext>
              </a:extLst>
            </p:cNvPr>
            <p:cNvCxnSpPr/>
            <p:nvPr/>
          </p:nvCxnSpPr>
          <p:spPr>
            <a:xfrm>
              <a:off x="7651099" y="43153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CE80ED61-3374-FA85-C6DA-A9ABE8405DBD}"/>
                </a:ext>
              </a:extLst>
            </p:cNvPr>
            <p:cNvCxnSpPr/>
            <p:nvPr/>
          </p:nvCxnSpPr>
          <p:spPr>
            <a:xfrm>
              <a:off x="8726726" y="44219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F79A44D8-80BC-D7C6-7DBC-0CC2761BFE76}"/>
                </a:ext>
              </a:extLst>
            </p:cNvPr>
            <p:cNvCxnSpPr/>
            <p:nvPr/>
          </p:nvCxnSpPr>
          <p:spPr>
            <a:xfrm>
              <a:off x="8726726" y="476650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272AB11-6CF0-BBCF-F235-9173101AEA7D}"/>
                </a:ext>
              </a:extLst>
            </p:cNvPr>
            <p:cNvCxnSpPr/>
            <p:nvPr/>
          </p:nvCxnSpPr>
          <p:spPr>
            <a:xfrm>
              <a:off x="7656419" y="519936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2750C645-7C2F-CD91-3BF0-58333FDFB778}"/>
                </a:ext>
              </a:extLst>
            </p:cNvPr>
            <p:cNvCxnSpPr/>
            <p:nvPr/>
          </p:nvCxnSpPr>
          <p:spPr>
            <a:xfrm>
              <a:off x="7808869" y="554130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85F1DCD6-176A-4E8B-0676-58EECA63CEDF}"/>
                </a:ext>
              </a:extLst>
            </p:cNvPr>
            <p:cNvCxnSpPr/>
            <p:nvPr/>
          </p:nvCxnSpPr>
          <p:spPr>
            <a:xfrm>
              <a:off x="8042166" y="543903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CABCAE9D-335D-28A6-B1A8-A24A59A07F21}"/>
                </a:ext>
              </a:extLst>
            </p:cNvPr>
            <p:cNvCxnSpPr/>
            <p:nvPr/>
          </p:nvCxnSpPr>
          <p:spPr>
            <a:xfrm>
              <a:off x="7656419" y="531665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14984284-FD5D-EDDF-35A8-03F7270C3994}"/>
                </a:ext>
              </a:extLst>
            </p:cNvPr>
            <p:cNvCxnSpPr/>
            <p:nvPr/>
          </p:nvCxnSpPr>
          <p:spPr>
            <a:xfrm>
              <a:off x="7585047" y="54410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675F7C2C-126A-A481-4B0E-F031140DB35D}"/>
                </a:ext>
              </a:extLst>
            </p:cNvPr>
            <p:cNvCxnSpPr/>
            <p:nvPr/>
          </p:nvCxnSpPr>
          <p:spPr>
            <a:xfrm>
              <a:off x="7944186" y="509708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0ABB125F-7871-90FB-4BE3-994DD28862F0}"/>
                </a:ext>
              </a:extLst>
            </p:cNvPr>
            <p:cNvCxnSpPr/>
            <p:nvPr/>
          </p:nvCxnSpPr>
          <p:spPr>
            <a:xfrm>
              <a:off x="8353319" y="519936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EB46547D-2430-F3D8-D5C3-444565AF31CE}"/>
                </a:ext>
              </a:extLst>
            </p:cNvPr>
            <p:cNvCxnSpPr/>
            <p:nvPr/>
          </p:nvCxnSpPr>
          <p:spPr>
            <a:xfrm>
              <a:off x="8586616" y="509708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AFAB810-59AA-C5DD-5F6A-EC11DD17E579}"/>
                </a:ext>
              </a:extLst>
            </p:cNvPr>
            <p:cNvCxnSpPr/>
            <p:nvPr/>
          </p:nvCxnSpPr>
          <p:spPr>
            <a:xfrm>
              <a:off x="8200869" y="49747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3508B9E0-8023-9EFB-FED1-B1D0C358CB29}"/>
                </a:ext>
              </a:extLst>
            </p:cNvPr>
            <p:cNvCxnSpPr/>
            <p:nvPr/>
          </p:nvCxnSpPr>
          <p:spPr>
            <a:xfrm>
              <a:off x="8048419" y="530609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BEAC9C9-E5CA-B4ED-C2CC-1ED9CBA1AF6A}"/>
                </a:ext>
              </a:extLst>
            </p:cNvPr>
            <p:cNvCxnSpPr/>
            <p:nvPr/>
          </p:nvCxnSpPr>
          <p:spPr>
            <a:xfrm>
              <a:off x="8266169" y="553702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1A3D3792-2017-1BE8-1C26-1474621B4A37}"/>
                </a:ext>
              </a:extLst>
            </p:cNvPr>
            <p:cNvCxnSpPr/>
            <p:nvPr/>
          </p:nvCxnSpPr>
          <p:spPr>
            <a:xfrm>
              <a:off x="8475190" y="541973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07E735B9-9AAE-96D7-3990-A00BA7B5140B}"/>
                </a:ext>
              </a:extLst>
            </p:cNvPr>
            <p:cNvCxnSpPr/>
            <p:nvPr/>
          </p:nvCxnSpPr>
          <p:spPr>
            <a:xfrm>
              <a:off x="8589433" y="530363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7373D68D-DA34-66D6-B4B4-809E41AE7B37}"/>
                </a:ext>
              </a:extLst>
            </p:cNvPr>
            <p:cNvCxnSpPr/>
            <p:nvPr/>
          </p:nvCxnSpPr>
          <p:spPr>
            <a:xfrm>
              <a:off x="7889947" y="565287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BC371660-4EDE-2385-A429-856935C058D4}"/>
                </a:ext>
              </a:extLst>
            </p:cNvPr>
            <p:cNvCxnSpPr/>
            <p:nvPr/>
          </p:nvCxnSpPr>
          <p:spPr>
            <a:xfrm>
              <a:off x="7401350" y="55591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447C713F-E034-8C9B-C81C-B09CD8305788}"/>
                </a:ext>
              </a:extLst>
            </p:cNvPr>
            <p:cNvCxnSpPr/>
            <p:nvPr/>
          </p:nvCxnSpPr>
          <p:spPr>
            <a:xfrm>
              <a:off x="8905736" y="497801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9120A33A-162E-C1A5-FBB0-52220E4FB744}"/>
                </a:ext>
              </a:extLst>
            </p:cNvPr>
            <p:cNvCxnSpPr/>
            <p:nvPr/>
          </p:nvCxnSpPr>
          <p:spPr>
            <a:xfrm>
              <a:off x="7659257" y="49747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4EC0562B-73FC-FCD3-368C-26B618E226F3}"/>
                </a:ext>
              </a:extLst>
            </p:cNvPr>
            <p:cNvCxnSpPr/>
            <p:nvPr/>
          </p:nvCxnSpPr>
          <p:spPr>
            <a:xfrm>
              <a:off x="7189035" y="455787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AD311F43-C475-96E9-3958-1E7919BAF74B}"/>
                </a:ext>
              </a:extLst>
            </p:cNvPr>
            <p:cNvCxnSpPr/>
            <p:nvPr/>
          </p:nvCxnSpPr>
          <p:spPr>
            <a:xfrm>
              <a:off x="5967037" y="460565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0EB6B9DD-955E-191C-6099-19EFC2EBBB50}"/>
                </a:ext>
              </a:extLst>
            </p:cNvPr>
            <p:cNvCxnSpPr/>
            <p:nvPr/>
          </p:nvCxnSpPr>
          <p:spPr>
            <a:xfrm>
              <a:off x="6200334" y="448633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0BD5B818-C1D9-2595-6C99-BACFF1091F98}"/>
                </a:ext>
              </a:extLst>
            </p:cNvPr>
            <p:cNvCxnSpPr/>
            <p:nvPr/>
          </p:nvCxnSpPr>
          <p:spPr>
            <a:xfrm>
              <a:off x="5743215" y="44883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E26743B9-9B5E-281D-24E8-5914F1A4DB3A}"/>
                </a:ext>
              </a:extLst>
            </p:cNvPr>
            <p:cNvCxnSpPr/>
            <p:nvPr/>
          </p:nvCxnSpPr>
          <p:spPr>
            <a:xfrm>
              <a:off x="6511487" y="424666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77598973-D5EA-CC13-EEFD-888227156954}"/>
                </a:ext>
              </a:extLst>
            </p:cNvPr>
            <p:cNvCxnSpPr/>
            <p:nvPr/>
          </p:nvCxnSpPr>
          <p:spPr>
            <a:xfrm>
              <a:off x="6206587" y="435339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206C3645-0DB0-5064-5C38-41AD555DE72F}"/>
                </a:ext>
              </a:extLst>
            </p:cNvPr>
            <p:cNvCxnSpPr/>
            <p:nvPr/>
          </p:nvCxnSpPr>
          <p:spPr>
            <a:xfrm>
              <a:off x="5862804" y="48722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0013CDDD-2971-FE68-7CF1-E3B859806A93}"/>
                </a:ext>
              </a:extLst>
            </p:cNvPr>
            <p:cNvCxnSpPr/>
            <p:nvPr/>
          </p:nvCxnSpPr>
          <p:spPr>
            <a:xfrm>
              <a:off x="6595151" y="498162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827FD5DC-2FA7-1DA4-B0C3-679EEF5B2E53}"/>
                </a:ext>
              </a:extLst>
            </p:cNvPr>
            <p:cNvCxnSpPr/>
            <p:nvPr/>
          </p:nvCxnSpPr>
          <p:spPr>
            <a:xfrm>
              <a:off x="6424337" y="460137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07EB28B6-A751-9AF8-D33F-74744F0FFDA2}"/>
                </a:ext>
              </a:extLst>
            </p:cNvPr>
            <p:cNvCxnSpPr/>
            <p:nvPr/>
          </p:nvCxnSpPr>
          <p:spPr>
            <a:xfrm>
              <a:off x="6576787" y="446822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1686872C-FCE9-B00F-3A6C-4D6378321CF3}"/>
                </a:ext>
              </a:extLst>
            </p:cNvPr>
            <p:cNvCxnSpPr/>
            <p:nvPr/>
          </p:nvCxnSpPr>
          <p:spPr>
            <a:xfrm>
              <a:off x="6200565" y="496745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EFC8FC5E-9AF4-C720-58ED-58EB847BC25F}"/>
                </a:ext>
              </a:extLst>
            </p:cNvPr>
            <p:cNvCxnSpPr/>
            <p:nvPr/>
          </p:nvCxnSpPr>
          <p:spPr>
            <a:xfrm>
              <a:off x="6433862" y="486517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98F6E6D3-6A86-0D1F-B70A-D131E86D80FF}"/>
                </a:ext>
              </a:extLst>
            </p:cNvPr>
            <p:cNvCxnSpPr/>
            <p:nvPr/>
          </p:nvCxnSpPr>
          <p:spPr>
            <a:xfrm>
              <a:off x="6048115" y="474279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4FD441DF-5D12-D154-E850-7400C167B85F}"/>
                </a:ext>
              </a:extLst>
            </p:cNvPr>
            <p:cNvCxnSpPr/>
            <p:nvPr/>
          </p:nvCxnSpPr>
          <p:spPr>
            <a:xfrm>
              <a:off x="5982194" y="530511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2E21AE82-164F-EB39-78F0-EC5C77CF6020}"/>
                </a:ext>
              </a:extLst>
            </p:cNvPr>
            <p:cNvCxnSpPr/>
            <p:nvPr/>
          </p:nvCxnSpPr>
          <p:spPr>
            <a:xfrm>
              <a:off x="6367941" y="554478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E9A43CE8-17C6-548C-3DBD-7EA6C543902C}"/>
                </a:ext>
              </a:extLst>
            </p:cNvPr>
            <p:cNvCxnSpPr/>
            <p:nvPr/>
          </p:nvCxnSpPr>
          <p:spPr>
            <a:xfrm>
              <a:off x="5773728" y="518803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895481DB-B027-C9F3-1B19-683064545A0F}"/>
                </a:ext>
              </a:extLst>
            </p:cNvPr>
            <p:cNvCxnSpPr/>
            <p:nvPr/>
          </p:nvCxnSpPr>
          <p:spPr>
            <a:xfrm>
              <a:off x="6679094" y="530511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605372D7-9A1E-38C6-3680-7749FA368C1A}"/>
                </a:ext>
              </a:extLst>
            </p:cNvPr>
            <p:cNvCxnSpPr/>
            <p:nvPr/>
          </p:nvCxnSpPr>
          <p:spPr>
            <a:xfrm>
              <a:off x="6296569" y="522518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79F2A14D-4A2D-AC68-7D69-9045524FD2B2}"/>
                </a:ext>
              </a:extLst>
            </p:cNvPr>
            <p:cNvCxnSpPr/>
            <p:nvPr/>
          </p:nvCxnSpPr>
          <p:spPr>
            <a:xfrm>
              <a:off x="6030411" y="50656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829A9EBB-4D39-5C61-9595-707C1FAC74B3}"/>
                </a:ext>
              </a:extLst>
            </p:cNvPr>
            <p:cNvCxnSpPr/>
            <p:nvPr/>
          </p:nvCxnSpPr>
          <p:spPr>
            <a:xfrm>
              <a:off x="6374194" y="541184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9F8001BF-7BE8-2586-8A18-93300B3CCB94}"/>
                </a:ext>
              </a:extLst>
            </p:cNvPr>
            <p:cNvCxnSpPr/>
            <p:nvPr/>
          </p:nvCxnSpPr>
          <p:spPr>
            <a:xfrm>
              <a:off x="6591944" y="564278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6E10321B-A3E3-7D27-F71C-ED63A242E872}"/>
                </a:ext>
              </a:extLst>
            </p:cNvPr>
            <p:cNvCxnSpPr/>
            <p:nvPr/>
          </p:nvCxnSpPr>
          <p:spPr>
            <a:xfrm>
              <a:off x="6744394" y="552667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53893D55-7826-B863-EB29-63A9D5C710F4}"/>
                </a:ext>
              </a:extLst>
            </p:cNvPr>
            <p:cNvCxnSpPr/>
            <p:nvPr/>
          </p:nvCxnSpPr>
          <p:spPr>
            <a:xfrm>
              <a:off x="7136756" y="434037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5F62F6F4-9BD7-E98D-0983-063AC30E6196}"/>
                </a:ext>
              </a:extLst>
            </p:cNvPr>
            <p:cNvCxnSpPr/>
            <p:nvPr/>
          </p:nvCxnSpPr>
          <p:spPr>
            <a:xfrm>
              <a:off x="7289206" y="472493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C32FAB64-1BAB-1D2D-272E-DEBA5CBE631D}"/>
                </a:ext>
              </a:extLst>
            </p:cNvPr>
            <p:cNvCxnSpPr/>
            <p:nvPr/>
          </p:nvCxnSpPr>
          <p:spPr>
            <a:xfrm>
              <a:off x="7522503" y="45970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41BC6031-448B-5472-AFB0-DD40FB89326F}"/>
                </a:ext>
              </a:extLst>
            </p:cNvPr>
            <p:cNvCxnSpPr/>
            <p:nvPr/>
          </p:nvCxnSpPr>
          <p:spPr>
            <a:xfrm>
              <a:off x="7136756" y="445766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E05CCB68-5F48-106F-4641-8D7E2CAD1D5B}"/>
                </a:ext>
              </a:extLst>
            </p:cNvPr>
            <p:cNvCxnSpPr/>
            <p:nvPr/>
          </p:nvCxnSpPr>
          <p:spPr>
            <a:xfrm>
              <a:off x="7065384" y="459908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41A55149-1DF9-7614-E787-AB81342F7AB8}"/>
                </a:ext>
              </a:extLst>
            </p:cNvPr>
            <p:cNvCxnSpPr/>
            <p:nvPr/>
          </p:nvCxnSpPr>
          <p:spPr>
            <a:xfrm>
              <a:off x="7856323" y="50254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6BF0151A-B6A2-2377-A585-70E9131D75EE}"/>
                </a:ext>
              </a:extLst>
            </p:cNvPr>
            <p:cNvCxnSpPr/>
            <p:nvPr/>
          </p:nvCxnSpPr>
          <p:spPr>
            <a:xfrm>
              <a:off x="7833656" y="434037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ACB464F5-BD47-4352-D60F-C67CBA0A7715}"/>
                </a:ext>
              </a:extLst>
            </p:cNvPr>
            <p:cNvCxnSpPr/>
            <p:nvPr/>
          </p:nvCxnSpPr>
          <p:spPr>
            <a:xfrm>
              <a:off x="8066953" y="42380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901D1032-DFBC-9969-2246-4733473CCC7F}"/>
                </a:ext>
              </a:extLst>
            </p:cNvPr>
            <p:cNvCxnSpPr/>
            <p:nvPr/>
          </p:nvCxnSpPr>
          <p:spPr>
            <a:xfrm>
              <a:off x="7681206" y="411571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C8540369-E198-23DF-A1A9-9CFD33FA0D4B}"/>
                </a:ext>
              </a:extLst>
            </p:cNvPr>
            <p:cNvCxnSpPr/>
            <p:nvPr/>
          </p:nvCxnSpPr>
          <p:spPr>
            <a:xfrm>
              <a:off x="7528756" y="44471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3DBA09AB-7886-37B0-C1EC-041CA7F4B641}"/>
                </a:ext>
              </a:extLst>
            </p:cNvPr>
            <p:cNvCxnSpPr/>
            <p:nvPr/>
          </p:nvCxnSpPr>
          <p:spPr>
            <a:xfrm>
              <a:off x="7184973" y="49659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CFCE3D79-6C0E-0F2F-BE6D-BF88E558D6A4}"/>
                </a:ext>
              </a:extLst>
            </p:cNvPr>
            <p:cNvCxnSpPr/>
            <p:nvPr/>
          </p:nvCxnSpPr>
          <p:spPr>
            <a:xfrm>
              <a:off x="8132253" y="484303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CE1A8229-BEA9-525A-F0A4-CD7B361F437A}"/>
                </a:ext>
              </a:extLst>
            </p:cNvPr>
            <p:cNvCxnSpPr/>
            <p:nvPr/>
          </p:nvCxnSpPr>
          <p:spPr>
            <a:xfrm>
              <a:off x="7746506" y="472065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26831386-2DD3-23E1-6BA0-05AECFF1393D}"/>
                </a:ext>
              </a:extLst>
            </p:cNvPr>
            <p:cNvCxnSpPr/>
            <p:nvPr/>
          </p:nvCxnSpPr>
          <p:spPr>
            <a:xfrm>
              <a:off x="7955527" y="457779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A7696C24-A707-7CEA-A1BA-2624E927EA19}"/>
                </a:ext>
              </a:extLst>
            </p:cNvPr>
            <p:cNvCxnSpPr/>
            <p:nvPr/>
          </p:nvCxnSpPr>
          <p:spPr>
            <a:xfrm>
              <a:off x="8069770" y="444464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2D8ABA99-CB5D-9357-4D42-BC2DF80CD57C}"/>
                </a:ext>
              </a:extLst>
            </p:cNvPr>
            <p:cNvCxnSpPr/>
            <p:nvPr/>
          </p:nvCxnSpPr>
          <p:spPr>
            <a:xfrm>
              <a:off x="8138506" y="471009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A02A1485-F13B-3B1D-BFB8-E7B9B3310EAF}"/>
                </a:ext>
              </a:extLst>
            </p:cNvPr>
            <p:cNvCxnSpPr/>
            <p:nvPr/>
          </p:nvCxnSpPr>
          <p:spPr>
            <a:xfrm>
              <a:off x="7522734" y="506116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DE686223-7298-053E-53D6-68D017E952B4}"/>
                </a:ext>
              </a:extLst>
            </p:cNvPr>
            <p:cNvCxnSpPr/>
            <p:nvPr/>
          </p:nvCxnSpPr>
          <p:spPr>
            <a:xfrm>
              <a:off x="7756031" y="495888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1E9D5670-1FAF-4851-A0C2-BC8B14B64BE4}"/>
                </a:ext>
              </a:extLst>
            </p:cNvPr>
            <p:cNvCxnSpPr/>
            <p:nvPr/>
          </p:nvCxnSpPr>
          <p:spPr>
            <a:xfrm>
              <a:off x="7370284" y="483650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0E936DF8-69BC-E83A-85F5-C1D8964FCDA5}"/>
                </a:ext>
              </a:extLst>
            </p:cNvPr>
            <p:cNvCxnSpPr/>
            <p:nvPr/>
          </p:nvCxnSpPr>
          <p:spPr>
            <a:xfrm>
              <a:off x="6915208" y="508474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F68D5F82-665B-A448-2757-7FF44ADA08E2}"/>
                </a:ext>
              </a:extLst>
            </p:cNvPr>
            <p:cNvCxnSpPr/>
            <p:nvPr/>
          </p:nvCxnSpPr>
          <p:spPr>
            <a:xfrm>
              <a:off x="8746989" y="459509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EC352251-9484-D0AA-07CF-9F685C9AB10E}"/>
                </a:ext>
              </a:extLst>
            </p:cNvPr>
            <p:cNvCxnSpPr/>
            <p:nvPr/>
          </p:nvCxnSpPr>
          <p:spPr>
            <a:xfrm>
              <a:off x="7080541" y="529455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1C8DD882-177B-1A07-ECA3-51745EA4E4F8}"/>
                </a:ext>
              </a:extLst>
            </p:cNvPr>
            <p:cNvCxnSpPr/>
            <p:nvPr/>
          </p:nvCxnSpPr>
          <p:spPr>
            <a:xfrm>
              <a:off x="8523167" y="44777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170E0ACF-B1E8-E588-37C7-E93897202A54}"/>
                </a:ext>
              </a:extLst>
            </p:cNvPr>
            <p:cNvCxnSpPr/>
            <p:nvPr/>
          </p:nvCxnSpPr>
          <p:spPr>
            <a:xfrm>
              <a:off x="7603581" y="490881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C243AF63-7F8F-346C-11E6-07DCA6262D11}"/>
                </a:ext>
              </a:extLst>
            </p:cNvPr>
            <p:cNvCxnSpPr/>
            <p:nvPr/>
          </p:nvCxnSpPr>
          <p:spPr>
            <a:xfrm>
              <a:off x="8187314" y="507418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A6DAE0D5-9DD9-111F-092B-FA3C80C03EF9}"/>
                </a:ext>
              </a:extLst>
            </p:cNvPr>
            <p:cNvCxnSpPr/>
            <p:nvPr/>
          </p:nvCxnSpPr>
          <p:spPr>
            <a:xfrm>
              <a:off x="6940779" y="49885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E4F294D5-DEBC-321E-D6C9-C76750E70D42}"/>
                </a:ext>
              </a:extLst>
            </p:cNvPr>
            <p:cNvCxnSpPr/>
            <p:nvPr/>
          </p:nvCxnSpPr>
          <p:spPr>
            <a:xfrm>
              <a:off x="8642756" y="48616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330C35FB-9044-27FC-B34F-9FEF7373716E}"/>
                </a:ext>
              </a:extLst>
            </p:cNvPr>
            <p:cNvCxnSpPr/>
            <p:nvPr/>
          </p:nvCxnSpPr>
          <p:spPr>
            <a:xfrm>
              <a:off x="7299043" y="451486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D7257822-35FA-5029-C097-7B3D1F31D1B3}"/>
                </a:ext>
              </a:extLst>
            </p:cNvPr>
            <p:cNvCxnSpPr/>
            <p:nvPr/>
          </p:nvCxnSpPr>
          <p:spPr>
            <a:xfrm>
              <a:off x="8374670" y="46214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C937D971-5F0B-D9CA-CAE1-DF2E4934CF76}"/>
                </a:ext>
              </a:extLst>
            </p:cNvPr>
            <p:cNvCxnSpPr/>
            <p:nvPr/>
          </p:nvCxnSpPr>
          <p:spPr>
            <a:xfrm>
              <a:off x="8374670" y="49659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82EB007F-C9DB-7580-CC07-1DE52A8ACA2E}"/>
                </a:ext>
              </a:extLst>
            </p:cNvPr>
            <p:cNvCxnSpPr/>
            <p:nvPr/>
          </p:nvCxnSpPr>
          <p:spPr>
            <a:xfrm>
              <a:off x="7479961" y="57220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F3204AB2-A598-439F-6E2D-9FC90150BA97}"/>
                </a:ext>
              </a:extLst>
            </p:cNvPr>
            <p:cNvCxnSpPr/>
            <p:nvPr/>
          </p:nvCxnSpPr>
          <p:spPr>
            <a:xfrm>
              <a:off x="8828067" y="473223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54A7C080-A558-48FC-21AD-D7CF2E61B82F}"/>
                </a:ext>
              </a:extLst>
            </p:cNvPr>
            <p:cNvCxnSpPr/>
            <p:nvPr/>
          </p:nvCxnSpPr>
          <p:spPr>
            <a:xfrm>
              <a:off x="7304363" y="539882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40646663-6855-A4BA-F8A4-1DFF643D79A3}"/>
                </a:ext>
              </a:extLst>
            </p:cNvPr>
            <p:cNvCxnSpPr/>
            <p:nvPr/>
          </p:nvCxnSpPr>
          <p:spPr>
            <a:xfrm>
              <a:off x="7690110" y="56384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AED3E513-E2A6-BD5E-ECDF-EC3F9BF92CAE}"/>
                </a:ext>
              </a:extLst>
            </p:cNvPr>
            <p:cNvCxnSpPr/>
            <p:nvPr/>
          </p:nvCxnSpPr>
          <p:spPr>
            <a:xfrm>
              <a:off x="7304363" y="551611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D560DF3C-E55B-BC4D-2DBE-9179926968E4}"/>
                </a:ext>
              </a:extLst>
            </p:cNvPr>
            <p:cNvCxnSpPr/>
            <p:nvPr/>
          </p:nvCxnSpPr>
          <p:spPr>
            <a:xfrm>
              <a:off x="7232991" y="564049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9C8FE621-1296-6E9D-0258-2B96DB6D2390}"/>
                </a:ext>
              </a:extLst>
            </p:cNvPr>
            <p:cNvCxnSpPr/>
            <p:nvPr/>
          </p:nvCxnSpPr>
          <p:spPr>
            <a:xfrm>
              <a:off x="7592130" y="529654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82011733-5EB4-7480-C979-C740393241B5}"/>
                </a:ext>
              </a:extLst>
            </p:cNvPr>
            <p:cNvCxnSpPr/>
            <p:nvPr/>
          </p:nvCxnSpPr>
          <p:spPr>
            <a:xfrm>
              <a:off x="8001263" y="539882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C1B4F2C-8935-4047-33F4-BD4DB2E63C45}"/>
                </a:ext>
              </a:extLst>
            </p:cNvPr>
            <p:cNvCxnSpPr/>
            <p:nvPr/>
          </p:nvCxnSpPr>
          <p:spPr>
            <a:xfrm>
              <a:off x="8234560" y="529654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E6B90734-A7A1-3424-BE53-CB6F21B2EF31}"/>
                </a:ext>
              </a:extLst>
            </p:cNvPr>
            <p:cNvCxnSpPr/>
            <p:nvPr/>
          </p:nvCxnSpPr>
          <p:spPr>
            <a:xfrm>
              <a:off x="7848813" y="517417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AFAF2F67-AE6F-A6EB-4420-E8A05833F4EC}"/>
                </a:ext>
              </a:extLst>
            </p:cNvPr>
            <p:cNvCxnSpPr/>
            <p:nvPr/>
          </p:nvCxnSpPr>
          <p:spPr>
            <a:xfrm>
              <a:off x="7696363" y="550555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8F436208-2FAF-7E03-4F16-5BA39F60F0F4}"/>
                </a:ext>
              </a:extLst>
            </p:cNvPr>
            <p:cNvCxnSpPr/>
            <p:nvPr/>
          </p:nvCxnSpPr>
          <p:spPr>
            <a:xfrm>
              <a:off x="8123134" y="56192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FB85297C-EFAB-AD02-5AE7-2CF3AEA5CCF9}"/>
                </a:ext>
              </a:extLst>
            </p:cNvPr>
            <p:cNvCxnSpPr/>
            <p:nvPr/>
          </p:nvCxnSpPr>
          <p:spPr>
            <a:xfrm>
              <a:off x="8237377" y="550310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181997D4-E5DC-B586-14DB-C6A098C56B6E}"/>
                </a:ext>
              </a:extLst>
            </p:cNvPr>
            <p:cNvCxnSpPr/>
            <p:nvPr/>
          </p:nvCxnSpPr>
          <p:spPr>
            <a:xfrm>
              <a:off x="8553680" y="517747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C0EC7C25-77E5-45C3-40BE-D4F01D9334E2}"/>
                </a:ext>
              </a:extLst>
            </p:cNvPr>
            <p:cNvCxnSpPr/>
            <p:nvPr/>
          </p:nvCxnSpPr>
          <p:spPr>
            <a:xfrm>
              <a:off x="8810363" y="50550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9A1AE6F0-9AB0-880E-AE42-1657B7834C38}"/>
                </a:ext>
              </a:extLst>
            </p:cNvPr>
            <p:cNvCxnSpPr/>
            <p:nvPr/>
          </p:nvCxnSpPr>
          <p:spPr>
            <a:xfrm>
              <a:off x="7307201" y="517417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3DA92E48-884A-88B9-692D-5D56C865C4A4}"/>
                </a:ext>
              </a:extLst>
            </p:cNvPr>
            <p:cNvCxnSpPr/>
            <p:nvPr/>
          </p:nvCxnSpPr>
          <p:spPr>
            <a:xfrm>
              <a:off x="6836979" y="475734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FF7C3F4A-190C-6363-E433-74EBE3D18571}"/>
                </a:ext>
              </a:extLst>
            </p:cNvPr>
            <p:cNvCxnSpPr/>
            <p:nvPr/>
          </p:nvCxnSpPr>
          <p:spPr>
            <a:xfrm>
              <a:off x="5682128" y="47183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DD04B46C-93E7-7702-402E-ACF50685696B}"/>
                </a:ext>
              </a:extLst>
            </p:cNvPr>
            <p:cNvCxnSpPr/>
            <p:nvPr/>
          </p:nvCxnSpPr>
          <p:spPr>
            <a:xfrm>
              <a:off x="5915425" y="459906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012F15A3-5F39-DA19-108D-08D0D34277DB}"/>
                </a:ext>
              </a:extLst>
            </p:cNvPr>
            <p:cNvCxnSpPr/>
            <p:nvPr/>
          </p:nvCxnSpPr>
          <p:spPr>
            <a:xfrm>
              <a:off x="6226578" y="435939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441AD94D-51AF-0125-5688-F5811F13679C}"/>
                </a:ext>
              </a:extLst>
            </p:cNvPr>
            <p:cNvCxnSpPr/>
            <p:nvPr/>
          </p:nvCxnSpPr>
          <p:spPr>
            <a:xfrm>
              <a:off x="5921678" y="44661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B2F81D66-13C8-A79F-A74C-BCE000636EBB}"/>
                </a:ext>
              </a:extLst>
            </p:cNvPr>
            <p:cNvCxnSpPr/>
            <p:nvPr/>
          </p:nvCxnSpPr>
          <p:spPr>
            <a:xfrm>
              <a:off x="6310242" y="509435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6F492F6B-3F2D-E0EE-32B3-3188269E55E5}"/>
                </a:ext>
              </a:extLst>
            </p:cNvPr>
            <p:cNvCxnSpPr/>
            <p:nvPr/>
          </p:nvCxnSpPr>
          <p:spPr>
            <a:xfrm>
              <a:off x="6139428" y="471410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87B54966-CFB7-D966-1775-C1411F93E07A}"/>
                </a:ext>
              </a:extLst>
            </p:cNvPr>
            <p:cNvCxnSpPr/>
            <p:nvPr/>
          </p:nvCxnSpPr>
          <p:spPr>
            <a:xfrm>
              <a:off x="6291878" y="45809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67ABA980-0DEE-F815-400C-91762C44A854}"/>
                </a:ext>
              </a:extLst>
            </p:cNvPr>
            <p:cNvCxnSpPr/>
            <p:nvPr/>
          </p:nvCxnSpPr>
          <p:spPr>
            <a:xfrm>
              <a:off x="5915656" y="508018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F176A096-AA26-DD0E-85B7-7C105914CA70}"/>
                </a:ext>
              </a:extLst>
            </p:cNvPr>
            <p:cNvCxnSpPr/>
            <p:nvPr/>
          </p:nvCxnSpPr>
          <p:spPr>
            <a:xfrm>
              <a:off x="6148953" y="497790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A421B8A7-F044-9116-7652-82F98E710A79}"/>
                </a:ext>
              </a:extLst>
            </p:cNvPr>
            <p:cNvCxnSpPr/>
            <p:nvPr/>
          </p:nvCxnSpPr>
          <p:spPr>
            <a:xfrm>
              <a:off x="5763206" y="485552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51F39189-C409-A077-56F7-7838863CCA1F}"/>
                </a:ext>
              </a:extLst>
            </p:cNvPr>
            <p:cNvCxnSpPr/>
            <p:nvPr/>
          </p:nvCxnSpPr>
          <p:spPr>
            <a:xfrm>
              <a:off x="6155206" y="484496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46B7DD4E-3199-8FA7-C4B8-92F72E29A712}"/>
                </a:ext>
              </a:extLst>
            </p:cNvPr>
            <p:cNvCxnSpPr/>
            <p:nvPr/>
          </p:nvCxnSpPr>
          <p:spPr>
            <a:xfrm>
              <a:off x="6394185" y="541784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BFD5EE83-EA5A-C41D-7B06-A46299E24FC1}"/>
                </a:ext>
              </a:extLst>
            </p:cNvPr>
            <p:cNvCxnSpPr/>
            <p:nvPr/>
          </p:nvCxnSpPr>
          <p:spPr>
            <a:xfrm>
              <a:off x="6011660" y="533791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799CCB60-61E3-C80F-1049-D0BC06395C01}"/>
                </a:ext>
              </a:extLst>
            </p:cNvPr>
            <p:cNvCxnSpPr/>
            <p:nvPr/>
          </p:nvCxnSpPr>
          <p:spPr>
            <a:xfrm>
              <a:off x="5745502" y="517839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179FBFA6-BBB0-6C15-DB8F-CCC6D379D9CA}"/>
                </a:ext>
              </a:extLst>
            </p:cNvPr>
            <p:cNvCxnSpPr/>
            <p:nvPr/>
          </p:nvCxnSpPr>
          <p:spPr>
            <a:xfrm>
              <a:off x="6089285" y="552457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3EDD3715-9E3A-EC97-007A-CFE144768763}"/>
                </a:ext>
              </a:extLst>
            </p:cNvPr>
            <p:cNvCxnSpPr/>
            <p:nvPr/>
          </p:nvCxnSpPr>
          <p:spPr>
            <a:xfrm>
              <a:off x="6459485" y="563941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AFEFB800-0133-6FE1-4502-34364E3671A8}"/>
                </a:ext>
              </a:extLst>
            </p:cNvPr>
            <p:cNvCxnSpPr/>
            <p:nvPr/>
          </p:nvCxnSpPr>
          <p:spPr>
            <a:xfrm>
              <a:off x="6851847" y="445310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5864EED3-DE2E-EDC4-CE28-3DD6A0598254}"/>
                </a:ext>
              </a:extLst>
            </p:cNvPr>
            <p:cNvCxnSpPr/>
            <p:nvPr/>
          </p:nvCxnSpPr>
          <p:spPr>
            <a:xfrm>
              <a:off x="7004297" y="483767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D7B50225-A14D-A28A-8117-AE57876BD33B}"/>
                </a:ext>
              </a:extLst>
            </p:cNvPr>
            <p:cNvCxnSpPr/>
            <p:nvPr/>
          </p:nvCxnSpPr>
          <p:spPr>
            <a:xfrm>
              <a:off x="7237594" y="470982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6EEE098C-863B-38FC-0CED-47FEDCA62F43}"/>
                </a:ext>
              </a:extLst>
            </p:cNvPr>
            <p:cNvCxnSpPr/>
            <p:nvPr/>
          </p:nvCxnSpPr>
          <p:spPr>
            <a:xfrm>
              <a:off x="6851847" y="45703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96D413DE-458D-EE57-4CBD-A907E5B9A50A}"/>
                </a:ext>
              </a:extLst>
            </p:cNvPr>
            <p:cNvCxnSpPr/>
            <p:nvPr/>
          </p:nvCxnSpPr>
          <p:spPr>
            <a:xfrm>
              <a:off x="6742792" y="51272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84C6492A-EA3D-5FAA-C5A7-54EB2CCE5AD4}"/>
                </a:ext>
              </a:extLst>
            </p:cNvPr>
            <p:cNvCxnSpPr/>
            <p:nvPr/>
          </p:nvCxnSpPr>
          <p:spPr>
            <a:xfrm>
              <a:off x="7139614" y="410953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0A921E5B-5A45-EAB0-502B-C4845DDE5008}"/>
                </a:ext>
              </a:extLst>
            </p:cNvPr>
            <p:cNvCxnSpPr/>
            <p:nvPr/>
          </p:nvCxnSpPr>
          <p:spPr>
            <a:xfrm>
              <a:off x="6152128" y="517730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0FFA8A11-D56D-86BC-63BC-B42707AF8E39}"/>
                </a:ext>
              </a:extLst>
            </p:cNvPr>
            <p:cNvCxnSpPr/>
            <p:nvPr/>
          </p:nvCxnSpPr>
          <p:spPr>
            <a:xfrm>
              <a:off x="7782044" y="435083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69C27EFA-7871-08FA-72E6-D53ACD81161A}"/>
                </a:ext>
              </a:extLst>
            </p:cNvPr>
            <p:cNvCxnSpPr/>
            <p:nvPr/>
          </p:nvCxnSpPr>
          <p:spPr>
            <a:xfrm>
              <a:off x="7243847" y="455983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492BAFE-AF61-83EC-6ADB-8E1980482B35}"/>
                </a:ext>
              </a:extLst>
            </p:cNvPr>
            <p:cNvCxnSpPr/>
            <p:nvPr/>
          </p:nvCxnSpPr>
          <p:spPr>
            <a:xfrm>
              <a:off x="6900064" y="507870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46392186-F66C-940A-C9E0-FD1A7A9DDB3A}"/>
                </a:ext>
              </a:extLst>
            </p:cNvPr>
            <p:cNvCxnSpPr/>
            <p:nvPr/>
          </p:nvCxnSpPr>
          <p:spPr>
            <a:xfrm>
              <a:off x="7847344" y="495576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44FFE00A-D014-68D0-8773-A9621D83B482}"/>
                </a:ext>
              </a:extLst>
            </p:cNvPr>
            <p:cNvCxnSpPr/>
            <p:nvPr/>
          </p:nvCxnSpPr>
          <p:spPr>
            <a:xfrm>
              <a:off x="7461597" y="48333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BCDC17A0-6D35-7E5D-2EDB-D457347A58E7}"/>
                </a:ext>
              </a:extLst>
            </p:cNvPr>
            <p:cNvCxnSpPr/>
            <p:nvPr/>
          </p:nvCxnSpPr>
          <p:spPr>
            <a:xfrm>
              <a:off x="7670618" y="469053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B065ECB3-A099-6542-A359-05810950CE39}"/>
                </a:ext>
              </a:extLst>
            </p:cNvPr>
            <p:cNvCxnSpPr/>
            <p:nvPr/>
          </p:nvCxnSpPr>
          <p:spPr>
            <a:xfrm>
              <a:off x="7237825" y="517389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269592F3-5CFA-2C48-E838-A773E4532AEA}"/>
                </a:ext>
              </a:extLst>
            </p:cNvPr>
            <p:cNvCxnSpPr/>
            <p:nvPr/>
          </p:nvCxnSpPr>
          <p:spPr>
            <a:xfrm>
              <a:off x="7471122" y="507161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20D452F-6B89-B555-5A79-3B270B79DD30}"/>
                </a:ext>
              </a:extLst>
            </p:cNvPr>
            <p:cNvCxnSpPr/>
            <p:nvPr/>
          </p:nvCxnSpPr>
          <p:spPr>
            <a:xfrm>
              <a:off x="7085375" y="4949240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FF2E24EB-506A-02C1-60C6-02E04D45C7B4}"/>
                </a:ext>
              </a:extLst>
            </p:cNvPr>
            <p:cNvCxnSpPr/>
            <p:nvPr/>
          </p:nvCxnSpPr>
          <p:spPr>
            <a:xfrm>
              <a:off x="6630299" y="519747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39A5D617-398D-AB58-BE4A-B4C34D43F3F6}"/>
                </a:ext>
              </a:extLst>
            </p:cNvPr>
            <p:cNvCxnSpPr/>
            <p:nvPr/>
          </p:nvCxnSpPr>
          <p:spPr>
            <a:xfrm>
              <a:off x="8309630" y="4348836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6CA39952-A06E-4D10-301D-CAECA47FCC48}"/>
                </a:ext>
              </a:extLst>
            </p:cNvPr>
            <p:cNvCxnSpPr/>
            <p:nvPr/>
          </p:nvCxnSpPr>
          <p:spPr>
            <a:xfrm>
              <a:off x="8462080" y="470782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5BA420D3-01A8-EEFD-C7FD-C6E996FE96DB}"/>
                </a:ext>
              </a:extLst>
            </p:cNvPr>
            <p:cNvCxnSpPr/>
            <p:nvPr/>
          </p:nvCxnSpPr>
          <p:spPr>
            <a:xfrm>
              <a:off x="8695377" y="45885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2D4A672D-85C5-C32B-FF8C-5E3565519FC4}"/>
                </a:ext>
              </a:extLst>
            </p:cNvPr>
            <p:cNvCxnSpPr/>
            <p:nvPr/>
          </p:nvCxnSpPr>
          <p:spPr>
            <a:xfrm>
              <a:off x="6795632" y="54072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4CF2B0E7-2BDB-67E8-2155-BB0F5257A7FE}"/>
                </a:ext>
              </a:extLst>
            </p:cNvPr>
            <p:cNvCxnSpPr/>
            <p:nvPr/>
          </p:nvCxnSpPr>
          <p:spPr>
            <a:xfrm>
              <a:off x="8238258" y="459049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7628A50C-3A06-A2AD-4E9E-887B90B1B1E1}"/>
                </a:ext>
              </a:extLst>
            </p:cNvPr>
            <p:cNvCxnSpPr/>
            <p:nvPr/>
          </p:nvCxnSpPr>
          <p:spPr>
            <a:xfrm>
              <a:off x="8101164" y="423175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284BEF61-7838-386A-FEA2-03D2F6A9015B}"/>
                </a:ext>
              </a:extLst>
            </p:cNvPr>
            <p:cNvCxnSpPr/>
            <p:nvPr/>
          </p:nvCxnSpPr>
          <p:spPr>
            <a:xfrm>
              <a:off x="7902405" y="518691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AECF9C6E-3E93-0044-ECE1-451823DB2C17}"/>
                </a:ext>
              </a:extLst>
            </p:cNvPr>
            <p:cNvCxnSpPr/>
            <p:nvPr/>
          </p:nvCxnSpPr>
          <p:spPr>
            <a:xfrm>
              <a:off x="8663530" y="44555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D9FB4850-69CC-575C-4893-7B8BB5FDB612}"/>
                </a:ext>
              </a:extLst>
            </p:cNvPr>
            <p:cNvCxnSpPr/>
            <p:nvPr/>
          </p:nvCxnSpPr>
          <p:spPr>
            <a:xfrm>
              <a:off x="8357847" y="497443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7709CA7E-5AAD-00FD-3688-BB8C16F1825C}"/>
                </a:ext>
              </a:extLst>
            </p:cNvPr>
            <p:cNvCxnSpPr/>
            <p:nvPr/>
          </p:nvCxnSpPr>
          <p:spPr>
            <a:xfrm>
              <a:off x="8855880" y="470354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25117BC0-E6BD-54F6-38EA-2901FF8C3F16}"/>
                </a:ext>
              </a:extLst>
            </p:cNvPr>
            <p:cNvCxnSpPr/>
            <p:nvPr/>
          </p:nvCxnSpPr>
          <p:spPr>
            <a:xfrm>
              <a:off x="8089761" y="473416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FC33CE2E-0D6A-FBE4-4C47-1CE6E59B1A16}"/>
                </a:ext>
              </a:extLst>
            </p:cNvPr>
            <p:cNvCxnSpPr/>
            <p:nvPr/>
          </p:nvCxnSpPr>
          <p:spPr>
            <a:xfrm>
              <a:off x="8089761" y="507870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F74F7A02-D0A6-EE34-B2DE-36A62F18D503}"/>
                </a:ext>
              </a:extLst>
            </p:cNvPr>
            <p:cNvCxnSpPr/>
            <p:nvPr/>
          </p:nvCxnSpPr>
          <p:spPr>
            <a:xfrm>
              <a:off x="8695608" y="506962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F493FB5D-C5B5-8530-2106-E8587E07747C}"/>
                </a:ext>
              </a:extLst>
            </p:cNvPr>
            <p:cNvCxnSpPr/>
            <p:nvPr/>
          </p:nvCxnSpPr>
          <p:spPr>
            <a:xfrm>
              <a:off x="8928905" y="4967346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0573DFF6-B04C-9814-3948-9C71BAA3F3D4}"/>
                </a:ext>
              </a:extLst>
            </p:cNvPr>
            <p:cNvCxnSpPr/>
            <p:nvPr/>
          </p:nvCxnSpPr>
          <p:spPr>
            <a:xfrm>
              <a:off x="8543158" y="4844967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8C93FB95-C291-5D8D-0312-D221E53E94F0}"/>
                </a:ext>
              </a:extLst>
            </p:cNvPr>
            <p:cNvCxnSpPr/>
            <p:nvPr/>
          </p:nvCxnSpPr>
          <p:spPr>
            <a:xfrm>
              <a:off x="7019454" y="551156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4736F92B-15F9-7416-E5AF-5D8EE364580F}"/>
                </a:ext>
              </a:extLst>
            </p:cNvPr>
            <p:cNvCxnSpPr/>
            <p:nvPr/>
          </p:nvCxnSpPr>
          <p:spPr>
            <a:xfrm>
              <a:off x="7019454" y="562885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A2578FC9-EFDC-C54A-24DB-989B88F057B2}"/>
                </a:ext>
              </a:extLst>
            </p:cNvPr>
            <p:cNvCxnSpPr/>
            <p:nvPr/>
          </p:nvCxnSpPr>
          <p:spPr>
            <a:xfrm>
              <a:off x="7307221" y="540928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A19510C8-7EA0-6042-04FC-F6B8538C6BFF}"/>
                </a:ext>
              </a:extLst>
            </p:cNvPr>
            <p:cNvCxnSpPr/>
            <p:nvPr/>
          </p:nvCxnSpPr>
          <p:spPr>
            <a:xfrm>
              <a:off x="7716354" y="5511562"/>
              <a:ext cx="304900" cy="0"/>
            </a:xfrm>
            <a:prstGeom prst="line">
              <a:avLst/>
            </a:prstGeom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045AC269-EA63-1079-7D9C-C2FB6452E730}"/>
                </a:ext>
              </a:extLst>
            </p:cNvPr>
            <p:cNvCxnSpPr/>
            <p:nvPr/>
          </p:nvCxnSpPr>
          <p:spPr>
            <a:xfrm>
              <a:off x="7949651" y="5409283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B3208A94-4B38-3AB2-8AA2-16864FB63E13}"/>
                </a:ext>
              </a:extLst>
            </p:cNvPr>
            <p:cNvCxnSpPr/>
            <p:nvPr/>
          </p:nvCxnSpPr>
          <p:spPr>
            <a:xfrm>
              <a:off x="7563904" y="52869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093ED06B-A51D-49C6-3A71-23A78AA21407}"/>
                </a:ext>
              </a:extLst>
            </p:cNvPr>
            <p:cNvCxnSpPr/>
            <p:nvPr/>
          </p:nvCxnSpPr>
          <p:spPr>
            <a:xfrm>
              <a:off x="7411454" y="561829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20B669CF-F3C5-5FEC-BA38-CE79179FC29B}"/>
                </a:ext>
              </a:extLst>
            </p:cNvPr>
            <p:cNvCxnSpPr/>
            <p:nvPr/>
          </p:nvCxnSpPr>
          <p:spPr>
            <a:xfrm>
              <a:off x="7952468" y="561583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7A9908C7-7A85-8394-C816-CEDFDF0F8311}"/>
                </a:ext>
              </a:extLst>
            </p:cNvPr>
            <p:cNvCxnSpPr/>
            <p:nvPr/>
          </p:nvCxnSpPr>
          <p:spPr>
            <a:xfrm>
              <a:off x="8477237" y="5407289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BBD32A62-81DF-85E7-AF1D-6DC6DF7D6818}"/>
                </a:ext>
              </a:extLst>
            </p:cNvPr>
            <p:cNvCxnSpPr/>
            <p:nvPr/>
          </p:nvCxnSpPr>
          <p:spPr>
            <a:xfrm>
              <a:off x="8477237" y="5524578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19DDAE9D-4FA3-E718-0BDA-AD76C26684D5}"/>
                </a:ext>
              </a:extLst>
            </p:cNvPr>
            <p:cNvCxnSpPr/>
            <p:nvPr/>
          </p:nvCxnSpPr>
          <p:spPr>
            <a:xfrm>
              <a:off x="8268771" y="5290211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4707FB8C-0A1B-205C-B164-43A294E5B78B}"/>
                </a:ext>
              </a:extLst>
            </p:cNvPr>
            <p:cNvCxnSpPr/>
            <p:nvPr/>
          </p:nvCxnSpPr>
          <p:spPr>
            <a:xfrm>
              <a:off x="8525454" y="5167832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B7777CB2-76FC-8FDE-B1F2-005FDB08F6C1}"/>
                </a:ext>
              </a:extLst>
            </p:cNvPr>
            <p:cNvCxnSpPr/>
            <p:nvPr/>
          </p:nvCxnSpPr>
          <p:spPr>
            <a:xfrm>
              <a:off x="7022292" y="5286904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32C57071-055F-0BB3-8242-FCD44E43E8BF}"/>
                </a:ext>
              </a:extLst>
            </p:cNvPr>
            <p:cNvCxnSpPr/>
            <p:nvPr/>
          </p:nvCxnSpPr>
          <p:spPr>
            <a:xfrm>
              <a:off x="6552070" y="4870075"/>
              <a:ext cx="304900" cy="0"/>
            </a:xfrm>
            <a:prstGeom prst="line">
              <a:avLst/>
            </a:prstGeom>
            <a:ln w="571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6EDDD9BC-0CFB-8AB8-F72A-4A951F5D19D1}"/>
                </a:ext>
              </a:extLst>
            </p:cNvPr>
            <p:cNvSpPr/>
            <p:nvPr/>
          </p:nvSpPr>
          <p:spPr>
            <a:xfrm>
              <a:off x="5483568" y="3926862"/>
              <a:ext cx="3898900" cy="1906282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9" name="TextBox 448">
            <a:extLst>
              <a:ext uri="{FF2B5EF4-FFF2-40B4-BE49-F238E27FC236}">
                <a16:creationId xmlns:a16="http://schemas.microsoft.com/office/drawing/2014/main" id="{D592D4DF-FC1C-255F-99EF-BAD42228F5A6}"/>
              </a:ext>
            </a:extLst>
          </p:cNvPr>
          <p:cNvSpPr txBox="1"/>
          <p:nvPr/>
        </p:nvSpPr>
        <p:spPr>
          <a:xfrm>
            <a:off x="6028638" y="2361251"/>
            <a:ext cx="720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 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BD6416E6-9718-8C6D-13E8-6584883F7A3C}"/>
              </a:ext>
            </a:extLst>
          </p:cNvPr>
          <p:cNvSpPr txBox="1"/>
          <p:nvPr/>
        </p:nvSpPr>
        <p:spPr>
          <a:xfrm>
            <a:off x="5652017" y="789424"/>
            <a:ext cx="321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millions of transcripts in each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62B016B3-D900-E989-577D-64106FFE4CE9}"/>
              </a:ext>
            </a:extLst>
          </p:cNvPr>
          <p:cNvSpPr txBox="1"/>
          <p:nvPr/>
        </p:nvSpPr>
        <p:spPr>
          <a:xfrm>
            <a:off x="6680319" y="2110827"/>
            <a:ext cx="1142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gene</a:t>
            </a:r>
            <a:r>
              <a:rPr lang="en-US" sz="2400" dirty="0"/>
              <a:t> of interest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BFCA7717-47DB-8330-4063-AB6F80EB2B74}"/>
              </a:ext>
            </a:extLst>
          </p:cNvPr>
          <p:cNvSpPr txBox="1"/>
          <p:nvPr/>
        </p:nvSpPr>
        <p:spPr>
          <a:xfrm>
            <a:off x="7914413" y="2361251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C452481B-976C-401A-92E6-F06D62D3C174}"/>
              </a:ext>
            </a:extLst>
          </p:cNvPr>
          <p:cNvCxnSpPr/>
          <p:nvPr/>
        </p:nvCxnSpPr>
        <p:spPr>
          <a:xfrm>
            <a:off x="5514656" y="2858655"/>
            <a:ext cx="3312292" cy="0"/>
          </a:xfrm>
          <a:prstGeom prst="line">
            <a:avLst/>
          </a:prstGeom>
          <a:ln w="38100" cmpd="sng">
            <a:solidFill>
              <a:schemeClr val="bg1">
                <a:lumMod val="65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>
            <a:extLst>
              <a:ext uri="{FF2B5EF4-FFF2-40B4-BE49-F238E27FC236}">
                <a16:creationId xmlns:a16="http://schemas.microsoft.com/office/drawing/2014/main" id="{592CDB38-5F25-DF2D-681C-8D4C63AB4D17}"/>
              </a:ext>
            </a:extLst>
          </p:cNvPr>
          <p:cNvSpPr txBox="1"/>
          <p:nvPr/>
        </p:nvSpPr>
        <p:spPr>
          <a:xfrm>
            <a:off x="5521185" y="2825992"/>
            <a:ext cx="2991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sequence 1,000 transcripts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95E2F80E-BA65-F291-278C-06192FAF5BD0}"/>
              </a:ext>
            </a:extLst>
          </p:cNvPr>
          <p:cNvSpPr txBox="1"/>
          <p:nvPr/>
        </p:nvSpPr>
        <p:spPr>
          <a:xfrm>
            <a:off x="6028638" y="3080090"/>
            <a:ext cx="2363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0                       0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718664B6-2B99-DBAD-AA17-C600D13A4474}"/>
              </a:ext>
            </a:extLst>
          </p:cNvPr>
          <p:cNvSpPr txBox="1"/>
          <p:nvPr/>
        </p:nvSpPr>
        <p:spPr>
          <a:xfrm>
            <a:off x="6028637" y="3777537"/>
            <a:ext cx="2592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10                      1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8DF44529-944A-591A-E718-05D8F32D2E83}"/>
              </a:ext>
            </a:extLst>
          </p:cNvPr>
          <p:cNvSpPr txBox="1"/>
          <p:nvPr/>
        </p:nvSpPr>
        <p:spPr>
          <a:xfrm>
            <a:off x="5521185" y="3529276"/>
            <a:ext cx="3357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sequence </a:t>
            </a:r>
            <a:r>
              <a:rPr lang="en-US" sz="2000" b="1" dirty="0">
                <a:solidFill>
                  <a:srgbClr val="17375E"/>
                </a:solidFill>
              </a:rPr>
              <a:t>1 million transcripts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75BA4D2B-6036-A621-7553-033A4539E6D2}"/>
              </a:ext>
            </a:extLst>
          </p:cNvPr>
          <p:cNvSpPr/>
          <p:nvPr/>
        </p:nvSpPr>
        <p:spPr>
          <a:xfrm flipV="1">
            <a:off x="330200" y="1138547"/>
            <a:ext cx="4580469" cy="14797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B85A0039-F9B7-8E9C-28C9-E7DE20216EDE}"/>
              </a:ext>
            </a:extLst>
          </p:cNvPr>
          <p:cNvSpPr txBox="1"/>
          <p:nvPr/>
        </p:nvSpPr>
        <p:spPr>
          <a:xfrm>
            <a:off x="1744135" y="671668"/>
            <a:ext cx="1462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genomic DNA</a:t>
            </a: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537C86E4-E829-C96F-9ADC-0CEF53043943}"/>
              </a:ext>
            </a:extLst>
          </p:cNvPr>
          <p:cNvSpPr/>
          <p:nvPr/>
        </p:nvSpPr>
        <p:spPr>
          <a:xfrm flipV="1">
            <a:off x="330200" y="1990605"/>
            <a:ext cx="1083734" cy="1296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8FBB240D-EC3F-3393-D9EA-FBE8BCC5E0CA}"/>
              </a:ext>
            </a:extLst>
          </p:cNvPr>
          <p:cNvSpPr/>
          <p:nvPr/>
        </p:nvSpPr>
        <p:spPr>
          <a:xfrm flipV="1">
            <a:off x="1413935" y="1990603"/>
            <a:ext cx="651933" cy="1296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F74C586F-12CA-89D9-9794-0C58042E59E3}"/>
              </a:ext>
            </a:extLst>
          </p:cNvPr>
          <p:cNvSpPr/>
          <p:nvPr/>
        </p:nvSpPr>
        <p:spPr>
          <a:xfrm flipV="1">
            <a:off x="2065867" y="1990671"/>
            <a:ext cx="711200" cy="131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74573476-5983-9913-0559-4BD7339416F3}"/>
              </a:ext>
            </a:extLst>
          </p:cNvPr>
          <p:cNvSpPr/>
          <p:nvPr/>
        </p:nvSpPr>
        <p:spPr>
          <a:xfrm flipV="1">
            <a:off x="2777067" y="1990721"/>
            <a:ext cx="431800" cy="1294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EBB93F88-AADD-530F-9F08-7BFEA32BD3C2}"/>
              </a:ext>
            </a:extLst>
          </p:cNvPr>
          <p:cNvSpPr/>
          <p:nvPr/>
        </p:nvSpPr>
        <p:spPr>
          <a:xfrm flipV="1">
            <a:off x="3208868" y="1993187"/>
            <a:ext cx="558801" cy="12451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F1B0C76-EBA3-3A40-54B2-0BD299548927}"/>
              </a:ext>
            </a:extLst>
          </p:cNvPr>
          <p:cNvSpPr/>
          <p:nvPr/>
        </p:nvSpPr>
        <p:spPr>
          <a:xfrm flipV="1">
            <a:off x="4199468" y="1990671"/>
            <a:ext cx="711200" cy="12957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070C7859-4E55-5774-67DB-11804AB20E19}"/>
              </a:ext>
            </a:extLst>
          </p:cNvPr>
          <p:cNvSpPr/>
          <p:nvPr/>
        </p:nvSpPr>
        <p:spPr>
          <a:xfrm flipV="1">
            <a:off x="3767668" y="1990721"/>
            <a:ext cx="431800" cy="12944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4A419736-C368-5DC1-67E4-AD79FEA857D7}"/>
              </a:ext>
            </a:extLst>
          </p:cNvPr>
          <p:cNvSpPr/>
          <p:nvPr/>
        </p:nvSpPr>
        <p:spPr>
          <a:xfrm flipV="1">
            <a:off x="849507" y="2903229"/>
            <a:ext cx="1083734" cy="1296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3BE9DF26-A7F4-489B-319D-1100181486C3}"/>
              </a:ext>
            </a:extLst>
          </p:cNvPr>
          <p:cNvSpPr/>
          <p:nvPr/>
        </p:nvSpPr>
        <p:spPr>
          <a:xfrm flipV="1">
            <a:off x="1929008" y="2903227"/>
            <a:ext cx="711200" cy="12968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0CA2932F-8793-64AA-2319-C1417095AAF1}"/>
              </a:ext>
            </a:extLst>
          </p:cNvPr>
          <p:cNvSpPr/>
          <p:nvPr/>
        </p:nvSpPr>
        <p:spPr>
          <a:xfrm flipV="1">
            <a:off x="2625697" y="2903229"/>
            <a:ext cx="558801" cy="13126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E57F95DD-0F33-9FB6-81FA-7BCD5783C422}"/>
              </a:ext>
            </a:extLst>
          </p:cNvPr>
          <p:cNvSpPr/>
          <p:nvPr/>
        </p:nvSpPr>
        <p:spPr>
          <a:xfrm flipV="1">
            <a:off x="3180264" y="2903228"/>
            <a:ext cx="711200" cy="13126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Parallelogram 497">
            <a:extLst>
              <a:ext uri="{FF2B5EF4-FFF2-40B4-BE49-F238E27FC236}">
                <a16:creationId xmlns:a16="http://schemas.microsoft.com/office/drawing/2014/main" id="{F268135A-9310-E437-54C2-95D885B47BC5}"/>
              </a:ext>
            </a:extLst>
          </p:cNvPr>
          <p:cNvSpPr/>
          <p:nvPr/>
        </p:nvSpPr>
        <p:spPr>
          <a:xfrm flipH="1">
            <a:off x="330197" y="2134945"/>
            <a:ext cx="1574801" cy="755584"/>
          </a:xfrm>
          <a:prstGeom prst="parallelogram">
            <a:avLst>
              <a:gd name="adj" fmla="val 67858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Parallelogram 498">
            <a:extLst>
              <a:ext uri="{FF2B5EF4-FFF2-40B4-BE49-F238E27FC236}">
                <a16:creationId xmlns:a16="http://schemas.microsoft.com/office/drawing/2014/main" id="{04949AC0-31DF-C592-90E3-3C745FE7B1F2}"/>
              </a:ext>
            </a:extLst>
          </p:cNvPr>
          <p:cNvSpPr/>
          <p:nvPr/>
        </p:nvSpPr>
        <p:spPr>
          <a:xfrm>
            <a:off x="1920543" y="2130670"/>
            <a:ext cx="856524" cy="759859"/>
          </a:xfrm>
          <a:prstGeom prst="parallelogram">
            <a:avLst>
              <a:gd name="adj" fmla="val 19208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Parallelogram 499">
            <a:extLst>
              <a:ext uri="{FF2B5EF4-FFF2-40B4-BE49-F238E27FC236}">
                <a16:creationId xmlns:a16="http://schemas.microsoft.com/office/drawing/2014/main" id="{DBDB378E-5DA6-70E0-19AE-CFC8AE4CA750}"/>
              </a:ext>
            </a:extLst>
          </p:cNvPr>
          <p:cNvSpPr/>
          <p:nvPr/>
        </p:nvSpPr>
        <p:spPr>
          <a:xfrm>
            <a:off x="2640208" y="2128752"/>
            <a:ext cx="1127460" cy="761777"/>
          </a:xfrm>
          <a:prstGeom prst="parallelogram">
            <a:avLst>
              <a:gd name="adj" fmla="val 7338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Parallelogram 500">
            <a:extLst>
              <a:ext uri="{FF2B5EF4-FFF2-40B4-BE49-F238E27FC236}">
                <a16:creationId xmlns:a16="http://schemas.microsoft.com/office/drawing/2014/main" id="{D950CFBF-E030-3DC2-F39B-31390C76E5DC}"/>
              </a:ext>
            </a:extLst>
          </p:cNvPr>
          <p:cNvSpPr/>
          <p:nvPr/>
        </p:nvSpPr>
        <p:spPr>
          <a:xfrm>
            <a:off x="3201430" y="2134946"/>
            <a:ext cx="1692303" cy="760709"/>
          </a:xfrm>
          <a:prstGeom prst="parallelogram">
            <a:avLst>
              <a:gd name="adj" fmla="val 13084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Down Arrow 501">
            <a:extLst>
              <a:ext uri="{FF2B5EF4-FFF2-40B4-BE49-F238E27FC236}">
                <a16:creationId xmlns:a16="http://schemas.microsoft.com/office/drawing/2014/main" id="{AB9DDD5B-4833-2DCB-8B62-EC7AAAD3227D}"/>
              </a:ext>
            </a:extLst>
          </p:cNvPr>
          <p:cNvSpPr/>
          <p:nvPr/>
        </p:nvSpPr>
        <p:spPr>
          <a:xfrm>
            <a:off x="2286001" y="1427586"/>
            <a:ext cx="397933" cy="368619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68418699-844D-58EB-2EFB-86881557DF5A}"/>
              </a:ext>
            </a:extLst>
          </p:cNvPr>
          <p:cNvSpPr txBox="1"/>
          <p:nvPr/>
        </p:nvSpPr>
        <p:spPr>
          <a:xfrm>
            <a:off x="601134" y="1673364"/>
            <a:ext cx="642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exon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0BD2D918-CB5E-0188-5EE2-57E29D31BE76}"/>
              </a:ext>
            </a:extLst>
          </p:cNvPr>
          <p:cNvSpPr txBox="1"/>
          <p:nvPr/>
        </p:nvSpPr>
        <p:spPr>
          <a:xfrm>
            <a:off x="1364275" y="1673364"/>
            <a:ext cx="759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intron</a:t>
            </a: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9D04EFF5-6A1C-0E9B-60E6-737E0FF7A87F}"/>
              </a:ext>
            </a:extLst>
          </p:cNvPr>
          <p:cNvSpPr txBox="1"/>
          <p:nvPr/>
        </p:nvSpPr>
        <p:spPr>
          <a:xfrm>
            <a:off x="1525262" y="3104377"/>
            <a:ext cx="1775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mRNA/transcript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61C3AF85-BC6D-8535-D0DE-E0E437C41B92}"/>
              </a:ext>
            </a:extLst>
          </p:cNvPr>
          <p:cNvSpPr txBox="1"/>
          <p:nvPr/>
        </p:nvSpPr>
        <p:spPr>
          <a:xfrm>
            <a:off x="271992" y="3391260"/>
            <a:ext cx="5010150" cy="155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Essentially, RNA-seq is designed to measure mRNA </a:t>
            </a:r>
            <a:r>
              <a:rPr lang="en-US" sz="2000" i="1" dirty="0"/>
              <a:t>accumulation</a:t>
            </a:r>
            <a:r>
              <a:rPr lang="en-US" sz="2000" dirty="0"/>
              <a:t> levels of genes by 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1) recognizing transcripts based on sequences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2) and quantifying transcripts of each gene</a:t>
            </a:r>
          </a:p>
        </p:txBody>
      </p: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968C2EE4-8B65-E66A-F2A2-2D3388EDB7E5}"/>
              </a:ext>
            </a:extLst>
          </p:cNvPr>
          <p:cNvCxnSpPr/>
          <p:nvPr/>
        </p:nvCxnSpPr>
        <p:spPr>
          <a:xfrm>
            <a:off x="5514656" y="4320399"/>
            <a:ext cx="3312292" cy="0"/>
          </a:xfrm>
          <a:prstGeom prst="line">
            <a:avLst/>
          </a:prstGeom>
          <a:ln w="38100" cmpd="sng">
            <a:solidFill>
              <a:schemeClr val="bg1">
                <a:lumMod val="65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Down Arrow 507">
            <a:extLst>
              <a:ext uri="{FF2B5EF4-FFF2-40B4-BE49-F238E27FC236}">
                <a16:creationId xmlns:a16="http://schemas.microsoft.com/office/drawing/2014/main" id="{7BB7D8CB-EAC3-2C47-8FAA-4FF28149E252}"/>
              </a:ext>
            </a:extLst>
          </p:cNvPr>
          <p:cNvSpPr/>
          <p:nvPr/>
        </p:nvSpPr>
        <p:spPr>
          <a:xfrm>
            <a:off x="7107848" y="4347712"/>
            <a:ext cx="199470" cy="269200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AC0DD0C8-38E5-112F-737B-1498ED5AC66E}"/>
              </a:ext>
            </a:extLst>
          </p:cNvPr>
          <p:cNvSpPr txBox="1"/>
          <p:nvPr/>
        </p:nvSpPr>
        <p:spPr>
          <a:xfrm>
            <a:off x="5786246" y="4632396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Differential expression (DE)?</a:t>
            </a:r>
          </a:p>
        </p:txBody>
      </p:sp>
      <p:sp>
        <p:nvSpPr>
          <p:cNvPr id="453" name="Slide Number Placeholder 452">
            <a:extLst>
              <a:ext uri="{FF2B5EF4-FFF2-40B4-BE49-F238E27FC236}">
                <a16:creationId xmlns:a16="http://schemas.microsoft.com/office/drawing/2014/main" id="{5312186F-0D25-472C-87EB-08FE2852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914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1E8573-D2FA-1066-DCC1-6C0EC19CC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1969-7AAF-133B-FADB-AC61B15F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223"/>
            <a:ext cx="8229600" cy="49371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More about RPKM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E06FE-0622-DF8C-6757-A4A301A49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126819"/>
            <a:ext cx="8229600" cy="81697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RPKM is not an ideal indicator to compare the expression/accumulation levels between two genes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CADD02-A0B9-0053-F432-0636AAC97E87}"/>
              </a:ext>
            </a:extLst>
          </p:cNvPr>
          <p:cNvSpPr/>
          <p:nvPr/>
        </p:nvSpPr>
        <p:spPr>
          <a:xfrm flipV="1">
            <a:off x="564563" y="2056901"/>
            <a:ext cx="1505800" cy="13141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DEA936-366C-72FB-7BDA-727A52384C87}"/>
              </a:ext>
            </a:extLst>
          </p:cNvPr>
          <p:cNvSpPr/>
          <p:nvPr/>
        </p:nvSpPr>
        <p:spPr>
          <a:xfrm flipV="1">
            <a:off x="2070362" y="2056902"/>
            <a:ext cx="651932" cy="1314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A4976E-67BB-E495-9196-D213610A4C25}"/>
              </a:ext>
            </a:extLst>
          </p:cNvPr>
          <p:cNvSpPr/>
          <p:nvPr/>
        </p:nvSpPr>
        <p:spPr>
          <a:xfrm flipV="1">
            <a:off x="2722295" y="2056970"/>
            <a:ext cx="1639567" cy="131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B15E59-E4FA-3F3B-93C4-2F391F3277CE}"/>
              </a:ext>
            </a:extLst>
          </p:cNvPr>
          <p:cNvGrpSpPr/>
          <p:nvPr/>
        </p:nvGrpSpPr>
        <p:grpSpPr>
          <a:xfrm>
            <a:off x="631989" y="1825233"/>
            <a:ext cx="3729873" cy="6350"/>
            <a:chOff x="3299576" y="3971925"/>
            <a:chExt cx="3729873" cy="635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D97AB73-41B2-4E1B-2E55-0D1EA02C9A7B}"/>
                </a:ext>
              </a:extLst>
            </p:cNvPr>
            <p:cNvCxnSpPr/>
            <p:nvPr/>
          </p:nvCxnSpPr>
          <p:spPr>
            <a:xfrm>
              <a:off x="3299576" y="3975100"/>
              <a:ext cx="47867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23884F0-B0AB-7431-918F-61767DCCAFBA}"/>
                </a:ext>
              </a:extLst>
            </p:cNvPr>
            <p:cNvCxnSpPr/>
            <p:nvPr/>
          </p:nvCxnSpPr>
          <p:spPr>
            <a:xfrm>
              <a:off x="4787900" y="3975100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50F828-0CB1-7CC7-9024-9945B7B615F2}"/>
                </a:ext>
              </a:extLst>
            </p:cNvPr>
            <p:cNvCxnSpPr/>
            <p:nvPr/>
          </p:nvCxnSpPr>
          <p:spPr>
            <a:xfrm>
              <a:off x="3803651" y="3975100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11FA90-4127-0149-712B-25F0EDCD6C37}"/>
                </a:ext>
              </a:extLst>
            </p:cNvPr>
            <p:cNvCxnSpPr/>
            <p:nvPr/>
          </p:nvCxnSpPr>
          <p:spPr>
            <a:xfrm>
              <a:off x="4375150" y="3975100"/>
              <a:ext cx="35645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4FE6C5-0CF9-A964-AE9E-855C612291E4}"/>
                </a:ext>
              </a:extLst>
            </p:cNvPr>
            <p:cNvCxnSpPr/>
            <p:nvPr/>
          </p:nvCxnSpPr>
          <p:spPr>
            <a:xfrm>
              <a:off x="5389881" y="3975100"/>
              <a:ext cx="16001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9098650-4587-5AC4-FDD5-E36F723DC7E8}"/>
                </a:ext>
              </a:extLst>
            </p:cNvPr>
            <p:cNvCxnSpPr/>
            <p:nvPr/>
          </p:nvCxnSpPr>
          <p:spPr>
            <a:xfrm>
              <a:off x="5591926" y="3975100"/>
              <a:ext cx="478675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24E3F06-0421-5E9A-AE72-4A5B149746F9}"/>
                </a:ext>
              </a:extLst>
            </p:cNvPr>
            <p:cNvCxnSpPr/>
            <p:nvPr/>
          </p:nvCxnSpPr>
          <p:spPr>
            <a:xfrm>
              <a:off x="6096001" y="3975100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BDCF0C4-104B-0977-6E9C-F5831C81E883}"/>
                </a:ext>
              </a:extLst>
            </p:cNvPr>
            <p:cNvCxnSpPr/>
            <p:nvPr/>
          </p:nvCxnSpPr>
          <p:spPr>
            <a:xfrm>
              <a:off x="6661149" y="3971925"/>
              <a:ext cx="368300" cy="635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E14B65-050A-B90D-D2A9-09485ED9767C}"/>
              </a:ext>
            </a:extLst>
          </p:cNvPr>
          <p:cNvGrpSpPr/>
          <p:nvPr/>
        </p:nvGrpSpPr>
        <p:grpSpPr>
          <a:xfrm>
            <a:off x="564564" y="1959642"/>
            <a:ext cx="3804499" cy="0"/>
            <a:chOff x="3232151" y="4073525"/>
            <a:chExt cx="3804499" cy="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C280B3D-6B61-AF38-DB5D-71919E5003A1}"/>
                </a:ext>
              </a:extLst>
            </p:cNvPr>
            <p:cNvCxnSpPr/>
            <p:nvPr/>
          </p:nvCxnSpPr>
          <p:spPr>
            <a:xfrm>
              <a:off x="3232151" y="4073525"/>
              <a:ext cx="54610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AE1968-87E7-92C6-1617-8B11D23D2B09}"/>
                </a:ext>
              </a:extLst>
            </p:cNvPr>
            <p:cNvCxnSpPr/>
            <p:nvPr/>
          </p:nvCxnSpPr>
          <p:spPr>
            <a:xfrm>
              <a:off x="3829051" y="4073525"/>
              <a:ext cx="54609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00D5463-F40D-7430-E8DB-37B987E49D6E}"/>
                </a:ext>
              </a:extLst>
            </p:cNvPr>
            <p:cNvCxnSpPr/>
            <p:nvPr/>
          </p:nvCxnSpPr>
          <p:spPr>
            <a:xfrm>
              <a:off x="4427162" y="4073525"/>
              <a:ext cx="30443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FA5FE7E-823A-E084-8AC4-78BB031A7699}"/>
                </a:ext>
              </a:extLst>
            </p:cNvPr>
            <p:cNvCxnSpPr/>
            <p:nvPr/>
          </p:nvCxnSpPr>
          <p:spPr>
            <a:xfrm>
              <a:off x="5389881" y="4073525"/>
              <a:ext cx="242513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7DA0925-265E-D7F6-4150-348D90F3DC96}"/>
                </a:ext>
              </a:extLst>
            </p:cNvPr>
            <p:cNvCxnSpPr/>
            <p:nvPr/>
          </p:nvCxnSpPr>
          <p:spPr>
            <a:xfrm>
              <a:off x="4787900" y="4073525"/>
              <a:ext cx="531825" cy="0"/>
            </a:xfrm>
            <a:prstGeom prst="line">
              <a:avLst/>
            </a:prstGeom>
            <a:ln>
              <a:solidFill>
                <a:srgbClr val="376092"/>
              </a:solidFill>
              <a:prstDash val="dot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045C4EC-1D37-B499-3C60-72BE96955413}"/>
                </a:ext>
              </a:extLst>
            </p:cNvPr>
            <p:cNvCxnSpPr/>
            <p:nvPr/>
          </p:nvCxnSpPr>
          <p:spPr>
            <a:xfrm>
              <a:off x="5683251" y="4073525"/>
              <a:ext cx="546100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353D9DA-2A23-AD67-C7AE-711ED77F1F56}"/>
                </a:ext>
              </a:extLst>
            </p:cNvPr>
            <p:cNvCxnSpPr/>
            <p:nvPr/>
          </p:nvCxnSpPr>
          <p:spPr>
            <a:xfrm>
              <a:off x="6280151" y="4073525"/>
              <a:ext cx="438149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0D52B70-CFD2-9024-802F-3F85F4F071EB}"/>
                </a:ext>
              </a:extLst>
            </p:cNvPr>
            <p:cNvCxnSpPr/>
            <p:nvPr/>
          </p:nvCxnSpPr>
          <p:spPr>
            <a:xfrm>
              <a:off x="6732212" y="4073525"/>
              <a:ext cx="304438" cy="0"/>
            </a:xfrm>
            <a:prstGeom prst="line">
              <a:avLst/>
            </a:prstGeom>
            <a:ln w="57150" cmpd="sng">
              <a:solidFill>
                <a:srgbClr val="37609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6C8F8CE-BBB1-14BF-B7AB-20F97829A552}"/>
              </a:ext>
            </a:extLst>
          </p:cNvPr>
          <p:cNvSpPr txBox="1"/>
          <p:nvPr/>
        </p:nvSpPr>
        <p:spPr>
          <a:xfrm>
            <a:off x="2052262" y="2264985"/>
            <a:ext cx="83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433A1B-1C2D-2C7F-F486-AD2F1E43BFF0}"/>
              </a:ext>
            </a:extLst>
          </p:cNvPr>
          <p:cNvSpPr/>
          <p:nvPr/>
        </p:nvSpPr>
        <p:spPr>
          <a:xfrm flipV="1">
            <a:off x="5169708" y="2092259"/>
            <a:ext cx="2544232" cy="13134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BDF60A3-393A-A9EA-4481-BE0525A5F891}"/>
              </a:ext>
            </a:extLst>
          </p:cNvPr>
          <p:cNvCxnSpPr/>
          <p:nvPr/>
        </p:nvCxnSpPr>
        <p:spPr>
          <a:xfrm>
            <a:off x="5211733" y="1863698"/>
            <a:ext cx="47867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E747F5-B19E-44F1-40AB-11E99F37987C}"/>
              </a:ext>
            </a:extLst>
          </p:cNvPr>
          <p:cNvCxnSpPr/>
          <p:nvPr/>
        </p:nvCxnSpPr>
        <p:spPr>
          <a:xfrm>
            <a:off x="5741209" y="1863698"/>
            <a:ext cx="546099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9811BF4-F880-FB43-94A5-A3FE3C2896C7}"/>
              </a:ext>
            </a:extLst>
          </p:cNvPr>
          <p:cNvCxnSpPr/>
          <p:nvPr/>
        </p:nvCxnSpPr>
        <p:spPr>
          <a:xfrm>
            <a:off x="6350808" y="1863699"/>
            <a:ext cx="613834" cy="3175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637182C-343A-135B-F999-7FEE41BF74C3}"/>
              </a:ext>
            </a:extLst>
          </p:cNvPr>
          <p:cNvCxnSpPr/>
          <p:nvPr/>
        </p:nvCxnSpPr>
        <p:spPr>
          <a:xfrm>
            <a:off x="6990110" y="1863698"/>
            <a:ext cx="546099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B5F6C4-E74B-5E4C-D358-18635640F5E2}"/>
              </a:ext>
            </a:extLst>
          </p:cNvPr>
          <p:cNvCxnSpPr/>
          <p:nvPr/>
        </p:nvCxnSpPr>
        <p:spPr>
          <a:xfrm>
            <a:off x="5690408" y="1479524"/>
            <a:ext cx="368300" cy="635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77EE60C-3958-D52D-77E8-4B5D6C5CD796}"/>
              </a:ext>
            </a:extLst>
          </p:cNvPr>
          <p:cNvCxnSpPr/>
          <p:nvPr/>
        </p:nvCxnSpPr>
        <p:spPr>
          <a:xfrm>
            <a:off x="5169708" y="1994932"/>
            <a:ext cx="546100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4854A0-0AC8-A2D6-A3CC-8F15063E0576}"/>
              </a:ext>
            </a:extLst>
          </p:cNvPr>
          <p:cNvCxnSpPr/>
          <p:nvPr/>
        </p:nvCxnSpPr>
        <p:spPr>
          <a:xfrm>
            <a:off x="5766609" y="1994932"/>
            <a:ext cx="546099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CED65F-8078-CE26-6047-959DE03B2C82}"/>
              </a:ext>
            </a:extLst>
          </p:cNvPr>
          <p:cNvCxnSpPr/>
          <p:nvPr/>
        </p:nvCxnSpPr>
        <p:spPr>
          <a:xfrm>
            <a:off x="6367742" y="1994932"/>
            <a:ext cx="546100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9C15E78-22DC-76A1-7584-559D6B1F2A12}"/>
              </a:ext>
            </a:extLst>
          </p:cNvPr>
          <p:cNvCxnSpPr/>
          <p:nvPr/>
        </p:nvCxnSpPr>
        <p:spPr>
          <a:xfrm>
            <a:off x="6964643" y="1994932"/>
            <a:ext cx="438149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67BC9F3-E72A-97C6-6D89-6DEFB25A4B2E}"/>
              </a:ext>
            </a:extLst>
          </p:cNvPr>
          <p:cNvCxnSpPr/>
          <p:nvPr/>
        </p:nvCxnSpPr>
        <p:spPr>
          <a:xfrm>
            <a:off x="7416703" y="1994932"/>
            <a:ext cx="304438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624B662-D719-6B09-1D9C-8C3220B33C16}"/>
              </a:ext>
            </a:extLst>
          </p:cNvPr>
          <p:cNvCxnSpPr/>
          <p:nvPr/>
        </p:nvCxnSpPr>
        <p:spPr>
          <a:xfrm>
            <a:off x="5440334" y="1732465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B9DC16-0E5C-64DD-F9CA-232FF45E9DD6}"/>
              </a:ext>
            </a:extLst>
          </p:cNvPr>
          <p:cNvCxnSpPr/>
          <p:nvPr/>
        </p:nvCxnSpPr>
        <p:spPr>
          <a:xfrm>
            <a:off x="5930495" y="1732465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0CA1ACE-E4E0-E444-EA1F-E61E5E5E0131}"/>
              </a:ext>
            </a:extLst>
          </p:cNvPr>
          <p:cNvCxnSpPr/>
          <p:nvPr/>
        </p:nvCxnSpPr>
        <p:spPr>
          <a:xfrm>
            <a:off x="6464494" y="1732465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19F8F5A-82BD-30C9-F75C-86C2DCB7EF9A}"/>
              </a:ext>
            </a:extLst>
          </p:cNvPr>
          <p:cNvCxnSpPr/>
          <p:nvPr/>
        </p:nvCxnSpPr>
        <p:spPr>
          <a:xfrm>
            <a:off x="6911416" y="1732465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86EC458-03FE-85A3-DA2B-D93D235D6A8E}"/>
              </a:ext>
            </a:extLst>
          </p:cNvPr>
          <p:cNvCxnSpPr/>
          <p:nvPr/>
        </p:nvCxnSpPr>
        <p:spPr>
          <a:xfrm>
            <a:off x="5576108" y="1604407"/>
            <a:ext cx="298451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D873E7B-7421-110D-CDFD-D2D813808272}"/>
              </a:ext>
            </a:extLst>
          </p:cNvPr>
          <p:cNvCxnSpPr/>
          <p:nvPr/>
        </p:nvCxnSpPr>
        <p:spPr>
          <a:xfrm>
            <a:off x="5930495" y="1604407"/>
            <a:ext cx="356813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EFAED6E-0A28-1AFC-8BEE-8A44CC0A5F40}"/>
              </a:ext>
            </a:extLst>
          </p:cNvPr>
          <p:cNvCxnSpPr/>
          <p:nvPr/>
        </p:nvCxnSpPr>
        <p:spPr>
          <a:xfrm>
            <a:off x="6346268" y="1604407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D023342-9E60-67D3-BEEE-5F931135B5BD}"/>
              </a:ext>
            </a:extLst>
          </p:cNvPr>
          <p:cNvCxnSpPr/>
          <p:nvPr/>
        </p:nvCxnSpPr>
        <p:spPr>
          <a:xfrm>
            <a:off x="6809817" y="1604407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49561CE-EE91-C200-5A8B-9C35B2EAC346}"/>
              </a:ext>
            </a:extLst>
          </p:cNvPr>
          <p:cNvSpPr txBox="1"/>
          <p:nvPr/>
        </p:nvSpPr>
        <p:spPr>
          <a:xfrm>
            <a:off x="6051560" y="230027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DA32988-C626-E2FC-F905-2C55CD6A5CE7}"/>
              </a:ext>
            </a:extLst>
          </p:cNvPr>
          <p:cNvCxnSpPr/>
          <p:nvPr/>
        </p:nvCxnSpPr>
        <p:spPr>
          <a:xfrm>
            <a:off x="6441516" y="1255574"/>
            <a:ext cx="368300" cy="635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12B45CB-3449-3B41-4743-6388FE49405C}"/>
              </a:ext>
            </a:extLst>
          </p:cNvPr>
          <p:cNvCxnSpPr/>
          <p:nvPr/>
        </p:nvCxnSpPr>
        <p:spPr>
          <a:xfrm>
            <a:off x="6192723" y="1482258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C562890-A250-48FC-C9AD-F7D3FFC3D4CE}"/>
              </a:ext>
            </a:extLst>
          </p:cNvPr>
          <p:cNvCxnSpPr/>
          <p:nvPr/>
        </p:nvCxnSpPr>
        <p:spPr>
          <a:xfrm>
            <a:off x="6682884" y="1482258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DB81091-A05A-1B88-0764-B72395B85F94}"/>
              </a:ext>
            </a:extLst>
          </p:cNvPr>
          <p:cNvCxnSpPr/>
          <p:nvPr/>
        </p:nvCxnSpPr>
        <p:spPr>
          <a:xfrm>
            <a:off x="5808635" y="1361165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3231F94-16D3-45E6-6E6B-3CCC3F81B880}"/>
              </a:ext>
            </a:extLst>
          </p:cNvPr>
          <p:cNvCxnSpPr/>
          <p:nvPr/>
        </p:nvCxnSpPr>
        <p:spPr>
          <a:xfrm>
            <a:off x="6328497" y="1371134"/>
            <a:ext cx="298451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054A4F7-1D18-DAC1-0C9C-DB1A86B9316B}"/>
              </a:ext>
            </a:extLst>
          </p:cNvPr>
          <p:cNvCxnSpPr/>
          <p:nvPr/>
        </p:nvCxnSpPr>
        <p:spPr>
          <a:xfrm>
            <a:off x="6682884" y="1371134"/>
            <a:ext cx="356813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F6E98FA-6300-BC52-6B66-74DD6C0216C5}"/>
              </a:ext>
            </a:extLst>
          </p:cNvPr>
          <p:cNvCxnSpPr/>
          <p:nvPr/>
        </p:nvCxnSpPr>
        <p:spPr>
          <a:xfrm>
            <a:off x="5951183" y="1255574"/>
            <a:ext cx="434225" cy="0"/>
          </a:xfrm>
          <a:prstGeom prst="line">
            <a:avLst/>
          </a:prstGeom>
          <a:ln w="57150" cmpd="sng">
            <a:solidFill>
              <a:srgbClr val="3760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A37E4D5-B6BE-8160-9543-728331E3E9EA}"/>
              </a:ext>
            </a:extLst>
          </p:cNvPr>
          <p:cNvSpPr txBox="1"/>
          <p:nvPr/>
        </p:nvSpPr>
        <p:spPr>
          <a:xfrm>
            <a:off x="1739457" y="1265918"/>
            <a:ext cx="1258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RPKM = 1.5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8722409-280D-19C5-023E-9D7D6462A957}"/>
              </a:ext>
            </a:extLst>
          </p:cNvPr>
          <p:cNvSpPr txBox="1"/>
          <p:nvPr/>
        </p:nvSpPr>
        <p:spPr>
          <a:xfrm>
            <a:off x="5756343" y="737926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RPKM = 5.1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D8B0F06-49DC-494E-DC3A-7BA41C97BD1A}"/>
              </a:ext>
            </a:extLst>
          </p:cNvPr>
          <p:cNvSpPr txBox="1"/>
          <p:nvPr/>
        </p:nvSpPr>
        <p:spPr>
          <a:xfrm>
            <a:off x="447254" y="2663385"/>
            <a:ext cx="7539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Can we say that gene B has higher expression than gene A?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520CA09-CFFF-DC1B-D907-3C38AD8ECAD3}"/>
              </a:ext>
            </a:extLst>
          </p:cNvPr>
          <p:cNvSpPr txBox="1"/>
          <p:nvPr/>
        </p:nvSpPr>
        <p:spPr>
          <a:xfrm>
            <a:off x="2843550" y="3937194"/>
            <a:ext cx="3164071" cy="9491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dirty="0"/>
              <a:t>amplification bias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400" dirty="0"/>
              <a:t>alignment efficiency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58EA4EE-EB3F-F204-2028-89C18605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7B2B94-05F4-AF37-378B-424FCB30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D151-C4CE-7E2F-B02C-FDE45358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469"/>
            <a:ext cx="8229600" cy="557918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GO enrichment test – Fisher's Exact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07AC8-51E6-9FEC-1385-B05B2A98AEFD}"/>
              </a:ext>
            </a:extLst>
          </p:cNvPr>
          <p:cNvSpPr txBox="1"/>
          <p:nvPr/>
        </p:nvSpPr>
        <p:spPr>
          <a:xfrm>
            <a:off x="3294320" y="3004217"/>
            <a:ext cx="5596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Assumption: all genes are independent and equally likely to be selected as DEs.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781417-A03B-B260-52F0-B1AC00F14728}"/>
              </a:ext>
            </a:extLst>
          </p:cNvPr>
          <p:cNvGraphicFramePr>
            <a:graphicFrameLocks noGrp="1"/>
          </p:cNvGraphicFramePr>
          <p:nvPr/>
        </p:nvGraphicFramePr>
        <p:xfrm>
          <a:off x="243102" y="832904"/>
          <a:ext cx="2520244" cy="2989580"/>
        </p:xfrm>
        <a:graphic>
          <a:graphicData uri="http://schemas.openxmlformats.org/drawingml/2006/table">
            <a:tbl>
              <a:tblPr/>
              <a:tblGrid>
                <a:gridCol w="1334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 accession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GO:0006519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GO:0016831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GRMZM2G001500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GO:0005524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GRMZM2G001500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GO:0006457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GRMZM2G001500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GO:0051082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GRMZM2G001508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GO:0003993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GRMZM2G001514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GO:0003677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GRMZM2G001514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GO:0004879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GRMZM2G001514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GO:0005634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GRMZM2G001514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GO:0006355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66786A-1170-EF0F-92E7-09B0750E1809}"/>
              </a:ext>
            </a:extLst>
          </p:cNvPr>
          <p:cNvGraphicFramePr>
            <a:graphicFrameLocks noGrp="1"/>
          </p:cNvGraphicFramePr>
          <p:nvPr/>
        </p:nvGraphicFramePr>
        <p:xfrm>
          <a:off x="5380248" y="688217"/>
          <a:ext cx="1700394" cy="977900"/>
        </p:xfrm>
        <a:graphic>
          <a:graphicData uri="http://schemas.openxmlformats.org/drawingml/2006/table">
            <a:tbl>
              <a:tblPr/>
              <a:tblGrid>
                <a:gridCol w="134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GRMZM2G000012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GRMZM2G002342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GRMZM2G006480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GRMZM5G038156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ight Arrow 8">
            <a:extLst>
              <a:ext uri="{FF2B5EF4-FFF2-40B4-BE49-F238E27FC236}">
                <a16:creationId xmlns:a16="http://schemas.microsoft.com/office/drawing/2014/main" id="{739A8E05-4837-F174-7BCB-867CE21CB698}"/>
              </a:ext>
            </a:extLst>
          </p:cNvPr>
          <p:cNvSpPr/>
          <p:nvPr/>
        </p:nvSpPr>
        <p:spPr>
          <a:xfrm>
            <a:off x="2897945" y="1104667"/>
            <a:ext cx="2352174" cy="17410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A10F48-D524-9754-FD51-BC4222D33150}"/>
              </a:ext>
            </a:extLst>
          </p:cNvPr>
          <p:cNvGraphicFramePr>
            <a:graphicFrameLocks noGrp="1"/>
          </p:cNvGraphicFramePr>
          <p:nvPr/>
        </p:nvGraphicFramePr>
        <p:xfrm>
          <a:off x="3910187" y="4036515"/>
          <a:ext cx="3959543" cy="1060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608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GO:0006519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Others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Significant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6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Not</a:t>
                      </a:r>
                      <a:r>
                        <a:rPr lang="en-US" sz="1400" baseline="0" dirty="0"/>
                        <a:t> significant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39416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1C9E74A-74EE-F5C0-7E8C-ABA2F3B8AE7B}"/>
              </a:ext>
            </a:extLst>
          </p:cNvPr>
          <p:cNvSpPr txBox="1"/>
          <p:nvPr/>
        </p:nvSpPr>
        <p:spPr>
          <a:xfrm>
            <a:off x="4071836" y="3663157"/>
            <a:ext cx="2885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2x2 Table for GO:0006519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01391-1B60-D0F9-A65B-6F0D6E6F23BD}"/>
              </a:ext>
            </a:extLst>
          </p:cNvPr>
          <p:cNvSpPr txBox="1"/>
          <p:nvPr/>
        </p:nvSpPr>
        <p:spPr>
          <a:xfrm>
            <a:off x="837335" y="4173521"/>
            <a:ext cx="28135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Fisher’s Exact Test:</a:t>
            </a:r>
          </a:p>
          <a:p>
            <a:r>
              <a:rPr lang="en-US" sz="2400" dirty="0"/>
              <a:t>p-value = 2.5e-06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D855DE8-3FF1-A59A-B359-DE16F0C6CA6E}"/>
              </a:ext>
            </a:extLst>
          </p:cNvPr>
          <p:cNvGraphicFramePr>
            <a:graphicFrameLocks noGrp="1"/>
          </p:cNvGraphicFramePr>
          <p:nvPr/>
        </p:nvGraphicFramePr>
        <p:xfrm>
          <a:off x="3501488" y="1830258"/>
          <a:ext cx="2461243" cy="1173480"/>
        </p:xfrm>
        <a:graphic>
          <a:graphicData uri="http://schemas.openxmlformats.org/drawingml/2006/table">
            <a:tbl>
              <a:tblPr/>
              <a:tblGrid>
                <a:gridCol w="146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Significant?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GRMZM2G002652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/>
                        </a:rPr>
                        <a:t>GRMZM2G006480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GRMZM5G868038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Down Arrow 14">
            <a:extLst>
              <a:ext uri="{FF2B5EF4-FFF2-40B4-BE49-F238E27FC236}">
                <a16:creationId xmlns:a16="http://schemas.microsoft.com/office/drawing/2014/main" id="{BFAD7990-E1DE-D5C8-5ED1-B5C73C32BCC7}"/>
              </a:ext>
            </a:extLst>
          </p:cNvPr>
          <p:cNvSpPr/>
          <p:nvPr/>
        </p:nvSpPr>
        <p:spPr>
          <a:xfrm>
            <a:off x="5993510" y="1686975"/>
            <a:ext cx="176389" cy="1410324"/>
          </a:xfrm>
          <a:prstGeom prst="downArrow">
            <a:avLst/>
          </a:prstGeom>
          <a:solidFill>
            <a:srgbClr val="BFBFB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98757-B19A-9122-3172-AECD0B30CC85}"/>
              </a:ext>
            </a:extLst>
          </p:cNvPr>
          <p:cNvSpPr txBox="1"/>
          <p:nvPr/>
        </p:nvSpPr>
        <p:spPr>
          <a:xfrm>
            <a:off x="6169899" y="1819863"/>
            <a:ext cx="2959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Question: Are the significant genes enriched in this GO category? </a:t>
            </a:r>
          </a:p>
        </p:txBody>
      </p:sp>
      <p:pic>
        <p:nvPicPr>
          <p:cNvPr id="7" name="Picture 6" descr="Screen Shot 2014-06-05 at 11.30.01 AM.png">
            <a:extLst>
              <a:ext uri="{FF2B5EF4-FFF2-40B4-BE49-F238E27FC236}">
                <a16:creationId xmlns:a16="http://schemas.microsoft.com/office/drawing/2014/main" id="{5D84F474-DB9B-15A7-4370-C2650ABA0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2" y="4319833"/>
            <a:ext cx="9060476" cy="545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FE3D61-706F-4AF9-5F32-15ACD6333998}"/>
              </a:ext>
            </a:extLst>
          </p:cNvPr>
          <p:cNvSpPr txBox="1"/>
          <p:nvPr/>
        </p:nvSpPr>
        <p:spPr>
          <a:xfrm>
            <a:off x="2786129" y="492696"/>
            <a:ext cx="2813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40 significant genes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F43CF6-FA05-BF4F-D08E-D9E605C7E99D}"/>
              </a:ext>
            </a:extLst>
          </p:cNvPr>
          <p:cNvSpPr/>
          <p:nvPr/>
        </p:nvSpPr>
        <p:spPr>
          <a:xfrm>
            <a:off x="4155463" y="1556308"/>
            <a:ext cx="12410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sz="1600" b="1" dirty="0">
                <a:solidFill>
                  <a:srgbClr val="FF0000"/>
                </a:solidFill>
              </a:rPr>
              <a:t>GO:0006519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8F4ACFB-6820-158C-A501-484D6E4ED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8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1" grpId="0"/>
      <p:bldP spid="12" grpId="0"/>
      <p:bldP spid="15" grpId="0" animBg="1"/>
      <p:bldP spid="3" grpId="0"/>
      <p:bldP spid="8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64BC5D-378D-929B-7DB2-CCCEE192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5597-88B3-6091-6B1A-D2A409EE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-28679"/>
            <a:ext cx="8229600" cy="557918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GO enrichment test – Random simulation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30C429-7649-35C9-89D9-B70B2BBA56BA}"/>
              </a:ext>
            </a:extLst>
          </p:cNvPr>
          <p:cNvGraphicFramePr>
            <a:graphicFrameLocks noGrp="1"/>
          </p:cNvGraphicFramePr>
          <p:nvPr/>
        </p:nvGraphicFramePr>
        <p:xfrm>
          <a:off x="412465" y="496176"/>
          <a:ext cx="2520244" cy="2716318"/>
        </p:xfrm>
        <a:graphic>
          <a:graphicData uri="http://schemas.openxmlformats.org/drawingml/2006/table">
            <a:tbl>
              <a:tblPr/>
              <a:tblGrid>
                <a:gridCol w="1334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4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 accession</a:t>
                      </a:r>
                    </a:p>
                  </a:txBody>
                  <a:tcPr marL="12700" marR="12700" marT="127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GO:0006519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GO:0016831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GRMZM2G001500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GO:0005524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GRMZM2G001500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GO:0006457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GRMZM2G001500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GO:0051082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GRMZM2G001508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GO:0003993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GRMZM2G001514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GO:0003677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GRMZM2G001514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GO:0004879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GRMZM2G001514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GO:0005634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GRMZM2G001514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GO:0006355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1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34A498-B867-666A-ECBE-BEB1027A4071}"/>
              </a:ext>
            </a:extLst>
          </p:cNvPr>
          <p:cNvGraphicFramePr>
            <a:graphicFrameLocks noGrp="1"/>
          </p:cNvGraphicFramePr>
          <p:nvPr/>
        </p:nvGraphicFramePr>
        <p:xfrm>
          <a:off x="5235637" y="538686"/>
          <a:ext cx="1700394" cy="977900"/>
        </p:xfrm>
        <a:graphic>
          <a:graphicData uri="http://schemas.openxmlformats.org/drawingml/2006/table">
            <a:tbl>
              <a:tblPr/>
              <a:tblGrid>
                <a:gridCol w="134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GRMZM2G000012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GRMZM2G002342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GRMZM2G006480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GRMZM5G038156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ight Arrow 8">
            <a:extLst>
              <a:ext uri="{FF2B5EF4-FFF2-40B4-BE49-F238E27FC236}">
                <a16:creationId xmlns:a16="http://schemas.microsoft.com/office/drawing/2014/main" id="{49466E18-ED81-1EE7-5100-9D17E692C4E0}"/>
              </a:ext>
            </a:extLst>
          </p:cNvPr>
          <p:cNvSpPr/>
          <p:nvPr/>
        </p:nvSpPr>
        <p:spPr>
          <a:xfrm>
            <a:off x="3149708" y="955137"/>
            <a:ext cx="1955800" cy="16227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A0BF45-34DC-3EED-E000-58AF6539A777}"/>
              </a:ext>
            </a:extLst>
          </p:cNvPr>
          <p:cNvGraphicFramePr>
            <a:graphicFrameLocks noGrp="1"/>
          </p:cNvGraphicFramePr>
          <p:nvPr/>
        </p:nvGraphicFramePr>
        <p:xfrm>
          <a:off x="3356877" y="1645555"/>
          <a:ext cx="2461243" cy="1173480"/>
        </p:xfrm>
        <a:graphic>
          <a:graphicData uri="http://schemas.openxmlformats.org/drawingml/2006/table">
            <a:tbl>
              <a:tblPr/>
              <a:tblGrid>
                <a:gridCol w="146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Significant?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9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GRMZM2G002652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9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alibri"/>
                        </a:rPr>
                        <a:t>GRMZM2G006480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9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9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GRMZM5G868038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Down Arrow 14">
            <a:extLst>
              <a:ext uri="{FF2B5EF4-FFF2-40B4-BE49-F238E27FC236}">
                <a16:creationId xmlns:a16="http://schemas.microsoft.com/office/drawing/2014/main" id="{BB2D09C2-0058-7B93-7080-898E16C3F126}"/>
              </a:ext>
            </a:extLst>
          </p:cNvPr>
          <p:cNvSpPr/>
          <p:nvPr/>
        </p:nvSpPr>
        <p:spPr>
          <a:xfrm>
            <a:off x="5856220" y="1529208"/>
            <a:ext cx="176389" cy="1385173"/>
          </a:xfrm>
          <a:prstGeom prst="downArrow">
            <a:avLst/>
          </a:prstGeom>
          <a:solidFill>
            <a:srgbClr val="BFBFB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22219-0AAB-1C71-72F3-3B5BC0783C4F}"/>
              </a:ext>
            </a:extLst>
          </p:cNvPr>
          <p:cNvSpPr txBox="1"/>
          <p:nvPr/>
        </p:nvSpPr>
        <p:spPr>
          <a:xfrm>
            <a:off x="5989897" y="1539958"/>
            <a:ext cx="28532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Question: Are the significant genes enriched in this GO category?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2115F-9CE1-CAAE-05C9-85BD5AD13D75}"/>
              </a:ext>
            </a:extLst>
          </p:cNvPr>
          <p:cNvSpPr txBox="1"/>
          <p:nvPr/>
        </p:nvSpPr>
        <p:spPr>
          <a:xfrm>
            <a:off x="3233620" y="554114"/>
            <a:ext cx="178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40 DE genes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5BC74F-CD1D-1754-C032-4EB6429A47C0}"/>
              </a:ext>
            </a:extLst>
          </p:cNvPr>
          <p:cNvSpPr/>
          <p:nvPr/>
        </p:nvSpPr>
        <p:spPr>
          <a:xfrm>
            <a:off x="3283514" y="1304210"/>
            <a:ext cx="1370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b="1" dirty="0">
                <a:solidFill>
                  <a:srgbClr val="FF0000"/>
                </a:solidFill>
              </a:rPr>
              <a:t>GO:0006519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B91B3F-0209-782F-E49B-736917F12005}"/>
              </a:ext>
            </a:extLst>
          </p:cNvPr>
          <p:cNvSpPr txBox="1"/>
          <p:nvPr/>
        </p:nvSpPr>
        <p:spPr>
          <a:xfrm>
            <a:off x="3266592" y="2811160"/>
            <a:ext cx="2813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5</a:t>
            </a:r>
            <a:r>
              <a:rPr lang="en-US" sz="2400" dirty="0"/>
              <a:t> DE and 210 non-DE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B653818-1A19-56B6-9776-BFB0261169B1}"/>
              </a:ext>
            </a:extLst>
          </p:cNvPr>
          <p:cNvGraphicFramePr>
            <a:graphicFrameLocks noGrp="1"/>
          </p:cNvGraphicFramePr>
          <p:nvPr/>
        </p:nvGraphicFramePr>
        <p:xfrm>
          <a:off x="412466" y="3589614"/>
          <a:ext cx="2461243" cy="1173480"/>
        </p:xfrm>
        <a:graphic>
          <a:graphicData uri="http://schemas.openxmlformats.org/drawingml/2006/table">
            <a:tbl>
              <a:tblPr/>
              <a:tblGrid>
                <a:gridCol w="146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GRMZM2G002652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GRMZM2G006480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GRMZM5G868038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BEEE15E-14C8-7069-0DE8-E8F01E8D43DC}"/>
              </a:ext>
            </a:extLst>
          </p:cNvPr>
          <p:cNvSpPr txBox="1"/>
          <p:nvPr/>
        </p:nvSpPr>
        <p:spPr>
          <a:xfrm>
            <a:off x="199124" y="3188339"/>
            <a:ext cx="270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Randomly sample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40 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D61C58-1AA0-1EE9-0A49-069502996E57}"/>
              </a:ext>
            </a:extLst>
          </p:cNvPr>
          <p:cNvSpPr txBox="1"/>
          <p:nvPr/>
        </p:nvSpPr>
        <p:spPr>
          <a:xfrm>
            <a:off x="382808" y="4706823"/>
            <a:ext cx="2374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2000" dirty="0"/>
              <a:t> DE and 214 non-DE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C651D44-0BDA-E954-6413-5B6E446D1FB8}"/>
              </a:ext>
            </a:extLst>
          </p:cNvPr>
          <p:cNvGraphicFramePr>
            <a:graphicFrameLocks noGrp="1"/>
          </p:cNvGraphicFramePr>
          <p:nvPr/>
        </p:nvGraphicFramePr>
        <p:xfrm>
          <a:off x="3345052" y="3559412"/>
          <a:ext cx="2461243" cy="1173480"/>
        </p:xfrm>
        <a:graphic>
          <a:graphicData uri="http://schemas.openxmlformats.org/drawingml/2006/table">
            <a:tbl>
              <a:tblPr/>
              <a:tblGrid>
                <a:gridCol w="146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GRMZM2G002652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GRMZM2G006480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GRMZM5G868038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GRMZM2G001475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A3DE71C-1E14-78DB-9F42-4A7BFF1F3CF9}"/>
              </a:ext>
            </a:extLst>
          </p:cNvPr>
          <p:cNvSpPr txBox="1"/>
          <p:nvPr/>
        </p:nvSpPr>
        <p:spPr>
          <a:xfrm>
            <a:off x="3315394" y="4676621"/>
            <a:ext cx="2374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0</a:t>
            </a:r>
            <a:r>
              <a:rPr lang="en-US" sz="2000" dirty="0"/>
              <a:t> DE and 215 non-DE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95B9E2-73BE-92AD-8D1C-F91CFFEC6F84}"/>
              </a:ext>
            </a:extLst>
          </p:cNvPr>
          <p:cNvSpPr txBox="1"/>
          <p:nvPr/>
        </p:nvSpPr>
        <p:spPr>
          <a:xfrm>
            <a:off x="3144847" y="3200867"/>
            <a:ext cx="270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Randomly sample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40 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F334F-830C-82EA-3A44-0FB9A2B2343E}"/>
              </a:ext>
            </a:extLst>
          </p:cNvPr>
          <p:cNvSpPr txBox="1"/>
          <p:nvPr/>
        </p:nvSpPr>
        <p:spPr>
          <a:xfrm>
            <a:off x="5995874" y="3791468"/>
            <a:ext cx="7152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pic>
        <p:nvPicPr>
          <p:cNvPr id="29" name="Picture 28" descr="A picture containing lamp&#10;&#10;Description automatically generated">
            <a:extLst>
              <a:ext uri="{FF2B5EF4-FFF2-40B4-BE49-F238E27FC236}">
                <a16:creationId xmlns:a16="http://schemas.microsoft.com/office/drawing/2014/main" id="{13D10468-EABC-B20F-79FC-48120E6F8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001" y="2736711"/>
            <a:ext cx="775996" cy="646135"/>
          </a:xfrm>
          <a:prstGeom prst="rect">
            <a:avLst/>
          </a:prstGeom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B499993-6037-024A-9255-0578188F563B}"/>
              </a:ext>
            </a:extLst>
          </p:cNvPr>
          <p:cNvGraphicFramePr>
            <a:graphicFrameLocks noGrp="1"/>
          </p:cNvGraphicFramePr>
          <p:nvPr/>
        </p:nvGraphicFramePr>
        <p:xfrm>
          <a:off x="6711134" y="3485438"/>
          <a:ext cx="1921692" cy="1247455"/>
        </p:xfrm>
        <a:graphic>
          <a:graphicData uri="http://schemas.openxmlformats.org/drawingml/2006/table">
            <a:tbl>
              <a:tblPr/>
              <a:tblGrid>
                <a:gridCol w="1371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4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GO:0006519</a:t>
                      </a: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# DE</a:t>
                      </a: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4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r>
                        <a:rPr lang="en-US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 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sampling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491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lang="en-US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nd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sampling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91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en-US" sz="14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rd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sampling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4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5099" marR="15099" marT="150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E263AD6-56F0-91EE-1380-C8DA092C0241}"/>
              </a:ext>
            </a:extLst>
          </p:cNvPr>
          <p:cNvSpPr/>
          <p:nvPr/>
        </p:nvSpPr>
        <p:spPr>
          <a:xfrm>
            <a:off x="5170394" y="480946"/>
            <a:ext cx="1826510" cy="1069261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66E11-DB5A-243D-5596-124ABADB4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5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  <p:bldP spid="24" grpId="0"/>
      <p:bldP spid="25" grpId="0"/>
      <p:bldP spid="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E0BEF7-B10A-0367-B0A0-F138EF4C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95EEF-5DB5-869E-183F-94CF23FD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393"/>
            <a:ext cx="8229600" cy="625756"/>
          </a:xfrm>
        </p:spPr>
        <p:txBody>
          <a:bodyPr>
            <a:normAutofit/>
          </a:bodyPr>
          <a:lstStyle/>
          <a:p>
            <a:r>
              <a:rPr lang="en-US" sz="3200" dirty="0"/>
              <a:t>GOSeq: a package for GO enrichment analysis</a:t>
            </a:r>
          </a:p>
        </p:txBody>
      </p:sp>
      <p:pic>
        <p:nvPicPr>
          <p:cNvPr id="3" name="Picture 2" descr="Screen Shot 2014-06-01 at 12.00.51 AM.png">
            <a:extLst>
              <a:ext uri="{FF2B5EF4-FFF2-40B4-BE49-F238E27FC236}">
                <a16:creationId xmlns:a16="http://schemas.microsoft.com/office/drawing/2014/main" id="{5DB6EB47-77A4-96E9-973D-6EAB8044F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2" y="1423464"/>
            <a:ext cx="2770490" cy="2908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FB5327-39C6-5A6E-BF62-B7F99E7F58C5}"/>
              </a:ext>
            </a:extLst>
          </p:cNvPr>
          <p:cNvSpPr txBox="1"/>
          <p:nvPr/>
        </p:nvSpPr>
        <p:spPr>
          <a:xfrm>
            <a:off x="205778" y="4467575"/>
            <a:ext cx="3397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Young MD, et al., (2010). Genome Biology, 11: R14.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42E2E-FF06-49BB-A9AD-EECDB3504338}"/>
              </a:ext>
            </a:extLst>
          </p:cNvPr>
          <p:cNvSpPr txBox="1"/>
          <p:nvPr/>
        </p:nvSpPr>
        <p:spPr>
          <a:xfrm>
            <a:off x="3404313" y="690668"/>
            <a:ext cx="56728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Likelihood of DE as a function of number of reads is quantified via fitting a monotonic function to “proportion of DE” versus “number of reads”.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The function is incorporated into the enrichment statistical test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399298-323C-17B9-CE99-38D8E92C0AAA}"/>
              </a:ext>
            </a:extLst>
          </p:cNvPr>
          <p:cNvGraphicFramePr>
            <a:graphicFrameLocks noGrp="1"/>
          </p:cNvGraphicFramePr>
          <p:nvPr/>
        </p:nvGraphicFramePr>
        <p:xfrm>
          <a:off x="4291768" y="2353585"/>
          <a:ext cx="1451204" cy="1259136"/>
        </p:xfrm>
        <a:graphic>
          <a:graphicData uri="http://schemas.openxmlformats.org/drawingml/2006/table">
            <a:tbl>
              <a:tblPr/>
              <a:tblGrid>
                <a:gridCol w="1451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8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GRMZM2G001475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GRMZM2G002652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GRMZM2G006480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GRMZM5G868038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7E972C-DC1F-CFD6-A69F-800859F05A2B}"/>
              </a:ext>
            </a:extLst>
          </p:cNvPr>
          <p:cNvGraphicFramePr>
            <a:graphicFrameLocks noGrp="1"/>
          </p:cNvGraphicFramePr>
          <p:nvPr/>
        </p:nvGraphicFramePr>
        <p:xfrm>
          <a:off x="5934888" y="2353585"/>
          <a:ext cx="982619" cy="1259136"/>
        </p:xfrm>
        <a:graphic>
          <a:graphicData uri="http://schemas.openxmlformats.org/drawingml/2006/table">
            <a:tbl>
              <a:tblPr/>
              <a:tblGrid>
                <a:gridCol w="98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8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ounts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224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/>
                        </a:rPr>
                        <a:t>536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95A496-782B-F5E5-0480-2882B212788D}"/>
              </a:ext>
            </a:extLst>
          </p:cNvPr>
          <p:cNvGraphicFramePr>
            <a:graphicFrameLocks noGrp="1"/>
          </p:cNvGraphicFramePr>
          <p:nvPr/>
        </p:nvGraphicFramePr>
        <p:xfrm>
          <a:off x="6873391" y="2353585"/>
          <a:ext cx="982619" cy="1259136"/>
        </p:xfrm>
        <a:graphic>
          <a:graphicData uri="http://schemas.openxmlformats.org/drawingml/2006/table">
            <a:tbl>
              <a:tblPr/>
              <a:tblGrid>
                <a:gridCol w="98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8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Proportion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0.16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0.05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8000"/>
                          </a:solidFill>
                          <a:effectLst/>
                          <a:latin typeface="Calibri"/>
                        </a:rPr>
                        <a:t>0.38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3970" marR="1397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74F112B-108C-3792-D658-FF93F0049B63}"/>
              </a:ext>
            </a:extLst>
          </p:cNvPr>
          <p:cNvGraphicFramePr>
            <a:graphicFrameLocks noGrp="1"/>
          </p:cNvGraphicFramePr>
          <p:nvPr/>
        </p:nvGraphicFramePr>
        <p:xfrm>
          <a:off x="4240389" y="4014009"/>
          <a:ext cx="2511722" cy="1049280"/>
        </p:xfrm>
        <a:graphic>
          <a:graphicData uri="http://schemas.openxmlformats.org/drawingml/2006/table">
            <a:tbl>
              <a:tblPr/>
              <a:tblGrid>
                <a:gridCol w="1890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8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GO:0006519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# DE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weighted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sampling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weighted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sampling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marL="0" marR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en-US" sz="12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weighted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sampling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8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…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ight Arrow 11">
            <a:extLst>
              <a:ext uri="{FF2B5EF4-FFF2-40B4-BE49-F238E27FC236}">
                <a16:creationId xmlns:a16="http://schemas.microsoft.com/office/drawing/2014/main" id="{8B87847F-77EF-D8E9-BA8C-3EB2A79941A0}"/>
              </a:ext>
            </a:extLst>
          </p:cNvPr>
          <p:cNvSpPr/>
          <p:nvPr/>
        </p:nvSpPr>
        <p:spPr>
          <a:xfrm>
            <a:off x="6815669" y="4480332"/>
            <a:ext cx="345721" cy="162278"/>
          </a:xfrm>
          <a:prstGeom prst="rightArrow">
            <a:avLst/>
          </a:prstGeom>
          <a:solidFill>
            <a:srgbClr val="BFBFB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E7502-33F2-926A-9F77-A1688C019E66}"/>
              </a:ext>
            </a:extLst>
          </p:cNvPr>
          <p:cNvSpPr txBox="1"/>
          <p:nvPr/>
        </p:nvSpPr>
        <p:spPr>
          <a:xfrm>
            <a:off x="7192140" y="4286892"/>
            <a:ext cx="1112504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400" dirty="0"/>
              <a:t>p-value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097A7F-2C70-4555-8D3D-BE520EB4A093}"/>
              </a:ext>
            </a:extLst>
          </p:cNvPr>
          <p:cNvSpPr txBox="1"/>
          <p:nvPr/>
        </p:nvSpPr>
        <p:spPr>
          <a:xfrm>
            <a:off x="3711223" y="3595100"/>
            <a:ext cx="5346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3. Weighted sampling to perform enrichment 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E6BED8-CC69-9C25-61E6-2613F64385B2}"/>
              </a:ext>
            </a:extLst>
          </p:cNvPr>
          <p:cNvSpPr txBox="1"/>
          <p:nvPr/>
        </p:nvSpPr>
        <p:spPr>
          <a:xfrm>
            <a:off x="242328" y="683877"/>
            <a:ext cx="3228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Not all genes are equally likely to be selected as 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339A2-3A2D-5782-6F52-2FC40627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AB89-B125-9242-8DB3-C0D669061ADA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0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50123</TotalTime>
  <Words>3551</Words>
  <Application>Microsoft Macintosh PowerPoint</Application>
  <PresentationFormat>On-screen Show (16:9)</PresentationFormat>
  <Paragraphs>1116</Paragraphs>
  <Slides>68</Slides>
  <Notes>14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-apple-system</vt:lpstr>
      <vt:lpstr>Zapf Dingbats</vt:lpstr>
      <vt:lpstr>Arial</vt:lpstr>
      <vt:lpstr>Calibri</vt:lpstr>
      <vt:lpstr>Cambria Math</vt:lpstr>
      <vt:lpstr>Courier New</vt:lpstr>
      <vt:lpstr>Times New Roman</vt:lpstr>
      <vt:lpstr>Office Theme</vt:lpstr>
      <vt:lpstr>Differential Expression  Bioinformatics Applications (PLPTH813)</vt:lpstr>
      <vt:lpstr>Schedule</vt:lpstr>
      <vt:lpstr>Outline</vt:lpstr>
      <vt:lpstr>Transcriptome</vt:lpstr>
      <vt:lpstr>Alternative splicing</vt:lpstr>
      <vt:lpstr>levels of alternative splicing</vt:lpstr>
      <vt:lpstr>Transcriptome analysis (RNA-seq)</vt:lpstr>
      <vt:lpstr>total RNA</vt:lpstr>
      <vt:lpstr>total RNA</vt:lpstr>
      <vt:lpstr>total RNA of plant tissues</vt:lpstr>
      <vt:lpstr>Illumina RNA-Seq library preparation</vt:lpstr>
      <vt:lpstr>Illumina sequencing</vt:lpstr>
      <vt:lpstr>RNA-seq procedure for differential expression analysis</vt:lpstr>
      <vt:lpstr>Reads to read counts per gene </vt:lpstr>
      <vt:lpstr>Exon-intron structure</vt:lpstr>
      <vt:lpstr>Alignment issues</vt:lpstr>
      <vt:lpstr>Solutions to mitigate problems</vt:lpstr>
      <vt:lpstr>Count matrix Read counts (Raw) per gene</vt:lpstr>
      <vt:lpstr>Outline</vt:lpstr>
      <vt:lpstr>Read counts to significant genes</vt:lpstr>
      <vt:lpstr>Read counts for differential expression analysis</vt:lpstr>
      <vt:lpstr>Statistical test for differential expression</vt:lpstr>
      <vt:lpstr>PowerPoint Presentation</vt:lpstr>
      <vt:lpstr>An RNA-seq experiment – source of variance</vt:lpstr>
      <vt:lpstr>Source of variance in RNA-seq - sampling</vt:lpstr>
      <vt:lpstr>Technical replication</vt:lpstr>
      <vt:lpstr>Statistical comparison</vt:lpstr>
      <vt:lpstr>Biological replication</vt:lpstr>
      <vt:lpstr>Biological replication</vt:lpstr>
      <vt:lpstr>Question I</vt:lpstr>
      <vt:lpstr>Comparison of read counts among different samples</vt:lpstr>
      <vt:lpstr>A normalization method: RPKM and FPKM</vt:lpstr>
      <vt:lpstr>Experimental Design</vt:lpstr>
      <vt:lpstr>Outline</vt:lpstr>
      <vt:lpstr>DE result</vt:lpstr>
      <vt:lpstr>Single statistical test</vt:lpstr>
      <vt:lpstr>Single statistical test</vt:lpstr>
      <vt:lpstr>Multiple testing correction</vt:lpstr>
      <vt:lpstr>DE result</vt:lpstr>
      <vt:lpstr>P-value distribution under the null hypothesis (e.g., no treatment effect)</vt:lpstr>
      <vt:lpstr>P-value distribution under both the null and non-null hypotheses </vt:lpstr>
      <vt:lpstr>Multiple test correction – FDR method</vt:lpstr>
      <vt:lpstr>q-values</vt:lpstr>
      <vt:lpstr>Question</vt:lpstr>
      <vt:lpstr>False discovery rate (concept)</vt:lpstr>
      <vt:lpstr>P-value histograms from real studies</vt:lpstr>
      <vt:lpstr>P-value histograms from real studies</vt:lpstr>
      <vt:lpstr>Outline</vt:lpstr>
      <vt:lpstr>RNA-seq procedure for differential expression analysis</vt:lpstr>
      <vt:lpstr>Keywords</vt:lpstr>
      <vt:lpstr>Bioinformatics and Statistics (Illumina data)</vt:lpstr>
      <vt:lpstr>STAR pipeline – from reads to counts</vt:lpstr>
      <vt:lpstr>Reads to counts - reference indexing</vt:lpstr>
      <vt:lpstr>Reads to counts – alignment and read counting</vt:lpstr>
      <vt:lpstr>Bioinformatics and Statistics (Illumina data)</vt:lpstr>
      <vt:lpstr>Outline</vt:lpstr>
      <vt:lpstr>Gene ontology (GO)</vt:lpstr>
      <vt:lpstr>Gene ontology (GO)</vt:lpstr>
      <vt:lpstr>GO enrichment</vt:lpstr>
      <vt:lpstr>dance party</vt:lpstr>
      <vt:lpstr>Clusterprofiler a POPULAR package for GO enrichment analysis</vt:lpstr>
      <vt:lpstr>Summary</vt:lpstr>
      <vt:lpstr>Approaches for quantification of gene expression</vt:lpstr>
      <vt:lpstr>Rationale of RNA-seq (mRNA sequencing)</vt:lpstr>
      <vt:lpstr>More about RPKM</vt:lpstr>
      <vt:lpstr>GO enrichment test – Fisher's Exact test</vt:lpstr>
      <vt:lpstr>GO enrichment test – Random simulation</vt:lpstr>
      <vt:lpstr>GOSeq: a package for GO enrichment analysis</vt:lpstr>
    </vt:vector>
  </TitlesOfParts>
  <Company>Kansas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RNA-Seq</dc:title>
  <dc:creator>Sanzhen Liu</dc:creator>
  <cp:lastModifiedBy>Sanzhen Liu</cp:lastModifiedBy>
  <cp:revision>365</cp:revision>
  <cp:lastPrinted>2015-04-30T14:29:06Z</cp:lastPrinted>
  <dcterms:created xsi:type="dcterms:W3CDTF">2014-05-23T20:11:37Z</dcterms:created>
  <dcterms:modified xsi:type="dcterms:W3CDTF">2026-06-07T17:17:09Z</dcterms:modified>
</cp:coreProperties>
</file>